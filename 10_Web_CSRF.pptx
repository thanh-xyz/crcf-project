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notesSlides/notesSlide18.xml" ContentType="application/vnd.openxmlformats-officedocument.presentationml.notesSlide+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notesSlides/notesSlide16.xml" ContentType="application/vnd.openxmlformats-officedocument.presentationml.notesSlide+xml"/>
  <Override PartName="/ppt/notesSlides/notesSlide25.xml" ContentType="application/vnd.openxmlformats-officedocument.presentationml.notesSlide+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notesSlides/notesSlide14.xml" ContentType="application/vnd.openxmlformats-officedocument.presentationml.notesSlide+xml"/>
  <Override PartName="/ppt/notesSlides/notesSlide23.xml" ContentType="application/vnd.openxmlformats-officedocument.presentationml.notesSlide+xml"/>
  <Override PartName="/ppt/notesSlides/notesSlide9.xml" ContentType="application/vnd.openxmlformats-officedocument.presentationml.notesSlide+xml"/>
  <Override PartName="/ppt/notesSlides/notesSlide12.xml" ContentType="application/vnd.openxmlformats-officedocument.presentationml.notesSlide+xml"/>
  <Override PartName="/ppt/notesSlides/notesSlide21.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Default Extension="png" ContentType="image/png"/>
  <Override PartName="/ppt/notesSlides/notesSlide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notesSlides/notesSlide19.xml" ContentType="application/vnd.openxmlformats-officedocument.presentationml.notesSlid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Layouts/slideLayout3.xml" ContentType="application/vnd.openxmlformats-officedocument.presentationml.slideLayout+xml"/>
  <Override PartName="/ppt/notesSlides/notesSlide17.xml" ContentType="application/vnd.openxmlformats-officedocument.presentationml.notesSlide+xml"/>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Layouts/slideLayout1.xml" ContentType="application/vnd.openxmlformats-officedocument.presentationml.slideLayout+xml"/>
  <Override PartName="/ppt/notesSlides/notesSlide15.xml" ContentType="application/vnd.openxmlformats-officedocument.presentationml.notesSlide+xml"/>
  <Override PartName="/ppt/notesSlides/notesSlide24.xml" ContentType="application/vnd.openxmlformats-officedocument.presentationml.notesSlide+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Layouts/slideLayout12.xml" ContentType="application/vnd.openxmlformats-officedocument.presentationml.slideLayout+xml"/>
  <Override PartName="/ppt/notesSlides/notesSlide13.xml" ContentType="application/vnd.openxmlformats-officedocument.presentationml.notesSlide+xml"/>
  <Override PartName="/ppt/notesSlides/notesSlide22.xml" ContentType="application/vnd.openxmlformats-officedocument.presentationml.notesSlide+xml"/>
  <Override PartName="/ppt/slideLayouts/slideLayout10.xml" ContentType="application/vnd.openxmlformats-officedocument.presentationml.slideLayout+xml"/>
  <Override PartName="/ppt/notesSlides/notesSlide8.xml" ContentType="application/vnd.openxmlformats-officedocument.presentationml.notesSlide+xml"/>
  <Override PartName="/ppt/notesSlides/notesSlide11.xml" ContentType="application/vnd.openxmlformats-officedocument.presentationml.notesSlide+xml"/>
  <Override PartName="/ppt/notesSlides/notesSlide20.xml" ContentType="application/vnd.openxmlformats-officedocument.presentationml.notesSlide+xml"/>
  <Override PartName="/ppt/notesSlides/notesSlide6.xml" ContentType="application/vnd.openxmlformats-officedocument.presentationml.notesSlide+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730" r:id="rId1"/>
  </p:sldMasterIdLst>
  <p:notesMasterIdLst>
    <p:notesMasterId r:id="rId39"/>
  </p:notesMasterIdLst>
  <p:sldIdLst>
    <p:sldId id="256" r:id="rId2"/>
    <p:sldId id="257" r:id="rId3"/>
    <p:sldId id="295" r:id="rId4"/>
    <p:sldId id="297" r:id="rId5"/>
    <p:sldId id="296" r:id="rId6"/>
    <p:sldId id="258" r:id="rId7"/>
    <p:sldId id="285" r:id="rId8"/>
    <p:sldId id="259" r:id="rId9"/>
    <p:sldId id="260" r:id="rId10"/>
    <p:sldId id="261" r:id="rId11"/>
    <p:sldId id="262" r:id="rId12"/>
    <p:sldId id="263" r:id="rId13"/>
    <p:sldId id="264" r:id="rId14"/>
    <p:sldId id="294" r:id="rId15"/>
    <p:sldId id="286" r:id="rId16"/>
    <p:sldId id="287" r:id="rId17"/>
    <p:sldId id="292" r:id="rId18"/>
    <p:sldId id="265" r:id="rId19"/>
    <p:sldId id="266" r:id="rId20"/>
    <p:sldId id="267" r:id="rId21"/>
    <p:sldId id="268" r:id="rId22"/>
    <p:sldId id="269" r:id="rId23"/>
    <p:sldId id="298" r:id="rId24"/>
    <p:sldId id="271" r:id="rId25"/>
    <p:sldId id="272" r:id="rId26"/>
    <p:sldId id="273" r:id="rId27"/>
    <p:sldId id="274" r:id="rId28"/>
    <p:sldId id="288" r:id="rId29"/>
    <p:sldId id="284" r:id="rId30"/>
    <p:sldId id="275" r:id="rId31"/>
    <p:sldId id="289" r:id="rId32"/>
    <p:sldId id="277" r:id="rId33"/>
    <p:sldId id="278" r:id="rId34"/>
    <p:sldId id="293" r:id="rId35"/>
    <p:sldId id="279" r:id="rId36"/>
    <p:sldId id="291" r:id="rId37"/>
    <p:sldId id="283" r:id="rId38"/>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xmlns="">
          <a:srgbClr val="FF0000"/>
        </p14:laserClr>
      </p:ext>
      <p:ext uri="{2FDB2607-1784-4EEB-B798-7EB5836EED8A}">
        <p14:showMediaCtrls xmlns:p14="http://schemas.microsoft.com/office/powerpoint/2010/main" xmlns="" val="1"/>
      </p:ext>
    </p:extLst>
  </p:showPr>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6172" autoAdjust="0"/>
  </p:normalViewPr>
  <p:slideViewPr>
    <p:cSldViewPr snapToGrid="0">
      <p:cViewPr>
        <p:scale>
          <a:sx n="100" d="100"/>
          <a:sy n="100" d="100"/>
        </p:scale>
        <p:origin x="-136" y="76"/>
      </p:cViewPr>
      <p:guideLst>
        <p:guide orient="horz" pos="1620"/>
        <p:guide pos="2880"/>
      </p:guideLst>
    </p:cSldViewPr>
  </p:slideViewPr>
  <p:notesTextViewPr>
    <p:cViewPr>
      <p:scale>
        <a:sx n="1" d="1"/>
        <a:sy n="1" d="1"/>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Shape 3"/>
          <p:cNvSpPr>
            <a:spLocks noGrp="1" noRot="1" noChangeAspect="1"/>
          </p:cNvSpPr>
          <p:nvPr>
            <p:ph type="sldImg" idx="2"/>
          </p:nvPr>
        </p:nvSpPr>
        <p:spPr>
          <a:xfrm>
            <a:off x="381300" y="685800"/>
            <a:ext cx="6096075"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4" name="Shape 4"/>
          <p:cNvSpPr txBox="1">
            <a:spLocks noGrp="1"/>
          </p:cNvSpPr>
          <p:nvPr>
            <p:ph type="body" idx="1"/>
          </p:nvPr>
        </p:nvSpPr>
        <p:spPr>
          <a:xfrm>
            <a:off x="685800" y="4343400"/>
            <a:ext cx="5486400" cy="4114800"/>
          </a:xfrm>
          <a:prstGeom prst="rect">
            <a:avLst/>
          </a:prstGeom>
          <a:noFill/>
          <a:ln>
            <a:noFill/>
          </a:ln>
        </p:spPr>
        <p:txBody>
          <a:bodyPr wrap="square" lIns="91425" tIns="91425" rIns="91425" bIns="91425" anchor="t" anchorCtr="0"/>
          <a:lstStyle>
            <a:lvl1pPr lvl="0">
              <a:spcBef>
                <a:spcPts val="0"/>
              </a:spcBef>
              <a:buSzPts val="1100"/>
              <a:buChar char="●"/>
              <a:defRPr sz="1100"/>
            </a:lvl1pPr>
            <a:lvl2pPr lvl="1">
              <a:spcBef>
                <a:spcPts val="0"/>
              </a:spcBef>
              <a:buSzPts val="1100"/>
              <a:buChar char="○"/>
              <a:defRPr sz="1100"/>
            </a:lvl2pPr>
            <a:lvl3pPr lvl="2">
              <a:spcBef>
                <a:spcPts val="0"/>
              </a:spcBef>
              <a:buSzPts val="1100"/>
              <a:buChar char="■"/>
              <a:defRPr sz="1100"/>
            </a:lvl3pPr>
            <a:lvl4pPr lvl="3">
              <a:spcBef>
                <a:spcPts val="0"/>
              </a:spcBef>
              <a:buSzPts val="1100"/>
              <a:buChar char="●"/>
              <a:defRPr sz="1100"/>
            </a:lvl4pPr>
            <a:lvl5pPr lvl="4">
              <a:spcBef>
                <a:spcPts val="0"/>
              </a:spcBef>
              <a:buSzPts val="1100"/>
              <a:buChar char="○"/>
              <a:defRPr sz="1100"/>
            </a:lvl5pPr>
            <a:lvl6pPr lvl="5">
              <a:spcBef>
                <a:spcPts val="0"/>
              </a:spcBef>
              <a:buSzPts val="1100"/>
              <a:buChar char="■"/>
              <a:defRPr sz="1100"/>
            </a:lvl6pPr>
            <a:lvl7pPr lvl="6">
              <a:spcBef>
                <a:spcPts val="0"/>
              </a:spcBef>
              <a:buSzPts val="1100"/>
              <a:buChar char="●"/>
              <a:defRPr sz="1100"/>
            </a:lvl7pPr>
            <a:lvl8pPr lvl="7">
              <a:spcBef>
                <a:spcPts val="0"/>
              </a:spcBef>
              <a:buSzPts val="1100"/>
              <a:buChar char="○"/>
              <a:defRPr sz="1100"/>
            </a:lvl8pPr>
            <a:lvl9pPr lvl="8">
              <a:spcBef>
                <a:spcPts val="0"/>
              </a:spcBef>
              <a:buSzPts val="1100"/>
              <a:buChar char="■"/>
              <a:defRPr sz="1100"/>
            </a:lvl9pPr>
          </a:lstStyle>
          <a:p>
            <a:endParaRPr/>
          </a:p>
        </p:txBody>
      </p:sp>
    </p:spTree>
    <p:extLst>
      <p:ext uri="{BB962C8B-B14F-4D97-AF65-F5344CB8AC3E}">
        <p14:creationId xmlns:p14="http://schemas.microsoft.com/office/powerpoint/2010/main" xmlns="" val="567159837"/>
      </p:ext>
    </p:extLst>
  </p:cSld>
  <p:clrMap bg1="lt1" tx1="dk1" bg2="dk2" tx2="lt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Shape 51"/>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52" name="Shape 52"/>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marL="0" lvl="0" indent="0">
              <a:spcBef>
                <a:spcPts val="0"/>
              </a:spcBef>
              <a:buNone/>
            </a:pPr>
            <a:endParaRPr dirty="0"/>
          </a:p>
        </p:txBody>
      </p:sp>
    </p:spTree>
    <p:extLst>
      <p:ext uri="{BB962C8B-B14F-4D97-AF65-F5344CB8AC3E}">
        <p14:creationId xmlns:p14="http://schemas.microsoft.com/office/powerpoint/2010/main" xmlns="" val="117995088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
        <p:cNvGrpSpPr/>
        <p:nvPr/>
      </p:nvGrpSpPr>
      <p:grpSpPr>
        <a:xfrm>
          <a:off x="0" y="0"/>
          <a:ext cx="0" cy="0"/>
          <a:chOff x="0" y="0"/>
          <a:chExt cx="0" cy="0"/>
        </a:xfrm>
      </p:grpSpPr>
      <p:sp>
        <p:nvSpPr>
          <p:cNvPr id="56" name="Shape 56"/>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57" name="Shape 57"/>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marL="0" lvl="0" indent="0">
              <a:spcBef>
                <a:spcPts val="0"/>
              </a:spcBef>
              <a:buNone/>
            </a:pPr>
            <a:endParaRPr/>
          </a:p>
        </p:txBody>
      </p:sp>
    </p:spTree>
    <p:extLst>
      <p:ext uri="{BB962C8B-B14F-4D97-AF65-F5344CB8AC3E}">
        <p14:creationId xmlns:p14="http://schemas.microsoft.com/office/powerpoint/2010/main" xmlns="" val="32183341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Shape 62"/>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63" name="Shape 63"/>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marL="0" lvl="0" indent="0">
              <a:spcBef>
                <a:spcPts val="0"/>
              </a:spcBef>
              <a:buNone/>
            </a:pPr>
            <a:endParaRPr/>
          </a:p>
        </p:txBody>
      </p:sp>
    </p:spTree>
    <p:extLst>
      <p:ext uri="{BB962C8B-B14F-4D97-AF65-F5344CB8AC3E}">
        <p14:creationId xmlns:p14="http://schemas.microsoft.com/office/powerpoint/2010/main" xmlns="" val="347695940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p:cNvGrpSpPr/>
        <p:nvPr/>
      </p:nvGrpSpPr>
      <p:grpSpPr>
        <a:xfrm>
          <a:off x="0" y="0"/>
          <a:ext cx="0" cy="0"/>
          <a:chOff x="0" y="0"/>
          <a:chExt cx="0" cy="0"/>
        </a:xfrm>
      </p:grpSpPr>
      <p:sp>
        <p:nvSpPr>
          <p:cNvPr id="69" name="Shape 69"/>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70" name="Shape 70"/>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marL="0" lvl="0" indent="0">
              <a:spcBef>
                <a:spcPts val="0"/>
              </a:spcBef>
              <a:buNone/>
            </a:pPr>
            <a:endParaRPr/>
          </a:p>
        </p:txBody>
      </p:sp>
    </p:spTree>
    <p:extLst>
      <p:ext uri="{BB962C8B-B14F-4D97-AF65-F5344CB8AC3E}">
        <p14:creationId xmlns:p14="http://schemas.microsoft.com/office/powerpoint/2010/main" xmlns="" val="171535219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p:cNvGrpSpPr/>
        <p:nvPr/>
      </p:nvGrpSpPr>
      <p:grpSpPr>
        <a:xfrm>
          <a:off x="0" y="0"/>
          <a:ext cx="0" cy="0"/>
          <a:chOff x="0" y="0"/>
          <a:chExt cx="0" cy="0"/>
        </a:xfrm>
      </p:grpSpPr>
      <p:sp>
        <p:nvSpPr>
          <p:cNvPr id="75" name="Shape 75"/>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76" name="Shape 76"/>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marL="0" lvl="0" indent="0">
              <a:spcBef>
                <a:spcPts val="0"/>
              </a:spcBef>
              <a:buNone/>
            </a:pPr>
            <a:endParaRPr/>
          </a:p>
        </p:txBody>
      </p:sp>
    </p:spTree>
    <p:extLst>
      <p:ext uri="{BB962C8B-B14F-4D97-AF65-F5344CB8AC3E}">
        <p14:creationId xmlns:p14="http://schemas.microsoft.com/office/powerpoint/2010/main" xmlns="" val="423173008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Shape 81"/>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82" name="Shape 82"/>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marL="0" lvl="0" indent="0">
              <a:spcBef>
                <a:spcPts val="0"/>
              </a:spcBef>
              <a:buNone/>
            </a:pPr>
            <a:endParaRPr/>
          </a:p>
        </p:txBody>
      </p:sp>
    </p:spTree>
    <p:extLst>
      <p:ext uri="{BB962C8B-B14F-4D97-AF65-F5344CB8AC3E}">
        <p14:creationId xmlns:p14="http://schemas.microsoft.com/office/powerpoint/2010/main" xmlns="" val="5369079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Shape 89"/>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90" name="Shape 90"/>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marL="0" lvl="0" indent="0">
              <a:spcBef>
                <a:spcPts val="0"/>
              </a:spcBef>
              <a:buNone/>
            </a:pPr>
            <a:endParaRPr/>
          </a:p>
        </p:txBody>
      </p:sp>
    </p:spTree>
    <p:extLst>
      <p:ext uri="{BB962C8B-B14F-4D97-AF65-F5344CB8AC3E}">
        <p14:creationId xmlns:p14="http://schemas.microsoft.com/office/powerpoint/2010/main" xmlns="" val="82633408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Shape 100"/>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01" name="Shape 101"/>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marL="0" lvl="0" indent="0">
              <a:spcBef>
                <a:spcPts val="0"/>
              </a:spcBef>
              <a:buNone/>
            </a:pPr>
            <a:endParaRPr/>
          </a:p>
        </p:txBody>
      </p:sp>
    </p:spTree>
    <p:extLst>
      <p:ext uri="{BB962C8B-B14F-4D97-AF65-F5344CB8AC3E}">
        <p14:creationId xmlns:p14="http://schemas.microsoft.com/office/powerpoint/2010/main" xmlns="" val="187291915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Shape 106"/>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07" name="Shape 107"/>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marL="0" lvl="0" indent="0">
              <a:spcBef>
                <a:spcPts val="0"/>
              </a:spcBef>
              <a:buNone/>
            </a:pPr>
            <a:endParaRPr/>
          </a:p>
        </p:txBody>
      </p:sp>
    </p:spTree>
    <p:extLst>
      <p:ext uri="{BB962C8B-B14F-4D97-AF65-F5344CB8AC3E}">
        <p14:creationId xmlns:p14="http://schemas.microsoft.com/office/powerpoint/2010/main" xmlns="" val="78806933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Shape 113"/>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14" name="Shape 114"/>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marL="0" lvl="0" indent="0">
              <a:spcBef>
                <a:spcPts val="0"/>
              </a:spcBef>
              <a:buNone/>
            </a:pPr>
            <a:endParaRPr/>
          </a:p>
        </p:txBody>
      </p:sp>
    </p:spTree>
    <p:extLst>
      <p:ext uri="{BB962C8B-B14F-4D97-AF65-F5344CB8AC3E}">
        <p14:creationId xmlns:p14="http://schemas.microsoft.com/office/powerpoint/2010/main" xmlns="" val="75647024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p:cNvGrpSpPr/>
        <p:nvPr/>
      </p:nvGrpSpPr>
      <p:grpSpPr>
        <a:xfrm>
          <a:off x="0" y="0"/>
          <a:ext cx="0" cy="0"/>
          <a:chOff x="0" y="0"/>
          <a:chExt cx="0" cy="0"/>
        </a:xfrm>
      </p:grpSpPr>
      <p:sp>
        <p:nvSpPr>
          <p:cNvPr id="119" name="Shape 119"/>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20" name="Shape 120"/>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marL="0" lvl="0" indent="0">
              <a:spcBef>
                <a:spcPts val="0"/>
              </a:spcBef>
              <a:buNone/>
            </a:pPr>
            <a:endParaRPr/>
          </a:p>
        </p:txBody>
      </p:sp>
    </p:spTree>
    <p:extLst>
      <p:ext uri="{BB962C8B-B14F-4D97-AF65-F5344CB8AC3E}">
        <p14:creationId xmlns:p14="http://schemas.microsoft.com/office/powerpoint/2010/main" xmlns="" val="318033081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Shape 128"/>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29" name="Shape 129"/>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marL="0" lvl="0" indent="0">
              <a:spcBef>
                <a:spcPts val="0"/>
              </a:spcBef>
              <a:buNone/>
            </a:pPr>
            <a:endParaRPr/>
          </a:p>
        </p:txBody>
      </p:sp>
    </p:spTree>
    <p:extLst>
      <p:ext uri="{BB962C8B-B14F-4D97-AF65-F5344CB8AC3E}">
        <p14:creationId xmlns:p14="http://schemas.microsoft.com/office/powerpoint/2010/main" xmlns="" val="279753446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Shape 137"/>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38" name="Shape 138"/>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marL="0" lvl="0" indent="0">
              <a:spcBef>
                <a:spcPts val="0"/>
              </a:spcBef>
              <a:buNone/>
            </a:pPr>
            <a:endParaRPr/>
          </a:p>
        </p:txBody>
      </p:sp>
    </p:spTree>
    <p:extLst>
      <p:ext uri="{BB962C8B-B14F-4D97-AF65-F5344CB8AC3E}">
        <p14:creationId xmlns:p14="http://schemas.microsoft.com/office/powerpoint/2010/main" xmlns="" val="428683350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Shape 143"/>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44" name="Shape 144"/>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marL="0" lvl="0" indent="0">
              <a:spcBef>
                <a:spcPts val="0"/>
              </a:spcBef>
              <a:buNone/>
            </a:pPr>
            <a:endParaRPr/>
          </a:p>
        </p:txBody>
      </p:sp>
    </p:spTree>
    <p:extLst>
      <p:ext uri="{BB962C8B-B14F-4D97-AF65-F5344CB8AC3E}">
        <p14:creationId xmlns:p14="http://schemas.microsoft.com/office/powerpoint/2010/main" xmlns="" val="277615186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Shape 151"/>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52" name="Shape 152"/>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marL="0" lvl="0" indent="0">
              <a:spcBef>
                <a:spcPts val="0"/>
              </a:spcBef>
              <a:buNone/>
            </a:pPr>
            <a:endParaRPr/>
          </a:p>
        </p:txBody>
      </p:sp>
    </p:spTree>
    <p:extLst>
      <p:ext uri="{BB962C8B-B14F-4D97-AF65-F5344CB8AC3E}">
        <p14:creationId xmlns:p14="http://schemas.microsoft.com/office/powerpoint/2010/main" xmlns="" val="240735620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Shape 159"/>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60" name="Shape 160"/>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marL="0" lvl="0" indent="0">
              <a:spcBef>
                <a:spcPts val="0"/>
              </a:spcBef>
              <a:buNone/>
            </a:pPr>
            <a:endParaRPr/>
          </a:p>
        </p:txBody>
      </p:sp>
    </p:spTree>
    <p:extLst>
      <p:ext uri="{BB962C8B-B14F-4D97-AF65-F5344CB8AC3E}">
        <p14:creationId xmlns:p14="http://schemas.microsoft.com/office/powerpoint/2010/main" xmlns="" val="309235759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Shape 165"/>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66" name="Shape 166"/>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marL="0" lvl="0" indent="0">
              <a:spcBef>
                <a:spcPts val="0"/>
              </a:spcBef>
              <a:buNone/>
            </a:pPr>
            <a:endParaRPr dirty="0"/>
          </a:p>
        </p:txBody>
      </p:sp>
    </p:spTree>
    <p:extLst>
      <p:ext uri="{BB962C8B-B14F-4D97-AF65-F5344CB8AC3E}">
        <p14:creationId xmlns:p14="http://schemas.microsoft.com/office/powerpoint/2010/main" xmlns="" val="238825993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Shape 173"/>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74" name="Shape 174"/>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marL="0" lvl="0" indent="0">
              <a:spcBef>
                <a:spcPts val="0"/>
              </a:spcBef>
              <a:buNone/>
            </a:pPr>
            <a:endParaRPr dirty="0"/>
          </a:p>
        </p:txBody>
      </p:sp>
    </p:spTree>
    <p:extLst>
      <p:ext uri="{BB962C8B-B14F-4D97-AF65-F5344CB8AC3E}">
        <p14:creationId xmlns:p14="http://schemas.microsoft.com/office/powerpoint/2010/main" xmlns="" val="83486511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Shape 179"/>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80" name="Shape 180"/>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marL="0" lvl="0" indent="0">
              <a:spcBef>
                <a:spcPts val="0"/>
              </a:spcBef>
              <a:buNone/>
            </a:pPr>
            <a:endParaRPr/>
          </a:p>
        </p:txBody>
      </p:sp>
    </p:spTree>
    <p:extLst>
      <p:ext uri="{BB962C8B-B14F-4D97-AF65-F5344CB8AC3E}">
        <p14:creationId xmlns:p14="http://schemas.microsoft.com/office/powerpoint/2010/main" xmlns="" val="108095117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
        <p:cNvGrpSpPr/>
        <p:nvPr/>
      </p:nvGrpSpPr>
      <p:grpSpPr>
        <a:xfrm>
          <a:off x="0" y="0"/>
          <a:ext cx="0" cy="0"/>
          <a:chOff x="0" y="0"/>
          <a:chExt cx="0" cy="0"/>
        </a:xfrm>
      </p:grpSpPr>
      <p:sp>
        <p:nvSpPr>
          <p:cNvPr id="187" name="Shape 187"/>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88" name="Shape 188"/>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marL="0" lvl="0" indent="0">
              <a:spcBef>
                <a:spcPts val="0"/>
              </a:spcBef>
              <a:buNone/>
            </a:pPr>
            <a:endParaRPr/>
          </a:p>
        </p:txBody>
      </p:sp>
    </p:spTree>
    <p:extLst>
      <p:ext uri="{BB962C8B-B14F-4D97-AF65-F5344CB8AC3E}">
        <p14:creationId xmlns:p14="http://schemas.microsoft.com/office/powerpoint/2010/main" xmlns="" val="37112922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p:cNvGrpSpPr/>
        <p:nvPr/>
      </p:nvGrpSpPr>
      <p:grpSpPr>
        <a:xfrm>
          <a:off x="0" y="0"/>
          <a:ext cx="0" cy="0"/>
          <a:chOff x="0" y="0"/>
          <a:chExt cx="0" cy="0"/>
        </a:xfrm>
      </p:grpSpPr>
      <p:sp>
        <p:nvSpPr>
          <p:cNvPr id="193" name="Shape 193"/>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94" name="Shape 194"/>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Tx/>
              <a:buSzPts val="1100"/>
              <a:buFontTx/>
              <a:buNone/>
              <a:tabLst/>
              <a:defRPr/>
            </a:pPr>
            <a:r>
              <a:rPr lang="en-US" sz="1100" i="1" dirty="0" smtClean="0"/>
              <a:t>* Top-level navigation: the user navigates to another URL (</a:t>
            </a:r>
            <a:r>
              <a:rPr lang="en-US" sz="1100" i="1" dirty="0" err="1" smtClean="0"/>
              <a:t>i.e</a:t>
            </a:r>
            <a:r>
              <a:rPr lang="en-US" sz="1100" i="1" dirty="0" smtClean="0"/>
              <a:t> the URL address bar is changed), not another webpage is loaded into an </a:t>
            </a:r>
            <a:r>
              <a:rPr lang="en-US" sz="1100" i="1" dirty="0" err="1" smtClean="0"/>
              <a:t>iframe</a:t>
            </a:r>
            <a:r>
              <a:rPr lang="en-US" sz="1100" i="1" dirty="0" smtClean="0"/>
              <a:t> of the current page (URL bar doesn’t change).</a:t>
            </a:r>
          </a:p>
          <a:p>
            <a:pPr marL="0" lvl="0" indent="0">
              <a:spcBef>
                <a:spcPts val="0"/>
              </a:spcBef>
              <a:buNone/>
            </a:pPr>
            <a:endParaRPr dirty="0"/>
          </a:p>
        </p:txBody>
      </p:sp>
    </p:spTree>
    <p:extLst>
      <p:ext uri="{BB962C8B-B14F-4D97-AF65-F5344CB8AC3E}">
        <p14:creationId xmlns:p14="http://schemas.microsoft.com/office/powerpoint/2010/main" xmlns="" val="122920619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Shape 199"/>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00" name="Shape 200"/>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marL="0" lvl="0" indent="0">
              <a:spcBef>
                <a:spcPts val="0"/>
              </a:spcBef>
              <a:buNone/>
            </a:pPr>
            <a:endParaRPr/>
          </a:p>
        </p:txBody>
      </p:sp>
    </p:spTree>
    <p:extLst>
      <p:ext uri="{BB962C8B-B14F-4D97-AF65-F5344CB8AC3E}">
        <p14:creationId xmlns:p14="http://schemas.microsoft.com/office/powerpoint/2010/main" xmlns="" val="391897011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
        <p:cNvGrpSpPr/>
        <p:nvPr/>
      </p:nvGrpSpPr>
      <p:grpSpPr>
        <a:xfrm>
          <a:off x="0" y="0"/>
          <a:ext cx="0" cy="0"/>
          <a:chOff x="0" y="0"/>
          <a:chExt cx="0" cy="0"/>
        </a:xfrm>
      </p:grpSpPr>
      <p:sp>
        <p:nvSpPr>
          <p:cNvPr id="205" name="Shape 205"/>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06" name="Shape 206"/>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marL="0" lvl="0" indent="0">
              <a:spcBef>
                <a:spcPts val="0"/>
              </a:spcBef>
              <a:buNone/>
            </a:pPr>
            <a:endParaRPr dirty="0"/>
          </a:p>
        </p:txBody>
      </p:sp>
    </p:spTree>
    <p:extLst>
      <p:ext uri="{BB962C8B-B14F-4D97-AF65-F5344CB8AC3E}">
        <p14:creationId xmlns:p14="http://schemas.microsoft.com/office/powerpoint/2010/main" xmlns="" val="180554957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
        <p:cNvGrpSpPr/>
        <p:nvPr/>
      </p:nvGrpSpPr>
      <p:grpSpPr>
        <a:xfrm>
          <a:off x="0" y="0"/>
          <a:ext cx="0" cy="0"/>
          <a:chOff x="0" y="0"/>
          <a:chExt cx="0" cy="0"/>
        </a:xfrm>
      </p:grpSpPr>
      <p:sp>
        <p:nvSpPr>
          <p:cNvPr id="205" name="Shape 205"/>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06" name="Shape 206"/>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marL="0" lvl="0" indent="0">
              <a:spcBef>
                <a:spcPts val="0"/>
              </a:spcBef>
              <a:buNone/>
            </a:pPr>
            <a:endParaRPr dirty="0"/>
          </a:p>
        </p:txBody>
      </p:sp>
    </p:spTree>
    <p:extLst>
      <p:ext uri="{BB962C8B-B14F-4D97-AF65-F5344CB8AC3E}">
        <p14:creationId xmlns:p14="http://schemas.microsoft.com/office/powerpoint/2010/main" xmlns="" val="180554957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Shape 213"/>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14" name="Shape 214"/>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marL="0" lvl="0" indent="0">
              <a:spcBef>
                <a:spcPts val="0"/>
              </a:spcBef>
              <a:buNone/>
            </a:pPr>
            <a:endParaRPr/>
          </a:p>
        </p:txBody>
      </p:sp>
    </p:spTree>
    <p:extLst>
      <p:ext uri="{BB962C8B-B14F-4D97-AF65-F5344CB8AC3E}">
        <p14:creationId xmlns:p14="http://schemas.microsoft.com/office/powerpoint/2010/main" xmlns="" val="52979466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841772"/>
            <a:ext cx="6858000" cy="1790700"/>
          </a:xfrm>
        </p:spPr>
        <p:txBody>
          <a:bodyPr anchor="b"/>
          <a:lstStyle>
            <a:lvl1pPr algn="ctr">
              <a:defRPr sz="4500"/>
            </a:lvl1pPr>
          </a:lstStyle>
          <a:p>
            <a:r>
              <a:rPr lang="en-US" smtClean="0"/>
              <a:t>Click to edit Master title style</a:t>
            </a:r>
            <a:endParaRPr lang="en-US"/>
          </a:p>
        </p:txBody>
      </p:sp>
      <p:sp>
        <p:nvSpPr>
          <p:cNvPr id="3" name="Subtitle 2"/>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a:spcBef>
                <a:spcPts val="0"/>
              </a:spcBef>
              <a:buNone/>
            </a:pPr>
            <a:fld id="{00000000-1234-1234-1234-123412341234}" type="slidenum">
              <a:rPr lang="en-GB" sz="1000" smtClean="0">
                <a:solidFill>
                  <a:schemeClr val="dk2"/>
                </a:solidFill>
              </a:rPr>
              <a:pPr marL="0" lvl="0" indent="0" algn="r">
                <a:spcBef>
                  <a:spcPts val="0"/>
                </a:spcBef>
                <a:buNone/>
              </a:pPr>
              <a:t>‹#›</a:t>
            </a:fld>
            <a:endParaRPr lang="en-GB" sz="1000">
              <a:solidFill>
                <a:schemeClr val="dk2"/>
              </a:solidFill>
            </a:endParaRPr>
          </a:p>
        </p:txBody>
      </p:sp>
    </p:spTree>
    <p:extLst>
      <p:ext uri="{BB962C8B-B14F-4D97-AF65-F5344CB8AC3E}">
        <p14:creationId xmlns:p14="http://schemas.microsoft.com/office/powerpoint/2010/main" xmlns="" val="30405094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a:spcBef>
                <a:spcPts val="0"/>
              </a:spcBef>
              <a:buNone/>
            </a:pPr>
            <a:fld id="{00000000-1234-1234-1234-123412341234}" type="slidenum">
              <a:rPr lang="en-GB" sz="1000" smtClean="0">
                <a:solidFill>
                  <a:schemeClr val="dk2"/>
                </a:solidFill>
              </a:rPr>
              <a:pPr marL="0" lvl="0" indent="0" algn="r">
                <a:spcBef>
                  <a:spcPts val="0"/>
                </a:spcBef>
                <a:buNone/>
              </a:pPr>
              <a:t>‹#›</a:t>
            </a:fld>
            <a:endParaRPr lang="en-GB" sz="1000">
              <a:solidFill>
                <a:schemeClr val="dk2"/>
              </a:solidFill>
            </a:endParaRPr>
          </a:p>
        </p:txBody>
      </p:sp>
    </p:spTree>
    <p:extLst>
      <p:ext uri="{BB962C8B-B14F-4D97-AF65-F5344CB8AC3E}">
        <p14:creationId xmlns:p14="http://schemas.microsoft.com/office/powerpoint/2010/main" xmlns="" val="40481382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282304"/>
            <a:ext cx="7886700" cy="2139553"/>
          </a:xfrm>
        </p:spPr>
        <p:txBody>
          <a:bodyPr anchor="b"/>
          <a:lstStyle>
            <a:lvl1pPr>
              <a:defRPr sz="4500"/>
            </a:lvl1pPr>
          </a:lstStyle>
          <a:p>
            <a:r>
              <a:rPr lang="en-US" smtClean="0"/>
              <a:t>Click to edit Master title style</a:t>
            </a:r>
            <a:endParaRPr lang="en-US"/>
          </a:p>
        </p:txBody>
      </p:sp>
      <p:sp>
        <p:nvSpPr>
          <p:cNvPr id="3" name="Text Placeholder 2"/>
          <p:cNvSpPr>
            <a:spLocks noGrp="1"/>
          </p:cNvSpPr>
          <p:nvPr>
            <p:ph type="body" idx="1"/>
          </p:nvPr>
        </p:nvSpPr>
        <p:spPr>
          <a:xfrm>
            <a:off x="623888" y="3442098"/>
            <a:ext cx="7886700" cy="1125140"/>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a:spcBef>
                <a:spcPts val="0"/>
              </a:spcBef>
              <a:buNone/>
            </a:pPr>
            <a:fld id="{00000000-1234-1234-1234-123412341234}" type="slidenum">
              <a:rPr lang="en-GB" sz="1000" smtClean="0">
                <a:solidFill>
                  <a:schemeClr val="dk2"/>
                </a:solidFill>
              </a:rPr>
              <a:pPr marL="0" lvl="0" indent="0" algn="r">
                <a:spcBef>
                  <a:spcPts val="0"/>
                </a:spcBef>
                <a:buNone/>
              </a:pPr>
              <a:t>‹#›</a:t>
            </a:fld>
            <a:endParaRPr lang="en-GB" sz="1000">
              <a:solidFill>
                <a:schemeClr val="dk2"/>
              </a:solidFill>
            </a:endParaRPr>
          </a:p>
        </p:txBody>
      </p:sp>
    </p:spTree>
    <p:extLst>
      <p:ext uri="{BB962C8B-B14F-4D97-AF65-F5344CB8AC3E}">
        <p14:creationId xmlns:p14="http://schemas.microsoft.com/office/powerpoint/2010/main" xmlns="" val="36822867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28650" y="1369219"/>
            <a:ext cx="3886200" cy="3263504"/>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29150" y="1369219"/>
            <a:ext cx="3886200" cy="3263504"/>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pPr marL="0" lvl="0" indent="0" algn="r">
              <a:spcBef>
                <a:spcPts val="0"/>
              </a:spcBef>
              <a:buNone/>
            </a:pPr>
            <a:fld id="{00000000-1234-1234-1234-123412341234}" type="slidenum">
              <a:rPr lang="en-GB" sz="1000" smtClean="0">
                <a:solidFill>
                  <a:schemeClr val="dk2"/>
                </a:solidFill>
              </a:rPr>
              <a:pPr marL="0" lvl="0" indent="0" algn="r">
                <a:spcBef>
                  <a:spcPts val="0"/>
                </a:spcBef>
                <a:buNone/>
              </a:pPr>
              <a:t>‹#›</a:t>
            </a:fld>
            <a:endParaRPr lang="en-GB" sz="1000">
              <a:solidFill>
                <a:schemeClr val="dk2"/>
              </a:solidFill>
            </a:endParaRPr>
          </a:p>
        </p:txBody>
      </p:sp>
    </p:spTree>
    <p:extLst>
      <p:ext uri="{BB962C8B-B14F-4D97-AF65-F5344CB8AC3E}">
        <p14:creationId xmlns:p14="http://schemas.microsoft.com/office/powerpoint/2010/main" xmlns="" val="13662295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273844"/>
            <a:ext cx="7886700" cy="994172"/>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629842" y="1260872"/>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Click to edit Master text styles</a:t>
            </a:r>
          </a:p>
        </p:txBody>
      </p:sp>
      <p:sp>
        <p:nvSpPr>
          <p:cNvPr id="4" name="Content Placeholder 3"/>
          <p:cNvSpPr>
            <a:spLocks noGrp="1"/>
          </p:cNvSpPr>
          <p:nvPr>
            <p:ph sz="half" idx="2"/>
          </p:nvPr>
        </p:nvSpPr>
        <p:spPr>
          <a:xfrm>
            <a:off x="629842" y="1878806"/>
            <a:ext cx="3868340" cy="2763441"/>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29150" y="126087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Click to edit Master text styles</a:t>
            </a:r>
          </a:p>
        </p:txBody>
      </p:sp>
      <p:sp>
        <p:nvSpPr>
          <p:cNvPr id="6" name="Content Placeholder 5"/>
          <p:cNvSpPr>
            <a:spLocks noGrp="1"/>
          </p:cNvSpPr>
          <p:nvPr>
            <p:ph sz="quarter" idx="4"/>
          </p:nvPr>
        </p:nvSpPr>
        <p:spPr>
          <a:xfrm>
            <a:off x="4629150" y="1878806"/>
            <a:ext cx="3887391" cy="2763441"/>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pPr marL="0" lvl="0" indent="0" algn="r">
              <a:spcBef>
                <a:spcPts val="0"/>
              </a:spcBef>
              <a:buNone/>
            </a:pPr>
            <a:fld id="{00000000-1234-1234-1234-123412341234}" type="slidenum">
              <a:rPr lang="en-GB" sz="1000" smtClean="0">
                <a:solidFill>
                  <a:schemeClr val="dk2"/>
                </a:solidFill>
              </a:rPr>
              <a:pPr marL="0" lvl="0" indent="0" algn="r">
                <a:spcBef>
                  <a:spcPts val="0"/>
                </a:spcBef>
                <a:buNone/>
              </a:pPr>
              <a:t>‹#›</a:t>
            </a:fld>
            <a:endParaRPr lang="en-GB" sz="1000">
              <a:solidFill>
                <a:schemeClr val="dk2"/>
              </a:solidFill>
            </a:endParaRPr>
          </a:p>
        </p:txBody>
      </p:sp>
    </p:spTree>
    <p:extLst>
      <p:ext uri="{BB962C8B-B14F-4D97-AF65-F5344CB8AC3E}">
        <p14:creationId xmlns:p14="http://schemas.microsoft.com/office/powerpoint/2010/main" xmlns="" val="11382895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pPr marL="0" lvl="0" indent="0" algn="r">
              <a:spcBef>
                <a:spcPts val="0"/>
              </a:spcBef>
              <a:buNone/>
            </a:pPr>
            <a:fld id="{00000000-1234-1234-1234-123412341234}" type="slidenum">
              <a:rPr lang="en-GB" sz="1000" smtClean="0">
                <a:solidFill>
                  <a:schemeClr val="dk2"/>
                </a:solidFill>
              </a:rPr>
              <a:pPr marL="0" lvl="0" indent="0" algn="r">
                <a:spcBef>
                  <a:spcPts val="0"/>
                </a:spcBef>
                <a:buNone/>
              </a:pPr>
              <a:t>‹#›</a:t>
            </a:fld>
            <a:endParaRPr lang="en-GB" sz="1000">
              <a:solidFill>
                <a:schemeClr val="dk2"/>
              </a:solidFill>
            </a:endParaRPr>
          </a:p>
        </p:txBody>
      </p:sp>
    </p:spTree>
    <p:extLst>
      <p:ext uri="{BB962C8B-B14F-4D97-AF65-F5344CB8AC3E}">
        <p14:creationId xmlns:p14="http://schemas.microsoft.com/office/powerpoint/2010/main" xmlns="" val="38613892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pPr marL="0" lvl="0" indent="0">
              <a:spcBef>
                <a:spcPts val="0"/>
              </a:spcBef>
              <a:buNone/>
            </a:pPr>
            <a:fld id="{00000000-1234-1234-1234-123412341234}" type="slidenum">
              <a:rPr lang="en-GB" smtClean="0"/>
              <a:pPr marL="0" lvl="0" indent="0">
                <a:spcBef>
                  <a:spcPts val="0"/>
                </a:spcBef>
                <a:buNone/>
              </a:pPr>
              <a:t>‹#›</a:t>
            </a:fld>
            <a:endParaRPr lang="en-GB"/>
          </a:p>
        </p:txBody>
      </p:sp>
    </p:spTree>
    <p:extLst>
      <p:ext uri="{BB962C8B-B14F-4D97-AF65-F5344CB8AC3E}">
        <p14:creationId xmlns:p14="http://schemas.microsoft.com/office/powerpoint/2010/main" xmlns="" val="9131419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en-US" smtClean="0"/>
              <a:t>Click to edit Master title style</a:t>
            </a:r>
            <a:endParaRPr lang="en-US"/>
          </a:p>
        </p:txBody>
      </p:sp>
      <p:sp>
        <p:nvSpPr>
          <p:cNvPr id="3" name="Content Placeholder 2"/>
          <p:cNvSpPr>
            <a:spLocks noGrp="1"/>
          </p:cNvSpPr>
          <p:nvPr>
            <p:ph idx="1"/>
          </p:nvPr>
        </p:nvSpPr>
        <p:spPr>
          <a:xfrm>
            <a:off x="3887391"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smtClean="0"/>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pPr marL="0" lvl="0" indent="0" algn="r">
              <a:spcBef>
                <a:spcPts val="0"/>
              </a:spcBef>
              <a:buNone/>
            </a:pPr>
            <a:fld id="{00000000-1234-1234-1234-123412341234}" type="slidenum">
              <a:rPr lang="en-GB" sz="1000" smtClean="0">
                <a:solidFill>
                  <a:schemeClr val="dk2"/>
                </a:solidFill>
              </a:rPr>
              <a:pPr marL="0" lvl="0" indent="0" algn="r">
                <a:spcBef>
                  <a:spcPts val="0"/>
                </a:spcBef>
                <a:buNone/>
              </a:pPr>
              <a:t>‹#›</a:t>
            </a:fld>
            <a:endParaRPr lang="en-GB" sz="1000">
              <a:solidFill>
                <a:schemeClr val="dk2"/>
              </a:solidFill>
            </a:endParaRPr>
          </a:p>
        </p:txBody>
      </p:sp>
    </p:spTree>
    <p:extLst>
      <p:ext uri="{BB962C8B-B14F-4D97-AF65-F5344CB8AC3E}">
        <p14:creationId xmlns:p14="http://schemas.microsoft.com/office/powerpoint/2010/main" xmlns="" val="26893231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en-US" smtClean="0"/>
              <a:t>Click to edit Master title style</a:t>
            </a:r>
            <a:endParaRPr lang="en-US"/>
          </a:p>
        </p:txBody>
      </p:sp>
      <p:sp>
        <p:nvSpPr>
          <p:cNvPr id="3" name="Picture Placeholder 2"/>
          <p:cNvSpPr>
            <a:spLocks noGrp="1"/>
          </p:cNvSpPr>
          <p:nvPr>
            <p:ph type="pic" idx="1"/>
          </p:nvPr>
        </p:nvSpPr>
        <p:spPr>
          <a:xfrm>
            <a:off x="3887391" y="740569"/>
            <a:ext cx="4629150" cy="3655219"/>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smtClean="0"/>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pPr marL="0" lvl="0" indent="0" algn="r">
              <a:spcBef>
                <a:spcPts val="0"/>
              </a:spcBef>
              <a:buNone/>
            </a:pPr>
            <a:fld id="{00000000-1234-1234-1234-123412341234}" type="slidenum">
              <a:rPr lang="en-GB" sz="1000" smtClean="0">
                <a:solidFill>
                  <a:schemeClr val="dk2"/>
                </a:solidFill>
              </a:rPr>
              <a:pPr marL="0" lvl="0" indent="0" algn="r">
                <a:spcBef>
                  <a:spcPts val="0"/>
                </a:spcBef>
                <a:buNone/>
              </a:pPr>
              <a:t>‹#›</a:t>
            </a:fld>
            <a:endParaRPr lang="en-GB" sz="1000">
              <a:solidFill>
                <a:schemeClr val="dk2"/>
              </a:solidFill>
            </a:endParaRPr>
          </a:p>
        </p:txBody>
      </p:sp>
    </p:spTree>
    <p:extLst>
      <p:ext uri="{BB962C8B-B14F-4D97-AF65-F5344CB8AC3E}">
        <p14:creationId xmlns:p14="http://schemas.microsoft.com/office/powerpoint/2010/main" xmlns="" val="35741032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a:spcBef>
                <a:spcPts val="0"/>
              </a:spcBef>
              <a:buNone/>
            </a:pPr>
            <a:fld id="{00000000-1234-1234-1234-123412341234}" type="slidenum">
              <a:rPr lang="en-GB" sz="1000" smtClean="0">
                <a:solidFill>
                  <a:schemeClr val="dk2"/>
                </a:solidFill>
              </a:rPr>
              <a:pPr marL="0" lvl="0" indent="0" algn="r">
                <a:spcBef>
                  <a:spcPts val="0"/>
                </a:spcBef>
                <a:buNone/>
              </a:pPr>
              <a:t>‹#›</a:t>
            </a:fld>
            <a:endParaRPr lang="en-GB" sz="1000">
              <a:solidFill>
                <a:schemeClr val="dk2"/>
              </a:solidFill>
            </a:endParaRPr>
          </a:p>
        </p:txBody>
      </p:sp>
    </p:spTree>
    <p:extLst>
      <p:ext uri="{BB962C8B-B14F-4D97-AF65-F5344CB8AC3E}">
        <p14:creationId xmlns:p14="http://schemas.microsoft.com/office/powerpoint/2010/main" xmlns="" val="5834915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273844"/>
            <a:ext cx="1971675" cy="4358879"/>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28650" y="273844"/>
            <a:ext cx="5800725" cy="4358879"/>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a:spcBef>
                <a:spcPts val="0"/>
              </a:spcBef>
              <a:buNone/>
            </a:pPr>
            <a:fld id="{00000000-1234-1234-1234-123412341234}" type="slidenum">
              <a:rPr lang="en-GB" sz="1000" smtClean="0">
                <a:solidFill>
                  <a:schemeClr val="dk2"/>
                </a:solidFill>
              </a:rPr>
              <a:pPr marL="0" lvl="0" indent="0" algn="r">
                <a:spcBef>
                  <a:spcPts val="0"/>
                </a:spcBef>
                <a:buNone/>
              </a:pPr>
              <a:t>‹#›</a:t>
            </a:fld>
            <a:endParaRPr lang="en-GB" sz="1000">
              <a:solidFill>
                <a:schemeClr val="dk2"/>
              </a:solidFill>
            </a:endParaRPr>
          </a:p>
        </p:txBody>
      </p:sp>
    </p:spTree>
    <p:extLst>
      <p:ext uri="{BB962C8B-B14F-4D97-AF65-F5344CB8AC3E}">
        <p14:creationId xmlns:p14="http://schemas.microsoft.com/office/powerpoint/2010/main" xmlns="" val="220435247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Title and body">
    <p:spTree>
      <p:nvGrpSpPr>
        <p:cNvPr id="1" name="Shape 16"/>
        <p:cNvGrpSpPr/>
        <p:nvPr/>
      </p:nvGrpSpPr>
      <p:grpSpPr>
        <a:xfrm>
          <a:off x="0" y="0"/>
          <a:ext cx="0" cy="0"/>
          <a:chOff x="0" y="0"/>
          <a:chExt cx="0" cy="0"/>
        </a:xfrm>
      </p:grpSpPr>
      <p:sp>
        <p:nvSpPr>
          <p:cNvPr id="17" name="Shape 17"/>
          <p:cNvSpPr txBox="1">
            <a:spLocks noGrp="1"/>
          </p:cNvSpPr>
          <p:nvPr>
            <p:ph type="title"/>
          </p:nvPr>
        </p:nvSpPr>
        <p:spPr>
          <a:xfrm>
            <a:off x="311700" y="445025"/>
            <a:ext cx="8520600" cy="572700"/>
          </a:xfrm>
          <a:prstGeom prst="rect">
            <a:avLst/>
          </a:prstGeom>
        </p:spPr>
        <p:txBody>
          <a:bodyPr wrap="square" lIns="91425" tIns="91425" rIns="91425" bIns="91425" anchor="t" anchorCtr="0"/>
          <a:lstStyle>
            <a:lvl1pPr lvl="0">
              <a:spcBef>
                <a:spcPts val="0"/>
              </a:spcBef>
              <a:buSzPts val="2800"/>
              <a:buNone/>
              <a:defRPr/>
            </a:lvl1pPr>
            <a:lvl2pPr lvl="1">
              <a:spcBef>
                <a:spcPts val="0"/>
              </a:spcBef>
              <a:buSzPts val="2800"/>
              <a:buNone/>
              <a:defRPr/>
            </a:lvl2pPr>
            <a:lvl3pPr lvl="2">
              <a:spcBef>
                <a:spcPts val="0"/>
              </a:spcBef>
              <a:buSzPts val="2800"/>
              <a:buNone/>
              <a:defRPr/>
            </a:lvl3pPr>
            <a:lvl4pPr lvl="3">
              <a:spcBef>
                <a:spcPts val="0"/>
              </a:spcBef>
              <a:buSzPts val="2800"/>
              <a:buNone/>
              <a:defRPr/>
            </a:lvl4pPr>
            <a:lvl5pPr lvl="4">
              <a:spcBef>
                <a:spcPts val="0"/>
              </a:spcBef>
              <a:buSzPts val="2800"/>
              <a:buNone/>
              <a:defRPr/>
            </a:lvl5pPr>
            <a:lvl6pPr lvl="5">
              <a:spcBef>
                <a:spcPts val="0"/>
              </a:spcBef>
              <a:buSzPts val="2800"/>
              <a:buNone/>
              <a:defRPr/>
            </a:lvl6pPr>
            <a:lvl7pPr lvl="6">
              <a:spcBef>
                <a:spcPts val="0"/>
              </a:spcBef>
              <a:buSzPts val="2800"/>
              <a:buNone/>
              <a:defRPr/>
            </a:lvl7pPr>
            <a:lvl8pPr lvl="7">
              <a:spcBef>
                <a:spcPts val="0"/>
              </a:spcBef>
              <a:buSzPts val="2800"/>
              <a:buNone/>
              <a:defRPr/>
            </a:lvl8pPr>
            <a:lvl9pPr lvl="8">
              <a:spcBef>
                <a:spcPts val="0"/>
              </a:spcBef>
              <a:buSzPts val="2800"/>
              <a:buNone/>
              <a:defRPr/>
            </a:lvl9pPr>
          </a:lstStyle>
          <a:p>
            <a:endParaRPr/>
          </a:p>
        </p:txBody>
      </p:sp>
      <p:sp>
        <p:nvSpPr>
          <p:cNvPr id="18" name="Shape 18"/>
          <p:cNvSpPr txBox="1">
            <a:spLocks noGrp="1"/>
          </p:cNvSpPr>
          <p:nvPr>
            <p:ph type="body" idx="1"/>
          </p:nvPr>
        </p:nvSpPr>
        <p:spPr>
          <a:xfrm>
            <a:off x="311700" y="1152475"/>
            <a:ext cx="8520600" cy="3416400"/>
          </a:xfrm>
          <a:prstGeom prst="rect">
            <a:avLst/>
          </a:prstGeom>
        </p:spPr>
        <p:txBody>
          <a:bodyPr wrap="square" lIns="91425" tIns="91425" rIns="91425" bIns="91425" anchor="t" anchorCtr="0"/>
          <a:lstStyle>
            <a:lvl1pPr lvl="0">
              <a:spcBef>
                <a:spcPts val="0"/>
              </a:spcBef>
              <a:buSzPts val="1800"/>
              <a:buChar char="●"/>
              <a:defRPr/>
            </a:lvl1pPr>
            <a:lvl2pPr lvl="1">
              <a:spcBef>
                <a:spcPts val="0"/>
              </a:spcBef>
              <a:buSzPts val="1400"/>
              <a:buChar char="○"/>
              <a:defRPr/>
            </a:lvl2pPr>
            <a:lvl3pPr lvl="2">
              <a:spcBef>
                <a:spcPts val="0"/>
              </a:spcBef>
              <a:buSzPts val="1400"/>
              <a:buChar char="■"/>
              <a:defRPr/>
            </a:lvl3pPr>
            <a:lvl4pPr lvl="3">
              <a:spcBef>
                <a:spcPts val="0"/>
              </a:spcBef>
              <a:buSzPts val="1400"/>
              <a:buChar char="●"/>
              <a:defRPr/>
            </a:lvl4pPr>
            <a:lvl5pPr lvl="4">
              <a:spcBef>
                <a:spcPts val="0"/>
              </a:spcBef>
              <a:buSzPts val="1400"/>
              <a:buChar char="○"/>
              <a:defRPr/>
            </a:lvl5pPr>
            <a:lvl6pPr lvl="5">
              <a:spcBef>
                <a:spcPts val="0"/>
              </a:spcBef>
              <a:buSzPts val="1400"/>
              <a:buChar char="■"/>
              <a:defRPr/>
            </a:lvl6pPr>
            <a:lvl7pPr lvl="6">
              <a:spcBef>
                <a:spcPts val="0"/>
              </a:spcBef>
              <a:buSzPts val="1400"/>
              <a:buChar char="●"/>
              <a:defRPr/>
            </a:lvl7pPr>
            <a:lvl8pPr lvl="7">
              <a:spcBef>
                <a:spcPts val="0"/>
              </a:spcBef>
              <a:buSzPts val="1400"/>
              <a:buChar char="○"/>
              <a:defRPr/>
            </a:lvl8pPr>
            <a:lvl9pPr lvl="8">
              <a:spcBef>
                <a:spcPts val="0"/>
              </a:spcBef>
              <a:buSzPts val="1400"/>
              <a:buChar char="■"/>
              <a:defRPr/>
            </a:lvl9pPr>
          </a:lstStyle>
          <a:p>
            <a:endParaRPr/>
          </a:p>
        </p:txBody>
      </p:sp>
      <p:sp>
        <p:nvSpPr>
          <p:cNvPr id="19" name="Shape 19"/>
          <p:cNvSpPr txBox="1">
            <a:spLocks noGrp="1"/>
          </p:cNvSpPr>
          <p:nvPr>
            <p:ph type="sldNum" idx="12"/>
          </p:nvPr>
        </p:nvSpPr>
        <p:spPr>
          <a:xfrm>
            <a:off x="8472458" y="4663217"/>
            <a:ext cx="548700" cy="393600"/>
          </a:xfrm>
          <a:prstGeom prst="rect">
            <a:avLst/>
          </a:prstGeom>
        </p:spPr>
        <p:txBody>
          <a:bodyPr wrap="square" lIns="91425" tIns="91425" rIns="91425" bIns="91425" anchor="ctr" anchorCtr="0">
            <a:noAutofit/>
          </a:bodyPr>
          <a:lstStyle/>
          <a:p>
            <a:pPr marL="0" lvl="0" indent="0">
              <a:spcBef>
                <a:spcPts val="0"/>
              </a:spcBef>
              <a:buNone/>
            </a:pPr>
            <a:fld id="{00000000-1234-1234-1234-123412341234}" type="slidenum">
              <a:rPr lang="en-GB"/>
              <a:pPr marL="0" lvl="0" indent="0">
                <a:spcBef>
                  <a:spcPts val="0"/>
                </a:spcBef>
                <a:buNone/>
              </a:pPr>
              <a:t>‹#›</a:t>
            </a:fld>
            <a:endParaRPr lang="en-GB"/>
          </a:p>
        </p:txBody>
      </p:sp>
    </p:spTree>
    <p:extLst>
      <p:ext uri="{BB962C8B-B14F-4D97-AF65-F5344CB8AC3E}">
        <p14:creationId xmlns:p14="http://schemas.microsoft.com/office/powerpoint/2010/main" xmlns="" val="8171973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75000"/>
                  </a:schemeClr>
                </a:solidFill>
              </a:defRPr>
            </a:lvl1pPr>
          </a:lstStyle>
          <a:p>
            <a:pPr marL="0" lvl="0" indent="0" algn="r">
              <a:spcBef>
                <a:spcPts val="0"/>
              </a:spcBef>
              <a:buNone/>
            </a:pPr>
            <a:fld id="{00000000-1234-1234-1234-123412341234}" type="slidenum">
              <a:rPr lang="en-GB" sz="1000" smtClean="0">
                <a:solidFill>
                  <a:schemeClr val="dk2"/>
                </a:solidFill>
              </a:rPr>
              <a:pPr marL="0" lvl="0" indent="0" algn="r">
                <a:spcBef>
                  <a:spcPts val="0"/>
                </a:spcBef>
                <a:buNone/>
              </a:pPr>
              <a:t>‹#›</a:t>
            </a:fld>
            <a:endParaRPr lang="en-GB" sz="1000">
              <a:solidFill>
                <a:schemeClr val="dk2"/>
              </a:solidFill>
            </a:endParaRPr>
          </a:p>
        </p:txBody>
      </p:sp>
    </p:spTree>
    <p:extLst>
      <p:ext uri="{BB962C8B-B14F-4D97-AF65-F5344CB8AC3E}">
        <p14:creationId xmlns:p14="http://schemas.microsoft.com/office/powerpoint/2010/main" xmlns="" val="1600348479"/>
      </p:ext>
    </p:extLst>
  </p:cSld>
  <p:clrMap bg1="lt1" tx1="dk1" bg2="lt2" tx2="dk2" accent1="accent1" accent2="accent2" accent3="accent3" accent4="accent4" accent5="accent5" accent6="accent6" hlink="hlink" folHlink="folHlink"/>
  <p:sldLayoutIdLst>
    <p:sldLayoutId id="2147483731" r:id="rId1"/>
    <p:sldLayoutId id="2147483732" r:id="rId2"/>
    <p:sldLayoutId id="2147483733" r:id="rId3"/>
    <p:sldLayoutId id="2147483734" r:id="rId4"/>
    <p:sldLayoutId id="2147483735" r:id="rId5"/>
    <p:sldLayoutId id="2147483736" r:id="rId6"/>
    <p:sldLayoutId id="2147483737" r:id="rId7"/>
    <p:sldLayoutId id="2147483738" r:id="rId8"/>
    <p:sldLayoutId id="2147483739" r:id="rId9"/>
    <p:sldLayoutId id="2147483740" r:id="rId10"/>
    <p:sldLayoutId id="2147483741" r:id="rId11"/>
    <p:sldLayoutId id="2147483742" r:id="rId12"/>
  </p:sldLayoutIdLst>
  <p:hf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2.xml"/><Relationship Id="rId5" Type="http://schemas.openxmlformats.org/officeDocument/2006/relationships/image" Target="../media/image6.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12.xml"/><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12.xml"/><Relationship Id="rId5" Type="http://schemas.openxmlformats.org/officeDocument/2006/relationships/image" Target="../media/image15.png"/><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hyperlink" Target="http://www.csrflabelgg.com" TargetMode="External"/><Relationship Id="rId2" Type="http://schemas.openxmlformats.org/officeDocument/2006/relationships/notesSlide" Target="../notesSlides/notesSlide6.xml"/><Relationship Id="rId1" Type="http://schemas.openxmlformats.org/officeDocument/2006/relationships/slideLayout" Target="../slideLayouts/slideLayout12.xml"/><Relationship Id="rId5" Type="http://schemas.openxmlformats.org/officeDocument/2006/relationships/image" Target="../media/image17.png"/><Relationship Id="rId4" Type="http://schemas.openxmlformats.org/officeDocument/2006/relationships/hyperlink" Target="http://www.csrflabattacker.com" TargetMode="External"/></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7.xml"/><Relationship Id="rId1" Type="http://schemas.openxmlformats.org/officeDocument/2006/relationships/slideLayout" Target="../slideLayouts/slideLayout12.xml"/><Relationship Id="rId5" Type="http://schemas.openxmlformats.org/officeDocument/2006/relationships/image" Target="../media/image20.png"/><Relationship Id="rId4" Type="http://schemas.openxmlformats.org/officeDocument/2006/relationships/image" Target="../media/image19.png"/></Relationships>
</file>

<file path=ppt/slides/_rels/slide12.xml.rels><?xml version="1.0" encoding="UTF-8" standalone="yes"?>
<Relationships xmlns="http://schemas.openxmlformats.org/package/2006/relationships"><Relationship Id="rId3" Type="http://schemas.openxmlformats.org/officeDocument/2006/relationships/hyperlink" Target="http://www.husbank.com/" TargetMode="External"/><Relationship Id="rId7"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12.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hyperlink" Target="http://www.bank32.com/transfer.php?to=3220&amp;amount=500" TargetMode="Externa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hyperlink" Target="http://www.csrflabelgg.com/" TargetMode="External"/><Relationship Id="rId1" Type="http://schemas.openxmlformats.org/officeDocument/2006/relationships/slideLayout" Target="../slideLayouts/slideLayout12.xml"/><Relationship Id="rId4" Type="http://schemas.openxmlformats.org/officeDocument/2006/relationships/image" Target="../media/image24.png"/></Relationships>
</file>

<file path=ppt/slides/_rels/slide1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0.xml"/><Relationship Id="rId1" Type="http://schemas.openxmlformats.org/officeDocument/2006/relationships/slideLayout" Target="../slideLayouts/slideLayout12.xml"/><Relationship Id="rId4" Type="http://schemas.openxmlformats.org/officeDocument/2006/relationships/image" Target="../media/image29.png"/></Relationships>
</file>

<file path=ppt/slides/_rels/slide1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1.xml"/><Relationship Id="rId1" Type="http://schemas.openxmlformats.org/officeDocument/2006/relationships/slideLayout" Target="../slideLayouts/slideLayout12.xml"/><Relationship Id="rId4" Type="http://schemas.openxmlformats.org/officeDocument/2006/relationships/image" Target="../media/image31.png"/></Relationships>
</file>

<file path=ppt/slides/_rels/slide2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2.xml"/><Relationship Id="rId1" Type="http://schemas.openxmlformats.org/officeDocument/2006/relationships/slideLayout" Target="../slideLayouts/slideLayout12.xml"/><Relationship Id="rId6" Type="http://schemas.openxmlformats.org/officeDocument/2006/relationships/image" Target="../media/image34.png"/><Relationship Id="rId5" Type="http://schemas.openxmlformats.org/officeDocument/2006/relationships/hyperlink" Target="http://www.csrflabattacker.com" TargetMode="External"/><Relationship Id="rId4" Type="http://schemas.openxmlformats.org/officeDocument/2006/relationships/image" Target="../media/image33.png"/></Relationships>
</file>

<file path=ppt/slides/_rels/slide21.xml.rels><?xml version="1.0" encoding="UTF-8" standalone="yes"?>
<Relationships xmlns="http://schemas.openxmlformats.org/package/2006/relationships"><Relationship Id="rId3" Type="http://schemas.openxmlformats.org/officeDocument/2006/relationships/hyperlink" Target="http://www.csrflabelgg.com/" TargetMode="External"/><Relationship Id="rId2" Type="http://schemas.openxmlformats.org/officeDocument/2006/relationships/notesSlide" Target="../notesSlides/notesSlide13.xml"/><Relationship Id="rId1" Type="http://schemas.openxmlformats.org/officeDocument/2006/relationships/slideLayout" Target="../slideLayouts/slideLayout12.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hyperlink" Target="http://www.csrflabattack.com/" TargetMode="External"/></Relationships>
</file>

<file path=ppt/slides/_rels/slide22.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6.xml"/><Relationship Id="rId1" Type="http://schemas.openxmlformats.org/officeDocument/2006/relationships/slideLayout" Target="../slideLayouts/slideLayout12.xml"/><Relationship Id="rId4" Type="http://schemas.openxmlformats.org/officeDocument/2006/relationships/image" Target="../media/image40.png"/></Relationships>
</file>

<file path=ppt/slides/_rels/slide25.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19.xml"/><Relationship Id="rId1" Type="http://schemas.openxmlformats.org/officeDocument/2006/relationships/slideLayout" Target="../slideLayouts/slideLayout12.xml"/><Relationship Id="rId4" Type="http://schemas.openxmlformats.org/officeDocument/2006/relationships/hyperlink" Target="http://www.csrflabelgg.com/action/profile/edit" TargetMode="External"/></Relationships>
</file>

<file path=ppt/slides/_rels/slide28.xml.rels><?xml version="1.0" encoding="UTF-8" standalone="yes"?>
<Relationships xmlns="http://schemas.openxmlformats.org/package/2006/relationships"><Relationship Id="rId3" Type="http://schemas.openxmlformats.org/officeDocument/2006/relationships/hyperlink" Target="http://www.csrflabattacker.com/" TargetMode="External"/><Relationship Id="rId2" Type="http://schemas.openxmlformats.org/officeDocument/2006/relationships/hyperlink" Target="http://www.csrflabelgg.com/" TargetMode="External"/><Relationship Id="rId1" Type="http://schemas.openxmlformats.org/officeDocument/2006/relationships/slideLayout" Target="../slideLayouts/slideLayout12.xml"/><Relationship Id="rId5" Type="http://schemas.openxmlformats.org/officeDocument/2006/relationships/image" Target="../media/image45.png"/><Relationship Id="rId4" Type="http://schemas.openxmlformats.org/officeDocument/2006/relationships/image" Target="../media/image44.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0.xml"/><Relationship Id="rId1" Type="http://schemas.openxmlformats.org/officeDocument/2006/relationships/slideLayout" Target="../slideLayouts/slideLayout12.xml"/><Relationship Id="rId5" Type="http://schemas.openxmlformats.org/officeDocument/2006/relationships/image" Target="../media/image15.png"/><Relationship Id="rId4" Type="http://schemas.openxmlformats.org/officeDocument/2006/relationships/image" Target="../media/image14.png"/></Relationships>
</file>

<file path=ppt/slides/_rels/slide3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1.xml"/><Relationship Id="rId1" Type="http://schemas.openxmlformats.org/officeDocument/2006/relationships/slideLayout" Target="../slideLayouts/slideLayout12.xml"/><Relationship Id="rId5" Type="http://schemas.openxmlformats.org/officeDocument/2006/relationships/image" Target="../media/image15.png"/><Relationship Id="rId4" Type="http://schemas.openxmlformats.org/officeDocument/2006/relationships/image" Target="../media/image14.png"/></Relationships>
</file>

<file path=ppt/slides/_rels/slide3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2.xml"/><Relationship Id="rId1" Type="http://schemas.openxmlformats.org/officeDocument/2006/relationships/slideLayout" Target="../slideLayouts/slideLayout12.xml"/><Relationship Id="rId5" Type="http://schemas.openxmlformats.org/officeDocument/2006/relationships/image" Target="../media/image15.png"/><Relationship Id="rId4" Type="http://schemas.openxmlformats.org/officeDocument/2006/relationships/image" Target="../media/image14.png"/></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24.xml"/><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25.xml"/><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Shape 54"/>
          <p:cNvSpPr txBox="1">
            <a:spLocks noGrp="1"/>
          </p:cNvSpPr>
          <p:nvPr>
            <p:ph type="ctrTitle"/>
          </p:nvPr>
        </p:nvSpPr>
        <p:spPr>
          <a:prstGeom prst="rect">
            <a:avLst/>
          </a:prstGeom>
        </p:spPr>
        <p:txBody>
          <a:bodyPr wrap="square" lIns="91425" tIns="91425" rIns="91425" bIns="91425" anchor="b" anchorCtr="0">
            <a:noAutofit/>
          </a:bodyPr>
          <a:lstStyle/>
          <a:p>
            <a:pPr marL="0" lvl="0" indent="0">
              <a:spcBef>
                <a:spcPts val="0"/>
              </a:spcBef>
              <a:buNone/>
            </a:pPr>
            <a:r>
              <a:rPr lang="en-GB" dirty="0"/>
              <a:t>Cross Site Request </a:t>
            </a:r>
            <a:r>
              <a:rPr lang="en-GB" dirty="0" smtClean="0"/>
              <a:t>Forgery</a:t>
            </a:r>
            <a:br>
              <a:rPr lang="en-GB" dirty="0" smtClean="0"/>
            </a:br>
            <a:r>
              <a:rPr lang="en-GB" dirty="0" smtClean="0"/>
              <a:t>(CSRF)</a:t>
            </a:r>
            <a:endParaRPr lang="en-GB" dirty="0"/>
          </a:p>
        </p:txBody>
      </p:sp>
      <p:sp>
        <p:nvSpPr>
          <p:cNvPr id="3" name="Slide Number Placeholder 2"/>
          <p:cNvSpPr>
            <a:spLocks noGrp="1"/>
          </p:cNvSpPr>
          <p:nvPr>
            <p:ph type="sldNum" sz="quarter" idx="12"/>
          </p:nvPr>
        </p:nvSpPr>
        <p:spPr/>
        <p:txBody>
          <a:bodyPr/>
          <a:lstStyle/>
          <a:p>
            <a:pPr marL="0" lvl="0" indent="0" algn="r">
              <a:spcBef>
                <a:spcPts val="0"/>
              </a:spcBef>
              <a:buNone/>
            </a:pPr>
            <a:fld id="{00000000-1234-1234-1234-123412341234}" type="slidenum">
              <a:rPr lang="en-GB" sz="1000" smtClean="0">
                <a:solidFill>
                  <a:schemeClr val="dk2"/>
                </a:solidFill>
              </a:rPr>
              <a:pPr marL="0" lvl="0" indent="0" algn="r">
                <a:spcBef>
                  <a:spcPts val="0"/>
                </a:spcBef>
                <a:buNone/>
              </a:pPr>
              <a:t>1</a:t>
            </a:fld>
            <a:endParaRPr lang="en-GB" sz="1000">
              <a:solidFill>
                <a:schemeClr val="dk2"/>
              </a:solidFill>
            </a:endParaRPr>
          </a:p>
        </p:txBody>
      </p:sp>
      <p:pic>
        <p:nvPicPr>
          <p:cNvPr id="57346" name="Picture 2" descr="https://www.sjoerdlangkemper.nl/images/third-party-cookies-attack.png"/>
          <p:cNvPicPr>
            <a:picLocks noChangeAspect="1" noChangeArrowheads="1"/>
          </p:cNvPicPr>
          <p:nvPr/>
        </p:nvPicPr>
        <p:blipFill>
          <a:blip r:embed="rId3"/>
          <a:srcRect/>
          <a:stretch>
            <a:fillRect/>
          </a:stretch>
        </p:blipFill>
        <p:spPr bwMode="auto">
          <a:xfrm>
            <a:off x="6217919" y="2338306"/>
            <a:ext cx="2325269" cy="2805194"/>
          </a:xfrm>
          <a:prstGeom prst="rect">
            <a:avLst/>
          </a:prstGeom>
          <a:noFill/>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8"/>
        <p:cNvGrpSpPr/>
        <p:nvPr/>
      </p:nvGrpSpPr>
      <p:grpSpPr>
        <a:xfrm>
          <a:off x="0" y="0"/>
          <a:ext cx="0" cy="0"/>
          <a:chOff x="0" y="0"/>
          <a:chExt cx="0" cy="0"/>
        </a:xfrm>
      </p:grpSpPr>
      <p:sp>
        <p:nvSpPr>
          <p:cNvPr id="59" name="Shape 59"/>
          <p:cNvSpPr txBox="1">
            <a:spLocks noGrp="1"/>
          </p:cNvSpPr>
          <p:nvPr>
            <p:ph type="title"/>
          </p:nvPr>
        </p:nvSpPr>
        <p:spPr>
          <a:prstGeom prst="rect">
            <a:avLst/>
          </a:prstGeom>
        </p:spPr>
        <p:txBody>
          <a:bodyPr wrap="square" lIns="91425" tIns="91425" rIns="91425" bIns="91425" anchor="t" anchorCtr="0">
            <a:noAutofit/>
          </a:bodyPr>
          <a:lstStyle/>
          <a:p>
            <a:pPr marL="0" lvl="0" indent="0">
              <a:spcBef>
                <a:spcPts val="0"/>
              </a:spcBef>
              <a:buNone/>
            </a:pPr>
            <a:r>
              <a:rPr lang="en-GB"/>
              <a:t>Outline</a:t>
            </a:r>
          </a:p>
        </p:txBody>
      </p:sp>
      <p:sp>
        <p:nvSpPr>
          <p:cNvPr id="60" name="Shape 60"/>
          <p:cNvSpPr txBox="1">
            <a:spLocks noGrp="1"/>
          </p:cNvSpPr>
          <p:nvPr>
            <p:ph type="body" idx="1"/>
          </p:nvPr>
        </p:nvSpPr>
        <p:spPr>
          <a:prstGeom prst="rect">
            <a:avLst/>
          </a:prstGeom>
        </p:spPr>
        <p:txBody>
          <a:bodyPr wrap="square" lIns="91425" tIns="91425" rIns="91425" bIns="91425" anchor="t" anchorCtr="0">
            <a:noAutofit/>
          </a:bodyPr>
          <a:lstStyle/>
          <a:p>
            <a:pPr marL="457200" lvl="0" indent="-342900" rtl="0">
              <a:spcBef>
                <a:spcPts val="0"/>
              </a:spcBef>
              <a:spcAft>
                <a:spcPts val="0"/>
              </a:spcAft>
              <a:buClr>
                <a:srgbClr val="000000"/>
              </a:buClr>
              <a:buSzPts val="1800"/>
              <a:buChar char="●"/>
            </a:pPr>
            <a:r>
              <a:rPr lang="en-GB" dirty="0">
                <a:solidFill>
                  <a:srgbClr val="000000"/>
                </a:solidFill>
              </a:rPr>
              <a:t>Cross-Site Requests and Its Problems</a:t>
            </a:r>
          </a:p>
          <a:p>
            <a:pPr marL="457200" lvl="0" indent="-342900">
              <a:spcBef>
                <a:spcPts val="0"/>
              </a:spcBef>
              <a:spcAft>
                <a:spcPts val="0"/>
              </a:spcAft>
              <a:buClr>
                <a:srgbClr val="000000"/>
              </a:buClr>
              <a:buSzPts val="1800"/>
              <a:buChar char="●"/>
            </a:pPr>
            <a:r>
              <a:rPr lang="en-GB" dirty="0">
                <a:solidFill>
                  <a:srgbClr val="000000"/>
                </a:solidFill>
              </a:rPr>
              <a:t>Cross-Site Request Forgery Attack</a:t>
            </a:r>
          </a:p>
          <a:p>
            <a:pPr marL="457200" lvl="0" indent="-342900">
              <a:spcBef>
                <a:spcPts val="0"/>
              </a:spcBef>
              <a:spcAft>
                <a:spcPts val="0"/>
              </a:spcAft>
              <a:buClr>
                <a:srgbClr val="000000"/>
              </a:buClr>
              <a:buSzPts val="1800"/>
              <a:buChar char="●"/>
            </a:pPr>
            <a:r>
              <a:rPr lang="en-GB" dirty="0" err="1">
                <a:solidFill>
                  <a:srgbClr val="000000"/>
                </a:solidFill>
              </a:rPr>
              <a:t>CSRF</a:t>
            </a:r>
            <a:r>
              <a:rPr lang="en-GB" dirty="0">
                <a:solidFill>
                  <a:srgbClr val="000000"/>
                </a:solidFill>
              </a:rPr>
              <a:t> Attacks on HTTP GET</a:t>
            </a:r>
          </a:p>
          <a:p>
            <a:pPr marL="457200" lvl="0" indent="-342900">
              <a:spcBef>
                <a:spcPts val="0"/>
              </a:spcBef>
              <a:spcAft>
                <a:spcPts val="0"/>
              </a:spcAft>
              <a:buClr>
                <a:srgbClr val="000000"/>
              </a:buClr>
              <a:buSzPts val="1800"/>
              <a:buChar char="●"/>
            </a:pPr>
            <a:r>
              <a:rPr lang="en-GB" dirty="0" err="1">
                <a:solidFill>
                  <a:srgbClr val="000000"/>
                </a:solidFill>
              </a:rPr>
              <a:t>CSRF</a:t>
            </a:r>
            <a:r>
              <a:rPr lang="en-GB" dirty="0">
                <a:solidFill>
                  <a:srgbClr val="000000"/>
                </a:solidFill>
              </a:rPr>
              <a:t> Attacks on HTTP POST</a:t>
            </a:r>
          </a:p>
          <a:p>
            <a:pPr marL="457200" lvl="0" indent="-342900">
              <a:spcBef>
                <a:spcPts val="0"/>
              </a:spcBef>
              <a:buClr>
                <a:srgbClr val="000000"/>
              </a:buClr>
              <a:buSzPts val="1800"/>
              <a:buChar char="●"/>
            </a:pPr>
            <a:r>
              <a:rPr lang="en-GB" dirty="0">
                <a:solidFill>
                  <a:srgbClr val="000000"/>
                </a:solidFill>
              </a:rPr>
              <a:t>Countermeasures</a:t>
            </a:r>
          </a:p>
        </p:txBody>
      </p:sp>
      <p:sp>
        <p:nvSpPr>
          <p:cNvPr id="4" name="Slide Number Placeholder 3"/>
          <p:cNvSpPr>
            <a:spLocks noGrp="1"/>
          </p:cNvSpPr>
          <p:nvPr>
            <p:ph type="sldNum" idx="12"/>
          </p:nvPr>
        </p:nvSpPr>
        <p:spPr/>
        <p:txBody>
          <a:bodyPr/>
          <a:lstStyle/>
          <a:p>
            <a:pPr marL="0" lvl="0" indent="0">
              <a:spcBef>
                <a:spcPts val="0"/>
              </a:spcBef>
              <a:buNone/>
            </a:pPr>
            <a:fld id="{00000000-1234-1234-1234-123412341234}" type="slidenum">
              <a:rPr lang="en-GB" smtClean="0"/>
              <a:pPr marL="0" lvl="0" indent="0">
                <a:spcBef>
                  <a:spcPts val="0"/>
                </a:spcBef>
                <a:buNone/>
              </a:pPr>
              <a:t>2</a:t>
            </a:fld>
            <a:endParaRPr lang="en-GB"/>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Infamous CSRF </a:t>
            </a:r>
            <a:r>
              <a:rPr lang="en-US" dirty="0" smtClean="0"/>
              <a:t>attacks</a:t>
            </a:r>
            <a:endParaRPr lang="en-US" dirty="0"/>
          </a:p>
        </p:txBody>
      </p:sp>
      <p:sp>
        <p:nvSpPr>
          <p:cNvPr id="3" name="Text Placeholder 2"/>
          <p:cNvSpPr>
            <a:spLocks noGrp="1"/>
          </p:cNvSpPr>
          <p:nvPr>
            <p:ph type="body" idx="1"/>
          </p:nvPr>
        </p:nvSpPr>
        <p:spPr>
          <a:xfrm>
            <a:off x="311700" y="1152474"/>
            <a:ext cx="6351567" cy="3876725"/>
          </a:xfrm>
        </p:spPr>
        <p:txBody>
          <a:bodyPr>
            <a:normAutofit/>
          </a:bodyPr>
          <a:lstStyle/>
          <a:p>
            <a:pPr marL="182880" indent="-274320">
              <a:spcBef>
                <a:spcPts val="600"/>
              </a:spcBef>
              <a:spcAft>
                <a:spcPts val="600"/>
              </a:spcAft>
            </a:pPr>
            <a:r>
              <a:rPr lang="en-US" sz="2400" dirty="0" smtClean="0"/>
              <a:t>The 2007 Gmail Email-Forwarding CSRF Attack  </a:t>
            </a:r>
          </a:p>
          <a:p>
            <a:pPr marL="525780" lvl="2" indent="-274320">
              <a:spcBef>
                <a:spcPts val="300"/>
              </a:spcBef>
              <a:spcAft>
                <a:spcPts val="300"/>
              </a:spcAft>
              <a:buSzPts val="1800"/>
              <a:buFont typeface="Courier New" pitchFamily="49" charset="0"/>
              <a:buChar char="o"/>
            </a:pPr>
            <a:r>
              <a:rPr lang="en-US" sz="2000" dirty="0" smtClean="0"/>
              <a:t>Attackers exploited a CSRF bug in Gmail that allowed a malicious website to secretly set the victim’s Gmail forwarding rule.</a:t>
            </a:r>
          </a:p>
          <a:p>
            <a:pPr marL="525780" lvl="2" indent="-274320">
              <a:spcBef>
                <a:spcPts val="300"/>
              </a:spcBef>
              <a:spcAft>
                <a:spcPts val="300"/>
              </a:spcAft>
              <a:buSzPts val="1800"/>
              <a:buFont typeface="Courier New" pitchFamily="49" charset="0"/>
              <a:buChar char="o"/>
            </a:pPr>
            <a:r>
              <a:rPr lang="en-US" sz="2000" dirty="0" smtClean="0"/>
              <a:t>Anyone who visited the attacker’s website while logged into Gmail would have their incoming emails forwarded to the attacker.</a:t>
            </a:r>
          </a:p>
          <a:p>
            <a:pPr lvl="1"/>
            <a:endParaRPr lang="en-US" sz="2000" dirty="0" smtClean="0"/>
          </a:p>
        </p:txBody>
      </p:sp>
      <p:sp>
        <p:nvSpPr>
          <p:cNvPr id="4" name="Slide Number Placeholder 3"/>
          <p:cNvSpPr>
            <a:spLocks noGrp="1"/>
          </p:cNvSpPr>
          <p:nvPr>
            <p:ph type="sldNum" idx="12"/>
          </p:nvPr>
        </p:nvSpPr>
        <p:spPr/>
        <p:txBody>
          <a:bodyPr/>
          <a:lstStyle/>
          <a:p>
            <a:pPr marL="0" lvl="0" indent="0">
              <a:spcBef>
                <a:spcPts val="0"/>
              </a:spcBef>
              <a:buNone/>
            </a:pPr>
            <a:fld id="{00000000-1234-1234-1234-123412341234}" type="slidenum">
              <a:rPr lang="en-GB" smtClean="0"/>
              <a:pPr marL="0" lvl="0" indent="0">
                <a:spcBef>
                  <a:spcPts val="0"/>
                </a:spcBef>
                <a:buNone/>
              </a:pPr>
              <a:t>3</a:t>
            </a:fld>
            <a:endParaRPr lang="en-GB"/>
          </a:p>
        </p:txBody>
      </p:sp>
      <p:pic>
        <p:nvPicPr>
          <p:cNvPr id="58370" name="Picture 2" descr="How to forward emails in Gmail (A Step-by-Step Guide)"/>
          <p:cNvPicPr>
            <a:picLocks noChangeAspect="1" noChangeArrowheads="1"/>
          </p:cNvPicPr>
          <p:nvPr/>
        </p:nvPicPr>
        <p:blipFill>
          <a:blip r:embed="rId2"/>
          <a:srcRect/>
          <a:stretch>
            <a:fillRect/>
          </a:stretch>
        </p:blipFill>
        <p:spPr bwMode="auto">
          <a:xfrm>
            <a:off x="6514042" y="1705029"/>
            <a:ext cx="2291291" cy="1582153"/>
          </a:xfrm>
          <a:prstGeom prst="rect">
            <a:avLst/>
          </a:prstGeom>
          <a:noFill/>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Infamous CSRF </a:t>
            </a:r>
            <a:r>
              <a:rPr lang="en-US" dirty="0" smtClean="0"/>
              <a:t>attacks</a:t>
            </a:r>
            <a:endParaRPr lang="en-US" dirty="0"/>
          </a:p>
        </p:txBody>
      </p:sp>
      <p:sp>
        <p:nvSpPr>
          <p:cNvPr id="3" name="Text Placeholder 2"/>
          <p:cNvSpPr>
            <a:spLocks noGrp="1"/>
          </p:cNvSpPr>
          <p:nvPr>
            <p:ph type="body" idx="1"/>
          </p:nvPr>
        </p:nvSpPr>
        <p:spPr>
          <a:xfrm>
            <a:off x="311700" y="1152474"/>
            <a:ext cx="8520600" cy="3876725"/>
          </a:xfrm>
        </p:spPr>
        <p:txBody>
          <a:bodyPr>
            <a:normAutofit/>
          </a:bodyPr>
          <a:lstStyle/>
          <a:p>
            <a:pPr marL="182880" indent="-274320">
              <a:spcBef>
                <a:spcPts val="600"/>
              </a:spcBef>
              <a:spcAft>
                <a:spcPts val="600"/>
              </a:spcAft>
            </a:pPr>
            <a:r>
              <a:rPr lang="en-US" sz="2400" dirty="0" smtClean="0"/>
              <a:t>The 2006–2007 “Bank Transfer CSRF” Vulnerabilities</a:t>
            </a:r>
          </a:p>
          <a:p>
            <a:pPr marL="525780" lvl="3" indent="-274320">
              <a:spcBef>
                <a:spcPts val="600"/>
              </a:spcBef>
              <a:spcAft>
                <a:spcPts val="600"/>
              </a:spcAft>
              <a:buSzPts val="1800"/>
              <a:buFont typeface="Courier New" pitchFamily="49" charset="0"/>
              <a:buChar char="o"/>
            </a:pPr>
            <a:r>
              <a:rPr lang="en-US" sz="2000" dirty="0" smtClean="0"/>
              <a:t>Attackers could craft hidden forms that automatically triggered wire transfers when a victim visited a malicious site.</a:t>
            </a:r>
          </a:p>
          <a:p>
            <a:pPr marL="525780" lvl="3" indent="-274320">
              <a:spcBef>
                <a:spcPts val="600"/>
              </a:spcBef>
              <a:spcAft>
                <a:spcPts val="600"/>
              </a:spcAft>
              <a:buSzPts val="1800"/>
              <a:buFont typeface="Courier New" pitchFamily="49" charset="0"/>
              <a:buChar char="o"/>
            </a:pPr>
            <a:r>
              <a:rPr lang="en-US" sz="2000" dirty="0" smtClean="0"/>
              <a:t>ING Direct (Netherlands) — The Classic “Automatic Transfer” CSRF (2006–2007), ABN AMRO (Netherlands) — Silent Fund Transfer CSRF (2006), Citibank Australia — Fund Transfer CSRF (2009), HSBC — Payee Addition + Transfer CSRF (2011)</a:t>
            </a:r>
          </a:p>
          <a:p>
            <a:pPr lvl="1"/>
            <a:endParaRPr lang="en-US" sz="2000" dirty="0" smtClean="0"/>
          </a:p>
        </p:txBody>
      </p:sp>
      <p:sp>
        <p:nvSpPr>
          <p:cNvPr id="4" name="Slide Number Placeholder 3"/>
          <p:cNvSpPr>
            <a:spLocks noGrp="1"/>
          </p:cNvSpPr>
          <p:nvPr>
            <p:ph type="sldNum" idx="12"/>
          </p:nvPr>
        </p:nvSpPr>
        <p:spPr/>
        <p:txBody>
          <a:bodyPr/>
          <a:lstStyle/>
          <a:p>
            <a:pPr marL="0" lvl="0" indent="0">
              <a:spcBef>
                <a:spcPts val="0"/>
              </a:spcBef>
              <a:buNone/>
            </a:pPr>
            <a:fld id="{00000000-1234-1234-1234-123412341234}" type="slidenum">
              <a:rPr lang="en-GB" smtClean="0"/>
              <a:pPr marL="0" lvl="0" indent="0">
                <a:spcBef>
                  <a:spcPts val="0"/>
                </a:spcBef>
                <a:buNone/>
              </a:pPr>
              <a:t>4</a:t>
            </a:fld>
            <a:endParaRPr lang="en-GB"/>
          </a:p>
        </p:txBody>
      </p:sp>
      <p:pic>
        <p:nvPicPr>
          <p:cNvPr id="77826" name="Picture 2"/>
          <p:cNvPicPr>
            <a:picLocks noChangeAspect="1" noChangeArrowheads="1"/>
          </p:cNvPicPr>
          <p:nvPr/>
        </p:nvPicPr>
        <p:blipFill>
          <a:blip r:embed="rId2"/>
          <a:srcRect/>
          <a:stretch>
            <a:fillRect/>
          </a:stretch>
        </p:blipFill>
        <p:spPr bwMode="auto">
          <a:xfrm>
            <a:off x="931334" y="3849625"/>
            <a:ext cx="2421466" cy="529230"/>
          </a:xfrm>
          <a:prstGeom prst="rect">
            <a:avLst/>
          </a:prstGeom>
          <a:noFill/>
          <a:ln w="9525">
            <a:noFill/>
            <a:miter lim="800000"/>
            <a:headEnd/>
            <a:tailEnd/>
          </a:ln>
          <a:effectLst/>
        </p:spPr>
      </p:pic>
      <p:pic>
        <p:nvPicPr>
          <p:cNvPr id="77827" name="Picture 3"/>
          <p:cNvPicPr>
            <a:picLocks noChangeAspect="1" noChangeArrowheads="1"/>
          </p:cNvPicPr>
          <p:nvPr/>
        </p:nvPicPr>
        <p:blipFill>
          <a:blip r:embed="rId3"/>
          <a:srcRect/>
          <a:stretch>
            <a:fillRect/>
          </a:stretch>
        </p:blipFill>
        <p:spPr bwMode="auto">
          <a:xfrm>
            <a:off x="2536297" y="4455448"/>
            <a:ext cx="2340504" cy="688052"/>
          </a:xfrm>
          <a:prstGeom prst="rect">
            <a:avLst/>
          </a:prstGeom>
          <a:noFill/>
          <a:ln w="9525">
            <a:noFill/>
            <a:miter lim="800000"/>
            <a:headEnd/>
            <a:tailEnd/>
          </a:ln>
          <a:effectLst/>
        </p:spPr>
      </p:pic>
      <p:pic>
        <p:nvPicPr>
          <p:cNvPr id="77828" name="Picture 4"/>
          <p:cNvPicPr>
            <a:picLocks noChangeAspect="1" noChangeArrowheads="1"/>
          </p:cNvPicPr>
          <p:nvPr/>
        </p:nvPicPr>
        <p:blipFill>
          <a:blip r:embed="rId4"/>
          <a:srcRect/>
          <a:stretch>
            <a:fillRect/>
          </a:stretch>
        </p:blipFill>
        <p:spPr bwMode="auto">
          <a:xfrm>
            <a:off x="4241800" y="3399585"/>
            <a:ext cx="1223963" cy="925293"/>
          </a:xfrm>
          <a:prstGeom prst="rect">
            <a:avLst/>
          </a:prstGeom>
          <a:noFill/>
          <a:ln w="9525">
            <a:noFill/>
            <a:miter lim="800000"/>
            <a:headEnd/>
            <a:tailEnd/>
          </a:ln>
          <a:effectLst/>
        </p:spPr>
      </p:pic>
      <p:pic>
        <p:nvPicPr>
          <p:cNvPr id="77829" name="Picture 5"/>
          <p:cNvPicPr>
            <a:picLocks noChangeAspect="1" noChangeArrowheads="1"/>
          </p:cNvPicPr>
          <p:nvPr/>
        </p:nvPicPr>
        <p:blipFill>
          <a:blip r:embed="rId5"/>
          <a:srcRect/>
          <a:stretch>
            <a:fillRect/>
          </a:stretch>
        </p:blipFill>
        <p:spPr bwMode="auto">
          <a:xfrm>
            <a:off x="5563659" y="3697816"/>
            <a:ext cx="2724150" cy="1019175"/>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Infamous CSRF </a:t>
            </a:r>
            <a:r>
              <a:rPr lang="en-US" dirty="0" smtClean="0"/>
              <a:t>attacks</a:t>
            </a:r>
            <a:endParaRPr lang="en-US" dirty="0"/>
          </a:p>
        </p:txBody>
      </p:sp>
      <p:sp>
        <p:nvSpPr>
          <p:cNvPr id="3" name="Text Placeholder 2"/>
          <p:cNvSpPr>
            <a:spLocks noGrp="1"/>
          </p:cNvSpPr>
          <p:nvPr>
            <p:ph type="body" idx="1"/>
          </p:nvPr>
        </p:nvSpPr>
        <p:spPr>
          <a:xfrm>
            <a:off x="311700" y="1152474"/>
            <a:ext cx="7215167" cy="3876725"/>
          </a:xfrm>
        </p:spPr>
        <p:txBody>
          <a:bodyPr>
            <a:normAutofit/>
          </a:bodyPr>
          <a:lstStyle/>
          <a:p>
            <a:pPr marL="182880" indent="-274320">
              <a:spcBef>
                <a:spcPts val="600"/>
              </a:spcBef>
              <a:spcAft>
                <a:spcPts val="600"/>
              </a:spcAft>
            </a:pPr>
            <a:r>
              <a:rPr lang="en-US" dirty="0" smtClean="0"/>
              <a:t>Netflix CSRF (2010) — Account Takeover via Simple GET Requests to change the shipping address</a:t>
            </a:r>
          </a:p>
          <a:p>
            <a:pPr marL="182880" indent="-274320">
              <a:spcBef>
                <a:spcPts val="600"/>
              </a:spcBef>
              <a:spcAft>
                <a:spcPts val="600"/>
              </a:spcAft>
              <a:buNone/>
            </a:pPr>
            <a:r>
              <a:rPr lang="en-US" dirty="0" smtClean="0"/>
              <a:t>	</a:t>
            </a:r>
            <a:r>
              <a:rPr lang="en-US" sz="1800" dirty="0" smtClean="0"/>
              <a:t>&lt;img src="</a:t>
            </a:r>
            <a:r>
              <a:rPr lang="en-US" sz="1800" dirty="0" smtClean="0">
                <a:solidFill>
                  <a:srgbClr val="00B050"/>
                </a:solidFill>
              </a:rPr>
              <a:t>https://netflix.com/changeAddress</a:t>
            </a:r>
            <a:r>
              <a:rPr lang="en-US" sz="1800" dirty="0" smtClean="0"/>
              <a:t>?</a:t>
            </a:r>
            <a:r>
              <a:rPr lang="en-US" sz="1800" dirty="0" smtClean="0">
                <a:solidFill>
                  <a:srgbClr val="C00000"/>
                </a:solidFill>
              </a:rPr>
              <a:t>addr=attackerAddress</a:t>
            </a:r>
            <a:r>
              <a:rPr lang="en-US" sz="1800" dirty="0" smtClean="0"/>
              <a:t>"&gt;</a:t>
            </a:r>
            <a:endParaRPr lang="en-US" dirty="0" smtClean="0"/>
          </a:p>
          <a:p>
            <a:pPr marL="182880" indent="-274320">
              <a:spcBef>
                <a:spcPts val="600"/>
              </a:spcBef>
              <a:spcAft>
                <a:spcPts val="600"/>
              </a:spcAft>
            </a:pPr>
            <a:endParaRPr lang="en-US" dirty="0" smtClean="0"/>
          </a:p>
          <a:p>
            <a:pPr marL="182880" indent="-274320">
              <a:spcBef>
                <a:spcPts val="600"/>
              </a:spcBef>
              <a:spcAft>
                <a:spcPts val="600"/>
              </a:spcAft>
            </a:pPr>
            <a:r>
              <a:rPr lang="en-US" dirty="0" smtClean="0"/>
              <a:t>Code Astro Internet Banking System  v2.0.0 – CVE-</a:t>
            </a:r>
            <a:r>
              <a:rPr lang="en-US" dirty="0" smtClean="0">
                <a:solidFill>
                  <a:srgbClr val="C00000"/>
                </a:solidFill>
              </a:rPr>
              <a:t>2024</a:t>
            </a:r>
            <a:r>
              <a:rPr lang="en-US" dirty="0" smtClean="0"/>
              <a:t>-56924 </a:t>
            </a:r>
          </a:p>
          <a:p>
            <a:pPr lvl="1"/>
            <a:r>
              <a:rPr lang="en-US" dirty="0" smtClean="0"/>
              <a:t> An open source Internet Banking System which uses PHP Language with MySQL Database.</a:t>
            </a:r>
          </a:p>
        </p:txBody>
      </p:sp>
      <p:sp>
        <p:nvSpPr>
          <p:cNvPr id="4" name="Slide Number Placeholder 3"/>
          <p:cNvSpPr>
            <a:spLocks noGrp="1"/>
          </p:cNvSpPr>
          <p:nvPr>
            <p:ph type="sldNum" idx="12"/>
          </p:nvPr>
        </p:nvSpPr>
        <p:spPr/>
        <p:txBody>
          <a:bodyPr/>
          <a:lstStyle/>
          <a:p>
            <a:pPr marL="0" lvl="0" indent="0">
              <a:spcBef>
                <a:spcPts val="0"/>
              </a:spcBef>
              <a:buNone/>
            </a:pPr>
            <a:fld id="{00000000-1234-1234-1234-123412341234}" type="slidenum">
              <a:rPr lang="en-GB" smtClean="0"/>
              <a:pPr marL="0" lvl="0" indent="0">
                <a:spcBef>
                  <a:spcPts val="0"/>
                </a:spcBef>
                <a:buNone/>
              </a:pPr>
              <a:t>5</a:t>
            </a:fld>
            <a:endParaRPr lang="en-GB"/>
          </a:p>
        </p:txBody>
      </p:sp>
      <p:sp>
        <p:nvSpPr>
          <p:cNvPr id="1026" name="AutoShape 2" descr="Netflix Cancels DVD-By-Mail Service ..."/>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028" name="AutoShape 4" descr="data:image/jpeg;base64,/9j/4AAQSkZJRgABAQAAAQABAAD/2wCEAAkGBxISEhUSEhMVFRUXFRUVFRgYGBUbFxUXGBUXFxUXFRgYHiggGBolGxcVITEhJikrLi4uFx8zODMsNygtLisBCgoKDg0OGhAQGi0lHyYtLi4tLS0tKy0tLS0tLS0tLS0tLS0tLS0tLS0tLS0tLS0tLS0tLS0tLS0tLS0tLS0tLf/AABEIALQBFwMBEQACEQEDEQH/xAAcAAEAAQUBAQAAAAAAAAAAAAAABAEDBQYHAgj/xABOEAABAwICBQgGBgUJBwUAAAABAAIDBBEFEgYHITFREyJBYXGBkbEyQpKhwcIUI1JyorIzU2KD0QgVFiREY2Th8DRDgpOj0tMXc4SUw//EABsBAQACAwEBAAAAAAAAAAAAAAABAgMEBQYH/8QAOBEAAgEDAQQHBwMEAgMAAAAAAAECAwQRMQUSIVEGE0FhcZGxFCIjMjOhwUJigSRD0eEW8VJy8P/aAAwDAQACEQMRAD8A7igCAIAgCAIAgCAIAgCAIAgCAIAgCAIAgCAIAgCAIAgCAIAgCAIAgCAIAgCAIAgCAIAgCAIAgCAIAgCAIAgCAIAgCAIAgCAIAgCAICgKAqgCAIAgCAIAgCAIAgCAIAgCAIAgCAIAgPOccQgHKDiEBTlRxQFOVCAcqOBQDlepAU5Q8EBR0tt9h2oSk2R5cTjb6UsY7XNHmVDkl2l1SqS0i/IhTaTUjfSqqcfvGfxVXUiu0yxs7iWkJeTIj9NqAb6uLuN/yhV66nzMq2ZdvSmyFPrEw9v9pJ+6yU+TVHtFPmZo7GvX+j7ohy6zKEbnzO7GH5iFX2qmZVsG8eqXmQZdadJ0RVDu0RgfnVXdw7EzNHo7cvWUV5kSbWpF6tM89r2jyBVfa1yM0ejdT9U15GW0U1hMnzB8XJG7QBnzXvfpyiyzUavWZ4HN2ls72NxW9nJv8MgcA4bisxzD2gCAIAgCAIAgCAICB/OW0gMJsSN/A2QjJ6dWn7HvQsk3oR5MXaN7o2/ecB5kKMosqU3pF+RDn0pp276mnb2yR/8AcqupBasyxs68vlg3/BEl01pBvq4u4h3kCq9dT5mZbNu3/bfkQ5dYdCN9Tf7rJPg1R7RT5maOxrx/o+6IsusqhG6SZ3Yx3zEKruaZljsG8eqXmiJJrRpOhlQ7uZ8XqvtcOTMy6O3L1lH7/wCCPJrWhHo00h7XMHkCod3HkZY9G6v6poju1tnopBbrlv7gxV9s7jL/AMb4fU+3+zp8Tw4BzTdrgCDxBFwfBbieTy8ouLaZ7UkFQgKkoDgGOaWVck8xjqpxEZZDGGyPaMmc5LAHday5c6snJ4bPf2uzqEaUN+mt7CzlLXBipcXqXelUTO7ZHnzKxucn2m3G0oR0gvJEV8hd6RJ7SSoyzKqcVokeLBQWwLISVQcSiDiEICFgpIH018Ja5hsc3wW7Z6tHluk0cKnLxRs9LrMxFgADoiB9pj/leF0lBHkt5mcw/W/UC3LQMcOkscW+DXB1/aCh012DfNxwTWZQz2a95hceiUBo9q5Z+K6q4MspI3OKVrhdpv0+O5ULHtAEAQBAEAQHzvphXTsralnLS5RNJYco+wBcSABfYNq5daUlNrJ77Z1GlK2py3VnHJGvyOLtriSes381hyzoKnBaJeR5AQvoFAyVUgogCDIQZCDIQG/aDawPozG09SHOiGxj27Xxj7JHrN9469w2qNzurdkee2nsbr26tHhJ6rn/ALOmUOk1FMAY6mE322L2td3tfZw8FuRqwlozzNSxuabxKm/IrW6T0UIJkqoRYXsHtc7ua27j4KZVYR1ZNOxuajxGm/I5vpvrE+kMdT0oc2NwLXyO2Oe3pa0eq09N9pHBadW53uET0mzdh9VJVa7y1ouRzxap6MKAEAQBAEAQBAEAUgj1o5o+8PIrbs3778DznSRfBg/3fgrE24uF1keKlqSHUsgveN4y2zXa4Buba3NcbL9F96ngQUfC5pLXAtINiCCCDwIO0FWRBmtHNJqqiI5F/Mvtjdcx9dh6h622677lEoJhSaOz6IaawVwy+hMBd0biL26S0+s3rG64uBcXwSg4maMkzaVQsEAQBAEB88axGZcSqR+2D4safiuVX+oz3+yHmzh/92muLEdIIAgCAIAgCAIAgCAFAAgK3UklEAUAIAgCAIAgCAIApB5kIsbmwOwnhfYD42WzaP4hw+kMc2meTRnaDFIPqS7M0Hk2ztaCLNg5UQm4tmBzwFwBv9QeIv1UjwsiVTVrHtAeM8TaQQVGwAF7J5p6dzQTc3JawDYbF+wblbdK8DAyvc9znu2uc5znHi5xJcfElZFoVZUMUkF6mc5jmvY4te03a4GxaeIKYyM4OzaC6ZCpbycthMwXd0B7d2do8Ljovs2btepDd8DNCWUbqCsZcqgCAIDgmtaPLiUv7TYnfgA+C5lz9RnudhSzZrxZqCwHYCAIAgCAIAgCAIAgCAIAhIQBAEAQBAEAQBAEAUgt1I5ju78wWe2+qjj7ejmyl4r1PVKNi7UT5/LUktjVslS62NCC82JTkgvMhTJBNoS+N7ZGHK9pu08D8Ra4I6QSEfFYC4cTsejOONmYw7g6+z7DxbOy/VcEcQ4da1ZLDwbMZZRsSgsEAQHD9cbLYgD9qCM/iePguddfOe06PSzatfuf4NFWsd0IAgCAIAgCAIAgCAIAgCEhAEAQBAEAQBAEAQBSDxOOa7sPu2rLQ+ojm7YWbKp4FyhGxdmL4HzmRPa1WyVL7GKckMvxxqMkYJMcYTfJwTIowm+hgzmj9XkfyQJvJYs4CVoJZt6M3OZ/xjgqSaZeHBnS8ErxNE146RtWMzGQQBAcb12x/wBZgdxhI8Hn/uWhd/Mj1/Rt/Cmu/wDBzlah6MIMBBgIMBBgIMBBgIQEAsgCA8PlaN7gO0gKVFvRGKdenB4lJL+UVZIDuIPYQVMouOqJpXFKrnq5J45F6CB8jgyNj5Hm9mxse9xtvOVgJsOKmFOU+ETHdXdK2ipVXhMtuuHOYQQ5ji17SCHNcNhDgdoKTpyg+KFtd0bmO9Slk9wxOe5rGi7nvYxouBznuDW3J3C5CQjvSwWurhW9J1ZLKRfx3D5KOo+jVAa2Usa8AODgQ642HjsOxZalvKCyc+021QuZ7nyvsz2nvBcONTURU4e1hlcWhzgSAcjnC4G3aW27SFSjTU5YbM+0rydpS6yMc8cGWpNEnuxR2GPkyuawy8qGEhzOTa4FrS4W5zsu0ncVsq1WeOhwp9Ipul7sUpZ8Vj7Gu4qWQ1k9JmLuSkcxr7Wz5RtuATY3usda33FmJu7L2y7ifVVV7z0xoUWqegCAKQVDQdh6bjxCvSeJo1NoR3rWou5m+6JaFQVUJOeRj+gggjva4bfaC6+T5s0YPSrAqjD3DlG54ibNlbfKT9lwO1jrbbHf0E7bTkrumCGK9R8QmRult1cScwuD2+9Tkbp6bichPHx+ChslQb0L0eKSg3J7rk/671G8iypPtJH9JJG7WWDgbtJO4jaDYddulULpRR13QvFmmZwbsZM1lRGODZmCSw7HOc3/AIVYqb4gCA5LrxZz6V3Fsw8DGfitK77D1XRp8Ki8PycvWkeoCAIDJaP4HNWymGDkw5rDIeUe5oyhzWm2VjiTdwWelR6zPE5O0tqexOK3M578afwz1V4BLDXxYdM6NsspjyvaXvjyvzC4u1pJDmkWsFm9k468Dnf8jTptqGJcs8MEPSKlNFWvopHBzmhha9rS0OzsDrWJNrXtv226FWpbbqzEzbP26q9Tq6qw3pj0MjofgzKyrZTyPexrmSOuzJmu0Agc8EWtm6FS3pxm2mZ9tXla2hGVJ4y8M9acswqkjfHS1UstXHNkfHI02Aa5zZRmETW3BG8HxW27anjQ89Dbd3Gak5ZXLCwYnBaynEkM1THJJT850rIyc5HJvDbWc29pMnTuBWtSjGNRxkdzaFetXs41rfK7XjXH/Z0mplwSHDY8Tbh7pIXvDQ11jIOc9t3h0hba7OgneFvbkeR5J3NZ6zfmzkNLiXKzy5GZYnPkfE39W0vJazZssAbdy1bmnHG8tT0WwbytKfUy4xxlPkdX1c130fDMRnaxj3wvdM0OFwbUsRsSNtuYVlt38NHL23HF7P8Aj0RzPHtJqrFKplW9kceRjYSGEgFgc5+0OJJPPKV5QUcSL7Jt7mVVVKOiazx7O37G0auJMuKUnAumaeu9NNb3gLWtPnfgdvpGv6eP/t+Ga/puzJjlW3cHSuJ68zA8ea2bhZps4WxJuN5BZ1z6M9U0mSSN/wBmSN3syNd8Fo0fqI9dtSObOp4Gc/lBRZcTp5Og08e3rbNLf3Fq6ktGeBoPFSL716mBjqHRPbKz0o3tlb96Nwe0eLQuVSluzTPoO0KPX204LtXDxXFHcG0DX4vBWs2tlw6RoPG00DmHvZN7l1j5wfPU8vKYlUycZqh/tSOt5rXuX8M7OwY5vE+SZkiuae6CAKQeo94Uw+ZGK4WaM13P0Onapcbhf9TmtIQS1rthdYbcp3E9Nt/UuwfMjoeKUEc8T4pW5mPaWuHEdXAg7QeggIQfO1Xg89PVS0oGd7JCwWaHF43scBY+k0tdbrVJNLUvHPYbJX4a2Cky1LInVJIcMrWgxstukLLBxJt2cVqufHgzcoxzqs4NXqIXXOUDL0WHwKzRkscWVqRnl7q4GawKSkbDlniDn53Xc+JsmywylrjI1zbG3NtZ3OHSSMm8jA4VHqmYjSFzJJi6JjWsytADYhGOk7Wtc4X52W99zRwuW8iOqlyNx0RrHMbQvO/JNCeyOoe5v4JWjuVkyji08M7bC67QeICkg9oDmOvCP6qmdwfI32mtPyrTu1wTPSdG5fFmu5HI1onrggCA3DVM62I/eppm/jgd8pW7aPVHlukkX8OXj+DLay4v67g9cwWH0lkTyd4+tY5oPjL4LcPLGn67GZMYjd9qKB3g5zPlVZ/KzYtHivB/uXqTdXMuXE6b9oysPfBKfNoWlafO/A9X0jinbxf7vwzW9N4AzHKptgQZnu2geuzP5uW1Xz1bwee2Qou8gpLK4+jKgW3bFzHxPfxiorC4I3TEhm0Vk/u5z76wf+RdWk8wR872jDduqi72c9wN31LeouH4j/FaNz9Q9bsJ5s4+LOn6r4zLS4pTgXL4W5RxMkU8fm0LZtX7n8nB6QRxdp84r1Zzpmj1VQBrayEwmUkxXLDmygZhzSbHnN2G29Vu4NpNGx0fuqdOUqUnhvQzuhs2TEKN3+Ijb7d4/nWC2fxDq7ejmzb5NETWvDkx6Q/b5F3jC1vwW7W+RnlNmPF3T8TGVf6N9vsu/KVzqbxNHu72O9bzXc/Q2/8AlE7XUEo9eKX3GN3zrrM+bLg8mqtN9q471Pp1N5hF9y9DvGruU/zbRhxGbky1n3WvcGDrswN8F1o8Ypnza4io1ZqOib9T5vwykdHUTsf6cZfG77wks73tWvdv3F4nc6ORzcSf7fyjMLnnsQgCkFW71K1KzWYtdxs+g+jz3uEsbrPjc17T1tNx5LrrQ+YyWG13nd1JU1mWeKOeVxbtLoiXNtmuImAZuLbAeK0Liso1MM2aUG45RBxePDZHZpQA4+sRIPe0hV36cn7pZb8THswLDn/o5Ij1CSx8C4+SYyXVeaLsmirLc0Ot1PPnyB806vJb2qXJGJn0Kgvudf8A92C/4w1X4rtKutn9KImLYe2kbRsbmA5apcMxjJ2invtjcRbZ271s0vlNWrLelk6/g8maFh6llMZMQHO9djP6nC7hUAeMcn8Fq3fyrxO/0df9TJftfqjjK557MIAgNj1cTZcTpv2uXYf/AK8jvNgW3afMzzvSRfAg/wB34ZtOkzeVw6q9Z9Dib5R0WAqOVv2CKod7K3jx5qn8oOHLX00v2oAPYmkPzhHoXpy3ZJ95H0PlDcQpD/iGN9u7PmXOtvqHtduRTs2+TXqZ3W5pBQxSVFKaBpq3sYW1OWPMCWtLXNdbPcAZdlty6TR4mLkpJx17jn+GTPfGC8Wdex2WvwNly68Yxl7p77ZdxVrW6dVcU8eJ0PCG8po5iUZ9SR7vBlPL53W9QeYI8ltiOLyf8ehzPR514uxx8gVq3S99Hoej082zXJnVtSr/AOsVTAbF0EZHVlkeP/0WW0+Vo5vSOPxoS7vR/wCzlFfjFdiTstVUueYrlodbmk2DrBoFjsHgs1WoqayzmWFjO7m4wkk1xM9hDstRTOv6NRTOv92eM/BaVGXxEz1u1qTdjJPVJfbBkderMmMxu+1DA4+29vyroTWYs8XaS3a8H3r1MI9twRxBHwXJjqfR6scwa7mbVrm+twzCKjjEPxwROP5V2D5gajSuuxh/ZafcFyJrEmj6TaT3reEu5eh2HD6/6PBgLScolyscOPKUjg0e29hXXXA+bylvNvmcv1i0X0bG5hazZ7SD940E/wDUa5YLiOYM6mxa3VXce/h5/wCyEuYe9CAKQEYOmarZeeR1rsR0R8xrLFSS72dLxCsZDG+WRwYxjS5zjuaBvP8Al07lJjOLUumDJZpZJM0XKPJaRzgGbmNkZfeGhou09G4rRr2++942aNTCwZKrle5he3LJH9qM5mj7w3t7wFrKk4mffTNaq+Td0BbEMpGGWGQw57D9XI9v3XOHkVlTyYiVFpPiEfo1Utv2jmH4rq+EVyzKV+JzVDKF07szyKh5Nmt5pn5NmxoA/wByVlgsIq3k7Zo/+gZ2KxBkUBpGuCK+HE/ZljPvLfmWvdfTOzsGWLxd6Zwxc09yEAQGa0JeG4hSE/rg3243s+ZbNq/fOJ0ginaZ5NG74WBJieNYe882ohjkaPvQNjkI67ys9ldA8Qat/KBaSzDpCLF0c1x0g2gJB9oqQYDBpbVFM/hUUzvCaMlc6jwqo91tP4mzm1yT9DPa6MEqX4oyaKCaRggic98cb3Nble/NmLQQLBt10JrMWkeMt6ip1oTeiaf3NYDgRcG4O0HiuPhrgz6TCpGcVKLymb7oK3lMKxeIbSYnuA63Uzmg+LPcujbP4Z4jb0cXj8Ecs0adzHD9oHxH+Sw3XzI63RyXwprv/B0LVhjMNJXF9RKyKN1PI3M82GYSROa2/EgO8FNo9TD0kj9KXj+Dn1M5v02o5MgsL5chG4t5TmkdVle6XufyanR5/wBU1+1+qMoXEbRvBDhxuDcW8Fp0mlNNnqb+Ep21SMVltM3vS3S/Ryul5WpjqZJWs5NpDZGWAc5w2B7doLiusfOcOL7zm2C4gZRZ3pNtc/aB6e3YudcUlDitD22xdoSuYOE/mj281/kzenOlsM+GUdAI5WzU5jzOcG8m5rY3M5hDiT6vQOlb8JKSyjyFzQnRquE1gxNCbwstvyADuFlzKv1H4nudntuyhu67psmn2nVPK3DWU7ZQ6jex7hIwN2sbEG5bON/QK6iafFHgalKdOW7NYfeQ9cGk9JW1FPPSl+djHMkD2FhADw+Lfv8ASenCSJi5UpptYa4kBjgQCNxAI79q5Elh4Z9LpTVSCmu1ZKqpcKQEJNl0T0rhonuLw9xHqtbtJ7XEAeK61L5EfNr5Yuai72Q9MtNqjECGuHJQA3bE03uRudI6wzkdAsAOFxdXNU1kOsoBMo698bg6N7muG4tJB8QqOCZbeMuMfbJ/tELXn9Yz6uTtNhlce0d6xulyLKZ6FJFL+gqG3/VzWjd2BxOR3iFXjHVE66EKuppoTaSN7T0Ag87hlO53crJp6FXk2CeK9ayAbRTsiprjpdG360/80yrOtCh3TC48sTB1BSCWgNT1px3wyfq5I+EzL+66wXH02dTY0sXsP59GcBXMPfBAEBLweYMqaZ5NgyppnEk2AaJ48xJ6Ba6z27xURyttxbsp47vU2LGNKaan0jjqmzMkgdAI5XRHlBtjc23MvchzYzYLpHg0m3hGI1v6cUeIsgjphKXRPe4vewNaWvaAQ3nZr3aN4CkgwlE88nG4Gzg1hB4EAEHxC5cpblXPJn0ClS6/Z8YZxvQS+xnsV1mY1LmYORY0ggmONtiCNtjIT0LeVxTa1PJz2NeRk4qGe9aGrYNTSRtLX8QWi97b79nQtS4nGbTiek2Na17eEo1dOzj5kitpBI0jM5t7bibG27MNx3nxVKVZ0/Az7Q2XTu+L4S5njDaAQ3AcXXt0W3X/AIqatbrOwbN2arPe97OSVIwOBBAIO8FYoycXlG/VpQqx3JrKI9Nh8cZzMBBtbeSsk605LDNO22Xb20+spp58SSsJ0C1NSxuN3MaTxIWRVJpYTNSrYW9WW9OCbKwU7G+i0N42CiU5S1ZajaUaDbpxS8D1LC13pNDrbrgFIylHRl61vSrY6yKfiVY0AWAsBuA3BQ228svTpxpxUYLC5HiaBr/SaHW3X6FaMpR0Zir2tGvjrYpnmelY+2ZoNt3Ed6mNSUdGUr2NvWS6yKeNC5GwNAaNgAsOxUk23lmelSjSgoR0R6VTIFICEkCoH1h7vILqUXmmj53tWOLyp4lVlNArZQCiArdAVDkBsuhuISxufIXkwQM5V7Cbsc8nLAyx2AukLTcdDHcFV04t5J3mZrV9QumqA5203LieJO0k9pKuQd1jbYAcAgPSA1/T+PNh1UP7on2SHfBYqy+Gzd2a8XdPxR86rlH0UIAgKEX2HapTxxREoqSxJZRDjwqJr84BBvcC+wHqWd3E3HdZyqexbaFXrY51ylngiT9HZfNkbfjYXWPrJ4xk3fYrfectxZ8C4sZspJLCCEhAEICEBSSFACAIApQCkBAEAQBQwFACkBAQaoc/uHl/kulb/TR4Lbaxez/j0F1nOUVzKAeQ5Ae3A9KAMYXENaCSSA0AXJJNgAOkk2CA2Sui5FjaJpBLXcpUOabh9QRlyA9LIm8wcXGQ22hSDqurPBeTj5QjaUBvqAIDFaVxZqKqbxp5h/03KlTjB+Bs2b3bim/3L1Pmpcg+khAEAQBAEAQBAEAQBAEAQBAEAUoBSAgCAIAoYCgBSAgIlS/K8GwPNG8XG8ro2r9w8Pt9Yu880i4ax3QGDYBsY3ov1b9p9y2Dinr6dJxA232NYNt733b/AOCAGvl+24dmzyQFiSQm5JuTtJ4qAbJTwfQRmd/tjm81vTSMcNr3cKhzTYN9QG55xAAGV0J0fdPK025oUg7rQ0wjYGDoCAkIAgI+Ix5opG8WPHi0hQ9C9N4mn3ny6Ny459PQUAIAgCAIAgCAIAgCAIAgCAIApQCkBAEAQBQwFACkBARK/wBJvYfP/Nb9p8r8TxvSNf1EX+38sthbR58qCgJNBRSzvyRML3AXNrANb0ue42axv7TiB1oDN05ipNsTmzVP64C8MB/w4cPrH/3pFhsLR6yAkaPYFJUyDYTc3cTckkm5JJ2kk7boDuWjWBspowANttqAzSAIAgKOFwQhK1PlqePK5zeDiPA2XGfB4Pp1KW9CMuaRbUFwgCAIAgCAIAgCAIAgCAIAgClAKQEAQBAFDAUAKQEBZqKZ8haGNLjtGzrtZbto+DPJ9JI+/Tl3MyDNGZgLyyU0HVJPGXW6o4eUf3WW4eZL7KShi9J0tW7gAaeHvJJld3BiA91FdLM3kmtbHFe4hibkiv0OcBte79p5cUBsOjOhUszgXCwQHXcCwGOmYA0C/FAZhAEAQBAEB8x46zLU1DeE8o8JHBcifzM+lWbzbwf7V6EFUNgIAgCAIAgCAIAgCAIApAUAIApATIF0yCrGk7gT2bVJDklqyVHhc7vRhld2RvPkFO6+Rhd1RWs15olRaN1rt1LP/wAt48wp6ub7GY5X9tHWovMlR6F4gd1M/vLB+YhT1FTkYXtezX9xff8AwSYtX+IHfC1vbJH8HFWVvU5GKW3LNfqz/BKZq1rTvMLe15+VpVvZpmF9IbRf+Xl/sxGlWhs9I2J0jo3Z3uaMhcbENB25mj/QWzQpOnnJwtrbRp3e5uJ8M69+C9h+ic7wCGGxWwcY2PDNXMriC7YhJu+C6DQw2LgCUBtUEDWCzQAEILqAIAgCAIAgPm/TOPLX1Q/v5D4uv8Vyq3zs+ibMlvWlN9xhViN4IANu5SQ5JaskxYfM70YpHdjHHyCndfIxO4orWa80SodHqx3o0s5/dPHmFZU5vsZinf20dai8yXHoZiDt1M/vyj8xCt1FTkYXtazX9xEqLV/iDv8Actb96SP4OKlW9TkYpbbs1+rP8MlM1aVx/UjtkPwaVb2WZhfSC17M+RLh1WVR9KaAdnKH5QrK0nzMUukdBaQf2JkeqWQ76po7InHzcFZWb5mKXSSPZT+5Kbqmjb6dW7uja3zcU9k7zBLpLPsprzPTtXOHM/SVrh2yQN8wVf2SPMxPpHcdkY/f/JQaL4Ez06xru2pi+QBSrWBhlt+7emF/BQ0Ojjd8jXfvKg/kVvZ6fIxPbd4/1/Zf4Ar9HWbow791UO/OFKo012GGW1byWtR+noVOlOBN9GkDuymj83kKypw5IxSvrl/3JebH/qNh7P0dE/2Kdvk5XUVyMLrVJayfmeZNazB6FI7vka3yYUwUcnzIsmtaU+jSMHbK4+TAhBEl1n1h9GGnb2iV3zhSSRn6xMRO7kW9kR+ZxQEeTTTE3bpsvZFB8WFAWXaR4m7+0y9wY38rQgLbHVk72ctJLKAbgPe5wB4gE2BshB3PR2ECBt2i9kBlEAQBAVQBAEAQBAEBzzSzDKKKV89RC053ZsxD3E7B0A7PBY3Sg3lo3IX9zCChCbSRrf8AP+EN3UzXf/Hj+ZFShyIe0Lp61H5nv+nFC30KV3dHA3yKvuR5GF16r1k/NlTrJYPQpn98jR5NKnCKb8n2stP1myerSjvlcfJgRFSxJrLqj6MEI7RIfmCkYLR1i4gdzYB2Ru+LygI0um2Ju3Shv3Yovi0oCy7SXFHf2iXuDG/laEBZfXYi/fUVR/eyjycgLTqStf6T53fefIfMoDz/AEYndvjJ7R/FASItD6g7mHwQEuPQeoPqlASotX9QehQCXHq3mO9AS4tWT+lAS4tWPEoCXFqzZ0lAS49W8I3lASo9X9OEBKj0Iph6o8EBJZolTD1B4BASGaO049QICRHg8DdoYEBNa0AWCAqgCAICqAIAgCAIAgNa0ywI1TLDehJo0erOTpKAlxasT0lSQS4tWTOkoCXHq3hG8qCSVHq+pxvspIJUehFMOhASo9EaYeqPBQCQzRunHqBAX2YLAPUCAutw2IeoEBdFJGPVHggPYhaOgeCA9Bo4ICqAIAgCAIAgKIAgCAICqAICiAIAgKoAgCAIAgCAogCAIAgCAIAgKoAgCAIAgCAIAgCAIAgCAIChQBAEAQFUAQFEAQBAVQBAEAQH/9k="/>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1029" name="Picture 5"/>
          <p:cNvPicPr>
            <a:picLocks noChangeAspect="1" noChangeArrowheads="1"/>
          </p:cNvPicPr>
          <p:nvPr/>
        </p:nvPicPr>
        <p:blipFill>
          <a:blip r:embed="rId2"/>
          <a:srcRect/>
          <a:stretch>
            <a:fillRect/>
          </a:stretch>
        </p:blipFill>
        <p:spPr bwMode="auto">
          <a:xfrm>
            <a:off x="7206721" y="1264819"/>
            <a:ext cx="1818746" cy="1042364"/>
          </a:xfrm>
          <a:prstGeom prst="rect">
            <a:avLst/>
          </a:prstGeom>
          <a:noFill/>
          <a:ln w="9525">
            <a:noFill/>
            <a:miter lim="800000"/>
            <a:headEnd/>
            <a:tailEnd/>
          </a:ln>
          <a:effectLst/>
        </p:spPr>
      </p:pic>
      <p:pic>
        <p:nvPicPr>
          <p:cNvPr id="1030" name="Picture 6"/>
          <p:cNvPicPr>
            <a:picLocks noChangeAspect="1" noChangeArrowheads="1"/>
          </p:cNvPicPr>
          <p:nvPr/>
        </p:nvPicPr>
        <p:blipFill>
          <a:blip r:embed="rId3">
            <a:lum contrast="30000"/>
          </a:blip>
          <a:srcRect/>
          <a:stretch>
            <a:fillRect/>
          </a:stretch>
        </p:blipFill>
        <p:spPr bwMode="auto">
          <a:xfrm>
            <a:off x="3833284" y="3537190"/>
            <a:ext cx="1289050" cy="1217901"/>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64"/>
        <p:cNvGrpSpPr/>
        <p:nvPr/>
      </p:nvGrpSpPr>
      <p:grpSpPr>
        <a:xfrm>
          <a:off x="0" y="0"/>
          <a:ext cx="0" cy="0"/>
          <a:chOff x="0" y="0"/>
          <a:chExt cx="0" cy="0"/>
        </a:xfrm>
      </p:grpSpPr>
      <p:sp>
        <p:nvSpPr>
          <p:cNvPr id="65" name="Shape 65"/>
          <p:cNvSpPr txBox="1">
            <a:spLocks noGrp="1"/>
          </p:cNvSpPr>
          <p:nvPr>
            <p:ph type="title"/>
          </p:nvPr>
        </p:nvSpPr>
        <p:spPr>
          <a:xfrm>
            <a:off x="311700" y="417525"/>
            <a:ext cx="8520600" cy="572700"/>
          </a:xfrm>
          <a:prstGeom prst="rect">
            <a:avLst/>
          </a:prstGeom>
        </p:spPr>
        <p:txBody>
          <a:bodyPr wrap="square" lIns="91425" tIns="91425" rIns="91425" bIns="91425" anchor="t" anchorCtr="0">
            <a:noAutofit/>
          </a:bodyPr>
          <a:lstStyle/>
          <a:p>
            <a:pPr marL="0" lvl="0" indent="0">
              <a:spcBef>
                <a:spcPts val="0"/>
              </a:spcBef>
              <a:buNone/>
            </a:pPr>
            <a:r>
              <a:rPr lang="en-GB"/>
              <a:t>Cross-Site Requests and Its Problems</a:t>
            </a:r>
          </a:p>
        </p:txBody>
      </p:sp>
      <p:pic>
        <p:nvPicPr>
          <p:cNvPr id="66" name="Shape 66"/>
          <p:cNvPicPr preferRelativeResize="0"/>
          <p:nvPr/>
        </p:nvPicPr>
        <p:blipFill>
          <a:blip r:embed="rId3">
            <a:alphaModFix/>
          </a:blip>
          <a:stretch>
            <a:fillRect/>
          </a:stretch>
        </p:blipFill>
        <p:spPr>
          <a:xfrm>
            <a:off x="152400" y="1170125"/>
            <a:ext cx="4514125" cy="3028551"/>
          </a:xfrm>
          <a:prstGeom prst="rect">
            <a:avLst/>
          </a:prstGeom>
          <a:noFill/>
          <a:ln>
            <a:noFill/>
          </a:ln>
        </p:spPr>
      </p:pic>
      <p:sp>
        <p:nvSpPr>
          <p:cNvPr id="67" name="Shape 67"/>
          <p:cNvSpPr txBox="1"/>
          <p:nvPr/>
        </p:nvSpPr>
        <p:spPr>
          <a:xfrm>
            <a:off x="4742400" y="990225"/>
            <a:ext cx="4089900" cy="3954300"/>
          </a:xfrm>
          <a:prstGeom prst="rect">
            <a:avLst/>
          </a:prstGeom>
          <a:noFill/>
          <a:ln>
            <a:noFill/>
          </a:ln>
        </p:spPr>
        <p:txBody>
          <a:bodyPr wrap="square" lIns="91425" tIns="91425" rIns="91425" bIns="91425" anchor="t" anchorCtr="0">
            <a:noAutofit/>
          </a:bodyPr>
          <a:lstStyle/>
          <a:p>
            <a:pPr marL="457200" lvl="0" indent="-342900">
              <a:spcBef>
                <a:spcPts val="0"/>
              </a:spcBef>
              <a:spcAft>
                <a:spcPts val="0"/>
              </a:spcAft>
              <a:buSzPts val="1800"/>
              <a:buChar char="●"/>
            </a:pPr>
            <a:r>
              <a:rPr lang="en-GB" sz="1800" dirty="0"/>
              <a:t>When a page from a website sends an HTTP request back to the website, it is called same-site request.</a:t>
            </a:r>
          </a:p>
          <a:p>
            <a:pPr marL="457200" lvl="0" indent="-342900" rtl="0">
              <a:spcBef>
                <a:spcPts val="0"/>
              </a:spcBef>
              <a:buSzPts val="1800"/>
              <a:buChar char="●"/>
            </a:pPr>
            <a:r>
              <a:rPr lang="en-GB" sz="1800" dirty="0"/>
              <a:t>If a request is sent to a different website, it is called cross-site request because </a:t>
            </a:r>
            <a:r>
              <a:rPr lang="en-GB" sz="1800" dirty="0" smtClean="0"/>
              <a:t>where </a:t>
            </a:r>
            <a:r>
              <a:rPr lang="en-GB" sz="1800" dirty="0"/>
              <a:t>the page comes from and where the request goes are different.</a:t>
            </a:r>
          </a:p>
          <a:p>
            <a:pPr marL="0" lvl="0" indent="0" rtl="0">
              <a:spcBef>
                <a:spcPts val="0"/>
              </a:spcBef>
              <a:buNone/>
            </a:pPr>
            <a:endParaRPr sz="1800" dirty="0"/>
          </a:p>
          <a:p>
            <a:pPr marL="0" lvl="0" indent="0">
              <a:spcBef>
                <a:spcPts val="0"/>
              </a:spcBef>
              <a:buNone/>
            </a:pPr>
            <a:r>
              <a:rPr lang="en-GB" sz="1800" dirty="0" err="1"/>
              <a:t>Eg</a:t>
            </a:r>
            <a:r>
              <a:rPr lang="en-GB" sz="1800" dirty="0"/>
              <a:t> : A webpage (not Facebook) can include a Facebook link, so when users click on the link</a:t>
            </a:r>
            <a:r>
              <a:rPr lang="en-GB" sz="1800" dirty="0" smtClean="0"/>
              <a:t>, HTTP </a:t>
            </a:r>
            <a:r>
              <a:rPr lang="en-GB" sz="1800" dirty="0"/>
              <a:t>request is sent to Facebook.</a:t>
            </a:r>
          </a:p>
          <a:p>
            <a:pPr marL="0" lvl="0" indent="0">
              <a:spcBef>
                <a:spcPts val="0"/>
              </a:spcBef>
              <a:buNone/>
            </a:pPr>
            <a:endParaRPr dirty="0"/>
          </a:p>
        </p:txBody>
      </p:sp>
      <p:sp>
        <p:nvSpPr>
          <p:cNvPr id="5" name="Slide Number Placeholder 4"/>
          <p:cNvSpPr>
            <a:spLocks noGrp="1"/>
          </p:cNvSpPr>
          <p:nvPr>
            <p:ph type="sldNum" idx="12"/>
          </p:nvPr>
        </p:nvSpPr>
        <p:spPr/>
        <p:txBody>
          <a:bodyPr/>
          <a:lstStyle/>
          <a:p>
            <a:pPr marL="0" lvl="0" indent="0">
              <a:spcBef>
                <a:spcPts val="0"/>
              </a:spcBef>
              <a:buNone/>
            </a:pPr>
            <a:fld id="{00000000-1234-1234-1234-123412341234}" type="slidenum">
              <a:rPr lang="en-GB" smtClean="0"/>
              <a:pPr marL="0" lvl="0" indent="0">
                <a:spcBef>
                  <a:spcPts val="0"/>
                </a:spcBef>
                <a:buNone/>
              </a:pPr>
              <a:t>6</a:t>
            </a:fld>
            <a:endParaRPr lang="en-GB"/>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Examples of cross-site requests</a:t>
            </a:r>
            <a:endParaRPr lang="en-US" dirty="0"/>
          </a:p>
        </p:txBody>
      </p:sp>
      <p:sp>
        <p:nvSpPr>
          <p:cNvPr id="3" name="Text Placeholder 2"/>
          <p:cNvSpPr>
            <a:spLocks noGrp="1"/>
          </p:cNvSpPr>
          <p:nvPr>
            <p:ph type="body" idx="1"/>
          </p:nvPr>
        </p:nvSpPr>
        <p:spPr/>
        <p:txBody>
          <a:bodyPr/>
          <a:lstStyle/>
          <a:p>
            <a:pPr>
              <a:buNone/>
            </a:pPr>
            <a:r>
              <a:rPr lang="en-US" dirty="0" smtClean="0"/>
              <a:t>External links on a web page</a:t>
            </a:r>
          </a:p>
          <a:p>
            <a:r>
              <a:rPr lang="en-US" dirty="0" smtClean="0"/>
              <a:t>Online advertisement</a:t>
            </a:r>
          </a:p>
          <a:p>
            <a:r>
              <a:rPr lang="en-US" dirty="0" smtClean="0"/>
              <a:t>Links to different sites from a web portal </a:t>
            </a:r>
          </a:p>
          <a:p>
            <a:r>
              <a:rPr lang="en-US" dirty="0" smtClean="0"/>
              <a:t>Embedded </a:t>
            </a:r>
            <a:r>
              <a:rPr lang="en-US" dirty="0" err="1" smtClean="0"/>
              <a:t>youtube</a:t>
            </a:r>
            <a:r>
              <a:rPr lang="en-US" dirty="0" smtClean="0"/>
              <a:t> link on a </a:t>
            </a:r>
            <a:r>
              <a:rPr lang="en-US" dirty="0" err="1" smtClean="0"/>
              <a:t>facebook</a:t>
            </a:r>
            <a:r>
              <a:rPr lang="en-US" dirty="0" smtClean="0"/>
              <a:t> post</a:t>
            </a:r>
          </a:p>
          <a:p>
            <a:endParaRPr lang="en-US" dirty="0"/>
          </a:p>
        </p:txBody>
      </p:sp>
      <p:pic>
        <p:nvPicPr>
          <p:cNvPr id="1026" name="Picture 2" descr="https://lh6.googleusercontent.com/MFkLG8ihSjMxdxpGsAh_XTF7nNRPoMv30BfCqgjmJD6priM3JUm2nAeIJRgUtHBXNfrJszMtJwe-YLOhx_2v42eJ7b0FjhDocxogRx4R9U0j1ciTLmAUolpOjivQLTTpZcvUqx9Y"/>
          <p:cNvPicPr>
            <a:picLocks noChangeAspect="1" noChangeArrowheads="1"/>
          </p:cNvPicPr>
          <p:nvPr/>
        </p:nvPicPr>
        <p:blipFill>
          <a:blip r:embed="rId2"/>
          <a:srcRect/>
          <a:stretch>
            <a:fillRect/>
          </a:stretch>
        </p:blipFill>
        <p:spPr bwMode="auto">
          <a:xfrm>
            <a:off x="4377801" y="2903862"/>
            <a:ext cx="3461740" cy="1927934"/>
          </a:xfrm>
          <a:prstGeom prst="rect">
            <a:avLst/>
          </a:prstGeom>
          <a:noFill/>
        </p:spPr>
      </p:pic>
      <p:pic>
        <p:nvPicPr>
          <p:cNvPr id="1027" name="Picture 3"/>
          <p:cNvPicPr>
            <a:picLocks noChangeAspect="1" noChangeArrowheads="1"/>
          </p:cNvPicPr>
          <p:nvPr/>
        </p:nvPicPr>
        <p:blipFill>
          <a:blip r:embed="rId3"/>
          <a:srcRect/>
          <a:stretch>
            <a:fillRect/>
          </a:stretch>
        </p:blipFill>
        <p:spPr bwMode="auto">
          <a:xfrm>
            <a:off x="5499189" y="886613"/>
            <a:ext cx="3397121" cy="1869082"/>
          </a:xfrm>
          <a:prstGeom prst="rect">
            <a:avLst/>
          </a:prstGeom>
          <a:noFill/>
          <a:ln w="9525">
            <a:noFill/>
            <a:miter lim="800000"/>
            <a:headEnd/>
            <a:tailEnd/>
          </a:ln>
          <a:effectLst/>
        </p:spPr>
      </p:pic>
      <p:sp>
        <p:nvSpPr>
          <p:cNvPr id="8" name="Oval 7"/>
          <p:cNvSpPr/>
          <p:nvPr/>
        </p:nvSpPr>
        <p:spPr>
          <a:xfrm>
            <a:off x="5620339" y="1297179"/>
            <a:ext cx="3369733" cy="1075267"/>
          </a:xfrm>
          <a:prstGeom prst="ellipse">
            <a:avLst/>
          </a:prstGeom>
          <a:noFill/>
          <a:ln w="25400">
            <a:solidFill>
              <a:srgbClr val="FFC000"/>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9" name="Oval 8"/>
          <p:cNvSpPr/>
          <p:nvPr/>
        </p:nvSpPr>
        <p:spPr>
          <a:xfrm>
            <a:off x="4390824" y="3259931"/>
            <a:ext cx="3403600" cy="1075267"/>
          </a:xfrm>
          <a:prstGeom prst="ellipse">
            <a:avLst/>
          </a:prstGeom>
          <a:noFill/>
          <a:ln w="25400">
            <a:solidFill>
              <a:srgbClr val="FFC000"/>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nvGrpSpPr>
          <p:cNvPr id="4" name="Group 13"/>
          <p:cNvGrpSpPr/>
          <p:nvPr/>
        </p:nvGrpSpPr>
        <p:grpSpPr>
          <a:xfrm>
            <a:off x="1662545" y="2651403"/>
            <a:ext cx="1830754" cy="2193069"/>
            <a:chOff x="434819" y="2676981"/>
            <a:chExt cx="1830754" cy="2193069"/>
          </a:xfrm>
        </p:grpSpPr>
        <p:pic>
          <p:nvPicPr>
            <p:cNvPr id="1028" name="Picture 4"/>
            <p:cNvPicPr>
              <a:picLocks noChangeAspect="1" noChangeArrowheads="1"/>
            </p:cNvPicPr>
            <p:nvPr/>
          </p:nvPicPr>
          <p:blipFill>
            <a:blip r:embed="rId4"/>
            <a:srcRect l="62663"/>
            <a:stretch>
              <a:fillRect/>
            </a:stretch>
          </p:blipFill>
          <p:spPr bwMode="auto">
            <a:xfrm>
              <a:off x="434819" y="2683374"/>
              <a:ext cx="1730361" cy="2186676"/>
            </a:xfrm>
            <a:prstGeom prst="rect">
              <a:avLst/>
            </a:prstGeom>
            <a:noFill/>
            <a:ln w="9525">
              <a:noFill/>
              <a:miter lim="800000"/>
              <a:headEnd/>
              <a:tailEnd/>
            </a:ln>
            <a:effectLst/>
          </p:spPr>
        </p:pic>
        <p:pic>
          <p:nvPicPr>
            <p:cNvPr id="10" name="Picture 4"/>
            <p:cNvPicPr>
              <a:picLocks noChangeAspect="1" noChangeArrowheads="1"/>
            </p:cNvPicPr>
            <p:nvPr/>
          </p:nvPicPr>
          <p:blipFill>
            <a:blip r:embed="rId4"/>
            <a:srcRect r="69624" b="71823"/>
            <a:stretch>
              <a:fillRect/>
            </a:stretch>
          </p:blipFill>
          <p:spPr bwMode="auto">
            <a:xfrm>
              <a:off x="734350" y="2676981"/>
              <a:ext cx="1407776" cy="616138"/>
            </a:xfrm>
            <a:prstGeom prst="rect">
              <a:avLst/>
            </a:prstGeom>
            <a:noFill/>
            <a:ln w="9525">
              <a:noFill/>
              <a:miter lim="800000"/>
              <a:headEnd/>
              <a:tailEnd/>
            </a:ln>
            <a:effectLst/>
          </p:spPr>
        </p:pic>
        <p:sp>
          <p:nvSpPr>
            <p:cNvPr id="7" name="Oval 6"/>
            <p:cNvSpPr/>
            <p:nvPr/>
          </p:nvSpPr>
          <p:spPr>
            <a:xfrm>
              <a:off x="496040" y="3134383"/>
              <a:ext cx="1769533" cy="1075267"/>
            </a:xfrm>
            <a:prstGeom prst="ellipse">
              <a:avLst/>
            </a:prstGeom>
            <a:noFill/>
            <a:ln w="25400">
              <a:solidFill>
                <a:srgbClr val="FFC000"/>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12" name="Slide Number Placeholder 11"/>
          <p:cNvSpPr>
            <a:spLocks noGrp="1"/>
          </p:cNvSpPr>
          <p:nvPr>
            <p:ph type="sldNum" idx="12"/>
          </p:nvPr>
        </p:nvSpPr>
        <p:spPr/>
        <p:txBody>
          <a:bodyPr/>
          <a:lstStyle/>
          <a:p>
            <a:pPr marL="0" lvl="0" indent="0">
              <a:spcBef>
                <a:spcPts val="0"/>
              </a:spcBef>
              <a:buNone/>
            </a:pPr>
            <a:fld id="{00000000-1234-1234-1234-123412341234}" type="slidenum">
              <a:rPr lang="en-GB" smtClean="0"/>
              <a:pPr marL="0" lvl="0" indent="0">
                <a:spcBef>
                  <a:spcPts val="0"/>
                </a:spcBef>
                <a:buNone/>
              </a:pPr>
              <a:t>7</a:t>
            </a:fld>
            <a:endParaRPr lang="en-GB"/>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71"/>
        <p:cNvGrpSpPr/>
        <p:nvPr/>
      </p:nvGrpSpPr>
      <p:grpSpPr>
        <a:xfrm>
          <a:off x="0" y="0"/>
          <a:ext cx="0" cy="0"/>
          <a:chOff x="0" y="0"/>
          <a:chExt cx="0" cy="0"/>
        </a:xfrm>
      </p:grpSpPr>
      <p:sp>
        <p:nvSpPr>
          <p:cNvPr id="13" name="Rectangle 12"/>
          <p:cNvSpPr/>
          <p:nvPr/>
        </p:nvSpPr>
        <p:spPr>
          <a:xfrm>
            <a:off x="2481029" y="3644812"/>
            <a:ext cx="2417093" cy="1362008"/>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en-US"/>
          </a:p>
        </p:txBody>
      </p:sp>
      <p:sp>
        <p:nvSpPr>
          <p:cNvPr id="72" name="Shape 72"/>
          <p:cNvSpPr txBox="1">
            <a:spLocks noGrp="1"/>
          </p:cNvSpPr>
          <p:nvPr>
            <p:ph type="title"/>
          </p:nvPr>
        </p:nvSpPr>
        <p:spPr>
          <a:prstGeom prst="rect">
            <a:avLst/>
          </a:prstGeom>
        </p:spPr>
        <p:txBody>
          <a:bodyPr wrap="square" lIns="91425" tIns="91425" rIns="91425" bIns="91425" anchor="t" anchorCtr="0">
            <a:noAutofit/>
          </a:bodyPr>
          <a:lstStyle/>
          <a:p>
            <a:pPr marL="0" lvl="0" indent="-69850">
              <a:spcBef>
                <a:spcPts val="0"/>
              </a:spcBef>
              <a:buClr>
                <a:schemeClr val="dk1"/>
              </a:buClr>
              <a:buSzPts val="1100"/>
              <a:buFont typeface="Arial"/>
              <a:buNone/>
            </a:pPr>
            <a:r>
              <a:rPr lang="en-GB" dirty="0"/>
              <a:t>Cross-Site Requests and Its Problems</a:t>
            </a:r>
          </a:p>
          <a:p>
            <a:pPr marL="0" lvl="0" indent="0">
              <a:spcBef>
                <a:spcPts val="0"/>
              </a:spcBef>
              <a:buNone/>
            </a:pPr>
            <a:endParaRPr dirty="0"/>
          </a:p>
        </p:txBody>
      </p:sp>
      <p:sp>
        <p:nvSpPr>
          <p:cNvPr id="73" name="Shape 73"/>
          <p:cNvSpPr txBox="1">
            <a:spLocks noGrp="1"/>
          </p:cNvSpPr>
          <p:nvPr>
            <p:ph type="body" idx="1"/>
          </p:nvPr>
        </p:nvSpPr>
        <p:spPr>
          <a:prstGeom prst="rect">
            <a:avLst/>
          </a:prstGeom>
        </p:spPr>
        <p:txBody>
          <a:bodyPr wrap="square" lIns="91425" tIns="91425" rIns="91425" bIns="91425" anchor="t" anchorCtr="0">
            <a:noAutofit/>
          </a:bodyPr>
          <a:lstStyle/>
          <a:p>
            <a:pPr marL="457200" lvl="0" indent="-342900">
              <a:spcBef>
                <a:spcPts val="0"/>
              </a:spcBef>
              <a:spcAft>
                <a:spcPts val="0"/>
              </a:spcAft>
              <a:buClr>
                <a:srgbClr val="000000"/>
              </a:buClr>
              <a:buSzPts val="1800"/>
              <a:buChar char="●"/>
            </a:pPr>
            <a:r>
              <a:rPr lang="en-GB" sz="1800" dirty="0">
                <a:solidFill>
                  <a:srgbClr val="000000"/>
                </a:solidFill>
              </a:rPr>
              <a:t>When a request is sent to example.com from a page coming from example.com, the browser attaches all the cookies belonging to example.com.</a:t>
            </a:r>
          </a:p>
          <a:p>
            <a:pPr marL="457200" lvl="0" indent="-342900">
              <a:spcBef>
                <a:spcPts val="0"/>
              </a:spcBef>
              <a:spcAft>
                <a:spcPts val="0"/>
              </a:spcAft>
              <a:buClr>
                <a:srgbClr val="000000"/>
              </a:buClr>
              <a:buSzPts val="1800"/>
              <a:buChar char="●"/>
            </a:pPr>
            <a:r>
              <a:rPr lang="en-GB" sz="1800" dirty="0">
                <a:solidFill>
                  <a:srgbClr val="000000"/>
                </a:solidFill>
              </a:rPr>
              <a:t>Now, when a request is sent to example.com from another </a:t>
            </a:r>
            <a:r>
              <a:rPr lang="en-GB" sz="1800" dirty="0" smtClean="0">
                <a:solidFill>
                  <a:srgbClr val="000000"/>
                </a:solidFill>
              </a:rPr>
              <a:t>site (</a:t>
            </a:r>
            <a:r>
              <a:rPr lang="en-GB" sz="1800" dirty="0">
                <a:solidFill>
                  <a:srgbClr val="000000"/>
                </a:solidFill>
              </a:rPr>
              <a:t>different from example.com), the browser will attach the cookies too.</a:t>
            </a:r>
          </a:p>
          <a:p>
            <a:pPr marL="457200" lvl="0" indent="-342900">
              <a:spcBef>
                <a:spcPts val="0"/>
              </a:spcBef>
              <a:spcAft>
                <a:spcPts val="0"/>
              </a:spcAft>
              <a:buClr>
                <a:srgbClr val="000000"/>
              </a:buClr>
              <a:buSzPts val="1800"/>
              <a:buChar char="●"/>
            </a:pPr>
            <a:r>
              <a:rPr lang="en-GB" sz="1800" dirty="0" smtClean="0">
                <a:solidFill>
                  <a:srgbClr val="000000"/>
                </a:solidFill>
              </a:rPr>
              <a:t>Because of above </a:t>
            </a:r>
            <a:r>
              <a:rPr lang="en-GB" sz="1800" dirty="0">
                <a:solidFill>
                  <a:srgbClr val="000000"/>
                </a:solidFill>
              </a:rPr>
              <a:t>behaviour of the browsers, the server cannot distinguish between the same-site and cross-site </a:t>
            </a:r>
            <a:r>
              <a:rPr lang="en-GB" sz="1800" dirty="0" smtClean="0">
                <a:solidFill>
                  <a:srgbClr val="000000"/>
                </a:solidFill>
              </a:rPr>
              <a:t>requests</a:t>
            </a:r>
          </a:p>
          <a:p>
            <a:pPr marL="457200" lvl="0" indent="-342900">
              <a:spcBef>
                <a:spcPts val="0"/>
              </a:spcBef>
              <a:spcAft>
                <a:spcPts val="0"/>
              </a:spcAft>
              <a:buClr>
                <a:srgbClr val="000000"/>
              </a:buClr>
              <a:buSzPts val="1800"/>
              <a:buChar char="●"/>
            </a:pPr>
            <a:r>
              <a:rPr lang="en-GB" sz="1800" dirty="0">
                <a:solidFill>
                  <a:srgbClr val="000000"/>
                </a:solidFill>
              </a:rPr>
              <a:t>I</a:t>
            </a:r>
            <a:r>
              <a:rPr lang="en-GB" sz="1800" dirty="0" smtClean="0">
                <a:solidFill>
                  <a:srgbClr val="000000"/>
                </a:solidFill>
              </a:rPr>
              <a:t>t </a:t>
            </a:r>
            <a:r>
              <a:rPr lang="en-GB" sz="1800" dirty="0">
                <a:solidFill>
                  <a:srgbClr val="000000"/>
                </a:solidFill>
              </a:rPr>
              <a:t>is possible for </a:t>
            </a:r>
            <a:r>
              <a:rPr lang="en-GB" sz="1800" dirty="0" smtClean="0">
                <a:solidFill>
                  <a:srgbClr val="000000"/>
                </a:solidFill>
              </a:rPr>
              <a:t>third-party </a:t>
            </a:r>
            <a:r>
              <a:rPr lang="en-GB" sz="1800" dirty="0">
                <a:solidFill>
                  <a:srgbClr val="000000"/>
                </a:solidFill>
              </a:rPr>
              <a:t>websites to forge requests that are exactly the same as the same-site requests.</a:t>
            </a:r>
          </a:p>
          <a:p>
            <a:pPr marL="457200" lvl="0" indent="-342900">
              <a:spcBef>
                <a:spcPts val="0"/>
              </a:spcBef>
              <a:buClr>
                <a:srgbClr val="000000"/>
              </a:buClr>
              <a:buSzPts val="1800"/>
              <a:buChar char="●"/>
            </a:pPr>
            <a:r>
              <a:rPr lang="en-GB" sz="1800" dirty="0">
                <a:solidFill>
                  <a:srgbClr val="000000"/>
                </a:solidFill>
              </a:rPr>
              <a:t>This is called </a:t>
            </a:r>
            <a:r>
              <a:rPr lang="en-GB" sz="1800" b="1" dirty="0">
                <a:solidFill>
                  <a:srgbClr val="000000"/>
                </a:solidFill>
              </a:rPr>
              <a:t>Cross-Site Request </a:t>
            </a:r>
            <a:r>
              <a:rPr lang="en-GB" sz="1800" b="1" dirty="0" smtClean="0">
                <a:solidFill>
                  <a:srgbClr val="000000"/>
                </a:solidFill>
              </a:rPr>
              <a:t>Forgery </a:t>
            </a:r>
            <a:r>
              <a:rPr lang="en-GB" sz="1800" b="1" dirty="0">
                <a:solidFill>
                  <a:srgbClr val="000000"/>
                </a:solidFill>
              </a:rPr>
              <a:t>(CSRF</a:t>
            </a:r>
            <a:r>
              <a:rPr lang="en-GB" sz="1800" b="1" dirty="0" smtClean="0">
                <a:solidFill>
                  <a:srgbClr val="000000"/>
                </a:solidFill>
              </a:rPr>
              <a:t>).</a:t>
            </a:r>
            <a:endParaRPr lang="en-GB" sz="1800" b="1" dirty="0">
              <a:solidFill>
                <a:srgbClr val="000000"/>
              </a:solidFill>
            </a:endParaRPr>
          </a:p>
        </p:txBody>
      </p:sp>
      <p:pic>
        <p:nvPicPr>
          <p:cNvPr id="1027" name="Picture 3"/>
          <p:cNvPicPr>
            <a:picLocks noChangeAspect="1" noChangeArrowheads="1"/>
          </p:cNvPicPr>
          <p:nvPr/>
        </p:nvPicPr>
        <p:blipFill>
          <a:blip r:embed="rId3"/>
          <a:srcRect/>
          <a:stretch>
            <a:fillRect/>
          </a:stretch>
        </p:blipFill>
        <p:spPr bwMode="auto">
          <a:xfrm>
            <a:off x="3440199" y="4041347"/>
            <a:ext cx="1258799" cy="866624"/>
          </a:xfrm>
          <a:prstGeom prst="rect">
            <a:avLst/>
          </a:prstGeom>
          <a:noFill/>
          <a:ln w="9525">
            <a:noFill/>
            <a:miter lim="800000"/>
            <a:headEnd/>
            <a:tailEnd/>
          </a:ln>
          <a:effectLst/>
        </p:spPr>
      </p:pic>
      <p:pic>
        <p:nvPicPr>
          <p:cNvPr id="1029" name="Picture 5" descr="A Eulogy to Clip Art, in Clip Art - The Atlantic"/>
          <p:cNvPicPr>
            <a:picLocks noChangeAspect="1" noChangeArrowheads="1"/>
          </p:cNvPicPr>
          <p:nvPr/>
        </p:nvPicPr>
        <p:blipFill>
          <a:blip r:embed="rId4"/>
          <a:srcRect/>
          <a:stretch>
            <a:fillRect/>
          </a:stretch>
        </p:blipFill>
        <p:spPr bwMode="auto">
          <a:xfrm>
            <a:off x="6240939" y="3432147"/>
            <a:ext cx="1690632" cy="1109292"/>
          </a:xfrm>
          <a:prstGeom prst="rect">
            <a:avLst/>
          </a:prstGeom>
          <a:noFill/>
        </p:spPr>
      </p:pic>
      <p:sp>
        <p:nvSpPr>
          <p:cNvPr id="8" name="TextBox 7"/>
          <p:cNvSpPr txBox="1"/>
          <p:nvPr/>
        </p:nvSpPr>
        <p:spPr>
          <a:xfrm>
            <a:off x="6490322" y="4501677"/>
            <a:ext cx="1249060" cy="307777"/>
          </a:xfrm>
          <a:prstGeom prst="rect">
            <a:avLst/>
          </a:prstGeom>
          <a:noFill/>
        </p:spPr>
        <p:txBody>
          <a:bodyPr wrap="none" rtlCol="0">
            <a:spAutoFit/>
          </a:bodyPr>
          <a:lstStyle/>
          <a:p>
            <a:r>
              <a:rPr lang="en-US" dirty="0" smtClean="0"/>
              <a:t>example.com</a:t>
            </a:r>
            <a:endParaRPr lang="en-US" dirty="0"/>
          </a:p>
        </p:txBody>
      </p:sp>
      <p:sp>
        <p:nvSpPr>
          <p:cNvPr id="9" name="TextBox 8"/>
          <p:cNvSpPr txBox="1"/>
          <p:nvPr/>
        </p:nvSpPr>
        <p:spPr>
          <a:xfrm>
            <a:off x="3555288" y="4552831"/>
            <a:ext cx="1023037" cy="261610"/>
          </a:xfrm>
          <a:prstGeom prst="rect">
            <a:avLst/>
          </a:prstGeom>
          <a:noFill/>
        </p:spPr>
        <p:txBody>
          <a:bodyPr wrap="none" rtlCol="0">
            <a:spAutoFit/>
          </a:bodyPr>
          <a:lstStyle/>
          <a:p>
            <a:r>
              <a:rPr lang="en-US" sz="1100" dirty="0" smtClean="0"/>
              <a:t>example.com</a:t>
            </a:r>
            <a:endParaRPr lang="en-US" sz="1100" dirty="0"/>
          </a:p>
        </p:txBody>
      </p:sp>
      <p:cxnSp>
        <p:nvCxnSpPr>
          <p:cNvPr id="11" name="Straight Arrow Connector 10"/>
          <p:cNvCxnSpPr>
            <a:stCxn id="1027" idx="3"/>
          </p:cNvCxnSpPr>
          <p:nvPr/>
        </p:nvCxnSpPr>
        <p:spPr>
          <a:xfrm flipV="1">
            <a:off x="4698998" y="4265066"/>
            <a:ext cx="1548336" cy="209593"/>
          </a:xfrm>
          <a:prstGeom prst="straightConnector1">
            <a:avLst/>
          </a:prstGeom>
          <a:ln>
            <a:tailEnd type="arrow"/>
          </a:ln>
        </p:spPr>
        <p:style>
          <a:lnRef idx="3">
            <a:schemeClr val="accent1"/>
          </a:lnRef>
          <a:fillRef idx="0">
            <a:schemeClr val="accent1"/>
          </a:fillRef>
          <a:effectRef idx="2">
            <a:schemeClr val="accent1"/>
          </a:effectRef>
          <a:fontRef idx="minor">
            <a:schemeClr val="tx1"/>
          </a:fontRef>
        </p:style>
      </p:cxnSp>
      <p:sp>
        <p:nvSpPr>
          <p:cNvPr id="12" name="TextBox 11"/>
          <p:cNvSpPr txBox="1"/>
          <p:nvPr/>
        </p:nvSpPr>
        <p:spPr>
          <a:xfrm rot="21136948">
            <a:off x="4930090" y="4316247"/>
            <a:ext cx="1317990" cy="246221"/>
          </a:xfrm>
          <a:prstGeom prst="rect">
            <a:avLst/>
          </a:prstGeom>
          <a:noFill/>
        </p:spPr>
        <p:txBody>
          <a:bodyPr wrap="none" rtlCol="0">
            <a:spAutoFit/>
          </a:bodyPr>
          <a:lstStyle/>
          <a:p>
            <a:r>
              <a:rPr lang="en-US" sz="1000" dirty="0" smtClean="0"/>
              <a:t>HTTP </a:t>
            </a:r>
            <a:r>
              <a:rPr lang="en-US" sz="1000" dirty="0" err="1" smtClean="0"/>
              <a:t>req</a:t>
            </a:r>
            <a:r>
              <a:rPr lang="en-US" sz="1000" dirty="0" smtClean="0"/>
              <a:t> + cookies</a:t>
            </a:r>
            <a:endParaRPr lang="en-US" sz="1000" dirty="0"/>
          </a:p>
        </p:txBody>
      </p:sp>
      <p:pic>
        <p:nvPicPr>
          <p:cNvPr id="1026" name="Picture 2"/>
          <p:cNvPicPr>
            <a:picLocks noChangeAspect="1" noChangeArrowheads="1"/>
          </p:cNvPicPr>
          <p:nvPr/>
        </p:nvPicPr>
        <p:blipFill>
          <a:blip r:embed="rId5"/>
          <a:srcRect/>
          <a:stretch>
            <a:fillRect/>
          </a:stretch>
        </p:blipFill>
        <p:spPr bwMode="auto">
          <a:xfrm>
            <a:off x="2713500" y="3781025"/>
            <a:ext cx="1218556" cy="835735"/>
          </a:xfrm>
          <a:prstGeom prst="rect">
            <a:avLst/>
          </a:prstGeom>
          <a:noFill/>
          <a:ln w="9525">
            <a:noFill/>
            <a:miter lim="800000"/>
            <a:headEnd/>
            <a:tailEnd/>
          </a:ln>
          <a:effectLst/>
        </p:spPr>
      </p:pic>
      <p:sp>
        <p:nvSpPr>
          <p:cNvPr id="15" name="TextBox 14"/>
          <p:cNvSpPr txBox="1"/>
          <p:nvPr/>
        </p:nvSpPr>
        <p:spPr>
          <a:xfrm>
            <a:off x="2826326" y="4105224"/>
            <a:ext cx="944489" cy="261610"/>
          </a:xfrm>
          <a:prstGeom prst="rect">
            <a:avLst/>
          </a:prstGeom>
          <a:noFill/>
        </p:spPr>
        <p:txBody>
          <a:bodyPr wrap="none" rtlCol="0">
            <a:spAutoFit/>
          </a:bodyPr>
          <a:lstStyle/>
          <a:p>
            <a:r>
              <a:rPr lang="en-US" sz="1100" dirty="0" smtClean="0"/>
              <a:t>badsite.com</a:t>
            </a:r>
            <a:endParaRPr lang="en-US" sz="1100" dirty="0"/>
          </a:p>
        </p:txBody>
      </p:sp>
      <p:sp>
        <p:nvSpPr>
          <p:cNvPr id="16" name="TextBox 15"/>
          <p:cNvSpPr txBox="1"/>
          <p:nvPr/>
        </p:nvSpPr>
        <p:spPr>
          <a:xfrm>
            <a:off x="2506518" y="4661507"/>
            <a:ext cx="841897" cy="307777"/>
          </a:xfrm>
          <a:prstGeom prst="rect">
            <a:avLst/>
          </a:prstGeom>
          <a:noFill/>
        </p:spPr>
        <p:txBody>
          <a:bodyPr wrap="none" rtlCol="0">
            <a:spAutoFit/>
          </a:bodyPr>
          <a:lstStyle/>
          <a:p>
            <a:r>
              <a:rPr lang="en-US" dirty="0" smtClean="0"/>
              <a:t>Browser</a:t>
            </a:r>
          </a:p>
        </p:txBody>
      </p:sp>
      <p:cxnSp>
        <p:nvCxnSpPr>
          <p:cNvPr id="17" name="Straight Arrow Connector 16"/>
          <p:cNvCxnSpPr>
            <a:endCxn id="1029" idx="1"/>
          </p:cNvCxnSpPr>
          <p:nvPr/>
        </p:nvCxnSpPr>
        <p:spPr>
          <a:xfrm>
            <a:off x="3932559" y="3875011"/>
            <a:ext cx="2308380" cy="111782"/>
          </a:xfrm>
          <a:prstGeom prst="straightConnector1">
            <a:avLst/>
          </a:prstGeom>
          <a:ln>
            <a:tailEnd type="arrow"/>
          </a:ln>
        </p:spPr>
        <p:style>
          <a:lnRef idx="3">
            <a:schemeClr val="accent1"/>
          </a:lnRef>
          <a:fillRef idx="0">
            <a:schemeClr val="accent1"/>
          </a:fillRef>
          <a:effectRef idx="2">
            <a:schemeClr val="accent1"/>
          </a:effectRef>
          <a:fontRef idx="minor">
            <a:schemeClr val="tx1"/>
          </a:fontRef>
        </p:style>
      </p:cxnSp>
      <p:sp>
        <p:nvSpPr>
          <p:cNvPr id="18" name="TextBox 17"/>
          <p:cNvSpPr txBox="1"/>
          <p:nvPr/>
        </p:nvSpPr>
        <p:spPr>
          <a:xfrm rot="175183">
            <a:off x="4866130" y="3715171"/>
            <a:ext cx="1317990" cy="246221"/>
          </a:xfrm>
          <a:prstGeom prst="rect">
            <a:avLst/>
          </a:prstGeom>
          <a:noFill/>
        </p:spPr>
        <p:txBody>
          <a:bodyPr wrap="none" rtlCol="0">
            <a:spAutoFit/>
          </a:bodyPr>
          <a:lstStyle/>
          <a:p>
            <a:r>
              <a:rPr lang="en-US" sz="1000" dirty="0" smtClean="0"/>
              <a:t>HTTP </a:t>
            </a:r>
            <a:r>
              <a:rPr lang="en-US" sz="1000" dirty="0" err="1" smtClean="0"/>
              <a:t>req</a:t>
            </a:r>
            <a:r>
              <a:rPr lang="en-US" sz="1000" dirty="0" smtClean="0"/>
              <a:t> + cookies</a:t>
            </a:r>
            <a:endParaRPr lang="en-US" sz="1000" dirty="0"/>
          </a:p>
        </p:txBody>
      </p:sp>
      <p:sp>
        <p:nvSpPr>
          <p:cNvPr id="21" name="TextBox 20"/>
          <p:cNvSpPr txBox="1"/>
          <p:nvPr/>
        </p:nvSpPr>
        <p:spPr>
          <a:xfrm>
            <a:off x="7897103" y="3561683"/>
            <a:ext cx="889987" cy="600164"/>
          </a:xfrm>
          <a:prstGeom prst="rect">
            <a:avLst/>
          </a:prstGeom>
          <a:noFill/>
        </p:spPr>
        <p:txBody>
          <a:bodyPr wrap="none" rtlCol="0">
            <a:spAutoFit/>
          </a:bodyPr>
          <a:lstStyle/>
          <a:p>
            <a:r>
              <a:rPr lang="en-US" sz="1100" dirty="0" smtClean="0">
                <a:solidFill>
                  <a:srgbClr val="FF0000"/>
                </a:solidFill>
              </a:rPr>
              <a:t>Same site</a:t>
            </a:r>
          </a:p>
          <a:p>
            <a:r>
              <a:rPr lang="en-US" sz="1100" dirty="0" smtClean="0">
                <a:solidFill>
                  <a:srgbClr val="FF0000"/>
                </a:solidFill>
              </a:rPr>
              <a:t>Or</a:t>
            </a:r>
          </a:p>
          <a:p>
            <a:r>
              <a:rPr lang="en-US" sz="1100" dirty="0" smtClean="0">
                <a:solidFill>
                  <a:srgbClr val="FF0000"/>
                </a:solidFill>
              </a:rPr>
              <a:t>Cross site?</a:t>
            </a:r>
            <a:endParaRPr lang="en-US" sz="1100" dirty="0">
              <a:solidFill>
                <a:srgbClr val="FF0000"/>
              </a:solidFill>
            </a:endParaRPr>
          </a:p>
        </p:txBody>
      </p:sp>
      <p:sp>
        <p:nvSpPr>
          <p:cNvPr id="22" name="Slide Number Placeholder 21"/>
          <p:cNvSpPr>
            <a:spLocks noGrp="1"/>
          </p:cNvSpPr>
          <p:nvPr>
            <p:ph type="sldNum" idx="12"/>
          </p:nvPr>
        </p:nvSpPr>
        <p:spPr/>
        <p:txBody>
          <a:bodyPr/>
          <a:lstStyle/>
          <a:p>
            <a:pPr marL="0" lvl="0" indent="0">
              <a:spcBef>
                <a:spcPts val="0"/>
              </a:spcBef>
              <a:buNone/>
            </a:pPr>
            <a:fld id="{00000000-1234-1234-1234-123412341234}" type="slidenum">
              <a:rPr lang="en-GB" smtClean="0"/>
              <a:pPr marL="0" lvl="0" indent="0">
                <a:spcBef>
                  <a:spcPts val="0"/>
                </a:spcBef>
                <a:buNone/>
              </a:pPr>
              <a:t>8</a:t>
            </a:fld>
            <a:endParaRPr lang="en-GB"/>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77"/>
        <p:cNvGrpSpPr/>
        <p:nvPr/>
      </p:nvGrpSpPr>
      <p:grpSpPr>
        <a:xfrm>
          <a:off x="0" y="0"/>
          <a:ext cx="0" cy="0"/>
          <a:chOff x="0" y="0"/>
          <a:chExt cx="0" cy="0"/>
        </a:xfrm>
      </p:grpSpPr>
      <p:pic>
        <p:nvPicPr>
          <p:cNvPr id="1026" name="Picture 2"/>
          <p:cNvPicPr>
            <a:picLocks noChangeAspect="1" noChangeArrowheads="1"/>
          </p:cNvPicPr>
          <p:nvPr/>
        </p:nvPicPr>
        <p:blipFill>
          <a:blip r:embed="rId3"/>
          <a:srcRect l="3507" r="5718"/>
          <a:stretch>
            <a:fillRect/>
          </a:stretch>
        </p:blipFill>
        <p:spPr bwMode="auto">
          <a:xfrm>
            <a:off x="5742173" y="1566628"/>
            <a:ext cx="3248358" cy="2844595"/>
          </a:xfrm>
          <a:prstGeom prst="rect">
            <a:avLst/>
          </a:prstGeom>
          <a:noFill/>
          <a:ln w="9525">
            <a:noFill/>
            <a:miter lim="800000"/>
            <a:headEnd/>
            <a:tailEnd/>
          </a:ln>
          <a:effectLst/>
        </p:spPr>
      </p:pic>
      <p:sp>
        <p:nvSpPr>
          <p:cNvPr id="78" name="Shape 78"/>
          <p:cNvSpPr txBox="1">
            <a:spLocks noGrp="1"/>
          </p:cNvSpPr>
          <p:nvPr>
            <p:ph type="title"/>
          </p:nvPr>
        </p:nvSpPr>
        <p:spPr>
          <a:prstGeom prst="rect">
            <a:avLst/>
          </a:prstGeom>
        </p:spPr>
        <p:txBody>
          <a:bodyPr wrap="square" lIns="91425" tIns="91425" rIns="91425" bIns="91425" anchor="t" anchorCtr="0">
            <a:noAutofit/>
          </a:bodyPr>
          <a:lstStyle/>
          <a:p>
            <a:pPr marL="0" lvl="0" indent="0">
              <a:spcBef>
                <a:spcPts val="0"/>
              </a:spcBef>
              <a:buNone/>
            </a:pPr>
            <a:r>
              <a:rPr lang="en-GB" dirty="0"/>
              <a:t>Cross-Site Request Forgery Attack</a:t>
            </a:r>
          </a:p>
        </p:txBody>
      </p:sp>
      <p:sp>
        <p:nvSpPr>
          <p:cNvPr id="79" name="Shape 79"/>
          <p:cNvSpPr txBox="1">
            <a:spLocks noGrp="1"/>
          </p:cNvSpPr>
          <p:nvPr>
            <p:ph type="body" idx="1"/>
          </p:nvPr>
        </p:nvSpPr>
        <p:spPr>
          <a:xfrm>
            <a:off x="311700" y="1152475"/>
            <a:ext cx="5539181" cy="3821400"/>
          </a:xfrm>
          <a:prstGeom prst="rect">
            <a:avLst/>
          </a:prstGeom>
        </p:spPr>
        <p:txBody>
          <a:bodyPr wrap="square" lIns="91425" tIns="91425" rIns="91425" bIns="91425" anchor="t" anchorCtr="0">
            <a:noAutofit/>
          </a:bodyPr>
          <a:lstStyle/>
          <a:p>
            <a:pPr marL="0" lvl="0" indent="0" rtl="0">
              <a:spcBef>
                <a:spcPts val="0"/>
              </a:spcBef>
              <a:buNone/>
            </a:pPr>
            <a:r>
              <a:rPr lang="en-GB" sz="1800" u="sng" dirty="0">
                <a:solidFill>
                  <a:srgbClr val="000000"/>
                </a:solidFill>
              </a:rPr>
              <a:t>Environment Setup:</a:t>
            </a:r>
          </a:p>
          <a:p>
            <a:pPr marL="457200" lvl="0" indent="-342900">
              <a:spcBef>
                <a:spcPts val="0"/>
              </a:spcBef>
              <a:spcAft>
                <a:spcPts val="0"/>
              </a:spcAft>
              <a:buClr>
                <a:srgbClr val="000000"/>
              </a:buClr>
              <a:buSzPts val="1800"/>
              <a:buChar char="●"/>
            </a:pPr>
            <a:r>
              <a:rPr lang="en-GB" sz="1800" dirty="0">
                <a:solidFill>
                  <a:srgbClr val="000000"/>
                </a:solidFill>
              </a:rPr>
              <a:t>Target website</a:t>
            </a:r>
          </a:p>
          <a:p>
            <a:pPr marL="457200" lvl="0" indent="-342900">
              <a:spcBef>
                <a:spcPts val="0"/>
              </a:spcBef>
              <a:spcAft>
                <a:spcPts val="0"/>
              </a:spcAft>
              <a:buClr>
                <a:srgbClr val="000000"/>
              </a:buClr>
              <a:buSzPts val="1800"/>
              <a:buChar char="●"/>
            </a:pPr>
            <a:r>
              <a:rPr lang="en-GB" sz="1800" dirty="0">
                <a:solidFill>
                  <a:srgbClr val="000000"/>
                </a:solidFill>
              </a:rPr>
              <a:t>Victim user who has an active session on the target website</a:t>
            </a:r>
          </a:p>
          <a:p>
            <a:pPr marL="457200" lvl="0" indent="-342900" rtl="0">
              <a:spcBef>
                <a:spcPts val="0"/>
              </a:spcBef>
              <a:buClr>
                <a:srgbClr val="000000"/>
              </a:buClr>
              <a:buSzPts val="1800"/>
              <a:buChar char="●"/>
            </a:pPr>
            <a:r>
              <a:rPr lang="en-GB" sz="1800" dirty="0">
                <a:solidFill>
                  <a:srgbClr val="000000"/>
                </a:solidFill>
              </a:rPr>
              <a:t>Malicious </a:t>
            </a:r>
            <a:r>
              <a:rPr lang="en-GB" sz="1800" dirty="0" smtClean="0">
                <a:solidFill>
                  <a:srgbClr val="000000"/>
                </a:solidFill>
              </a:rPr>
              <a:t>website</a:t>
            </a:r>
            <a:endParaRPr lang="en-GB" sz="1800" dirty="0">
              <a:solidFill>
                <a:srgbClr val="000000"/>
              </a:solidFill>
            </a:endParaRPr>
          </a:p>
          <a:p>
            <a:pPr marL="0" lvl="0" indent="0" rtl="0">
              <a:spcBef>
                <a:spcPts val="0"/>
              </a:spcBef>
              <a:buNone/>
            </a:pPr>
            <a:endParaRPr lang="en-GB" sz="1800" u="sng" dirty="0" smtClean="0">
              <a:solidFill>
                <a:srgbClr val="000000"/>
              </a:solidFill>
            </a:endParaRPr>
          </a:p>
          <a:p>
            <a:pPr marL="0" lvl="0" indent="0" rtl="0">
              <a:spcBef>
                <a:spcPts val="0"/>
              </a:spcBef>
              <a:buNone/>
            </a:pPr>
            <a:r>
              <a:rPr lang="en-GB" sz="1800" u="sng" dirty="0" smtClean="0">
                <a:solidFill>
                  <a:srgbClr val="000000"/>
                </a:solidFill>
              </a:rPr>
              <a:t>Steps:</a:t>
            </a:r>
            <a:endParaRPr lang="en-GB" sz="1800" u="sng" dirty="0">
              <a:solidFill>
                <a:srgbClr val="000000"/>
              </a:solidFill>
            </a:endParaRPr>
          </a:p>
          <a:p>
            <a:pPr marL="457200" indent="-342900">
              <a:buClr>
                <a:srgbClr val="000000"/>
              </a:buClr>
            </a:pPr>
            <a:r>
              <a:rPr lang="en-GB" sz="1800" dirty="0" smtClean="0">
                <a:solidFill>
                  <a:srgbClr val="000000"/>
                </a:solidFill>
              </a:rPr>
              <a:t>The victim is logged into the targeted website.</a:t>
            </a:r>
          </a:p>
          <a:p>
            <a:pPr marL="457200" lvl="0" indent="-342900" rtl="0">
              <a:spcBef>
                <a:spcPts val="0"/>
              </a:spcBef>
              <a:buClr>
                <a:srgbClr val="000000"/>
              </a:buClr>
              <a:buSzPts val="1800"/>
              <a:buChar char="●"/>
            </a:pPr>
            <a:r>
              <a:rPr lang="en-GB" sz="1800" dirty="0" smtClean="0">
                <a:solidFill>
                  <a:srgbClr val="000000"/>
                </a:solidFill>
              </a:rPr>
              <a:t>The </a:t>
            </a:r>
            <a:r>
              <a:rPr lang="en-GB" sz="1800" dirty="0">
                <a:solidFill>
                  <a:srgbClr val="000000"/>
                </a:solidFill>
              </a:rPr>
              <a:t>attacker needs to attract the victim user to visit the malicious website</a:t>
            </a:r>
            <a:r>
              <a:rPr lang="en-GB" sz="1800" dirty="0" smtClean="0">
                <a:solidFill>
                  <a:srgbClr val="000000"/>
                </a:solidFill>
              </a:rPr>
              <a:t>.</a:t>
            </a:r>
          </a:p>
          <a:p>
            <a:pPr marL="457200" indent="-342900">
              <a:buClr>
                <a:srgbClr val="000000"/>
              </a:buClr>
            </a:pPr>
            <a:r>
              <a:rPr lang="en-GB" sz="1800" dirty="0" smtClean="0">
                <a:solidFill>
                  <a:srgbClr val="000000"/>
                </a:solidFill>
              </a:rPr>
              <a:t>The malicious webpage forges a cross-site request to the targeted website.</a:t>
            </a:r>
          </a:p>
          <a:p>
            <a:pPr marL="0" lvl="0" indent="0" rtl="0">
              <a:spcBef>
                <a:spcPts val="0"/>
              </a:spcBef>
              <a:buNone/>
            </a:pPr>
            <a:endParaRPr sz="1800" dirty="0">
              <a:solidFill>
                <a:srgbClr val="000000"/>
              </a:solidFill>
            </a:endParaRPr>
          </a:p>
        </p:txBody>
      </p:sp>
      <p:sp>
        <p:nvSpPr>
          <p:cNvPr id="5" name="Slide Number Placeholder 4"/>
          <p:cNvSpPr>
            <a:spLocks noGrp="1"/>
          </p:cNvSpPr>
          <p:nvPr>
            <p:ph type="sldNum" idx="12"/>
          </p:nvPr>
        </p:nvSpPr>
        <p:spPr/>
        <p:txBody>
          <a:bodyPr/>
          <a:lstStyle/>
          <a:p>
            <a:pPr marL="0" lvl="0" indent="0">
              <a:spcBef>
                <a:spcPts val="0"/>
              </a:spcBef>
              <a:buNone/>
            </a:pPr>
            <a:fld id="{00000000-1234-1234-1234-123412341234}" type="slidenum">
              <a:rPr lang="en-GB" smtClean="0"/>
              <a:pPr marL="0" lvl="0" indent="0">
                <a:spcBef>
                  <a:spcPts val="0"/>
                </a:spcBef>
                <a:buNone/>
              </a:pPr>
              <a:t>9</a:t>
            </a:fld>
            <a:endParaRPr lang="en-GB"/>
          </a:p>
        </p:txBody>
      </p:sp>
      <p:sp>
        <p:nvSpPr>
          <p:cNvPr id="6" name="TextBox 5"/>
          <p:cNvSpPr txBox="1"/>
          <p:nvPr/>
        </p:nvSpPr>
        <p:spPr>
          <a:xfrm>
            <a:off x="8046721" y="3123027"/>
            <a:ext cx="1097279" cy="553998"/>
          </a:xfrm>
          <a:prstGeom prst="rect">
            <a:avLst/>
          </a:prstGeom>
          <a:noFill/>
        </p:spPr>
        <p:txBody>
          <a:bodyPr wrap="square" rtlCol="0">
            <a:spAutoFit/>
          </a:bodyPr>
          <a:lstStyle/>
          <a:p>
            <a:r>
              <a:rPr lang="en-US" sz="1000" dirty="0" smtClean="0"/>
              <a:t>Currently logged in the target website</a:t>
            </a:r>
            <a:endParaRPr lang="en-US" sz="1000"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Shape 84"/>
          <p:cNvSpPr txBox="1">
            <a:spLocks noGrp="1"/>
          </p:cNvSpPr>
          <p:nvPr>
            <p:ph type="title"/>
          </p:nvPr>
        </p:nvSpPr>
        <p:spPr>
          <a:prstGeom prst="rect">
            <a:avLst/>
          </a:prstGeom>
        </p:spPr>
        <p:txBody>
          <a:bodyPr wrap="square" lIns="91425" tIns="91425" rIns="91425" bIns="91425" anchor="t" anchorCtr="0">
            <a:noAutofit/>
          </a:bodyPr>
          <a:lstStyle/>
          <a:p>
            <a:pPr marL="0" lvl="0" indent="0">
              <a:spcBef>
                <a:spcPts val="0"/>
              </a:spcBef>
              <a:buNone/>
            </a:pPr>
            <a:r>
              <a:rPr lang="en-GB" dirty="0"/>
              <a:t>Environment Setup</a:t>
            </a:r>
          </a:p>
        </p:txBody>
      </p:sp>
      <p:sp>
        <p:nvSpPr>
          <p:cNvPr id="85" name="Shape 85"/>
          <p:cNvSpPr txBox="1">
            <a:spLocks noGrp="1"/>
          </p:cNvSpPr>
          <p:nvPr>
            <p:ph type="body" idx="1"/>
          </p:nvPr>
        </p:nvSpPr>
        <p:spPr>
          <a:xfrm>
            <a:off x="311700" y="1018201"/>
            <a:ext cx="8520600" cy="1738800"/>
          </a:xfrm>
          <a:prstGeom prst="rect">
            <a:avLst/>
          </a:prstGeom>
        </p:spPr>
        <p:txBody>
          <a:bodyPr wrap="square" lIns="91425" tIns="91425" rIns="91425" bIns="91425" anchor="t" anchorCtr="0">
            <a:noAutofit/>
          </a:bodyPr>
          <a:lstStyle/>
          <a:p>
            <a:pPr marL="457200" lvl="0" indent="-342900">
              <a:spcBef>
                <a:spcPts val="0"/>
              </a:spcBef>
              <a:spcAft>
                <a:spcPts val="0"/>
              </a:spcAft>
              <a:buClr>
                <a:srgbClr val="000000"/>
              </a:buClr>
              <a:buSzPts val="1800"/>
              <a:buChar char="●"/>
            </a:pPr>
            <a:r>
              <a:rPr lang="en-GB" sz="2000" dirty="0" err="1" smtClean="0">
                <a:solidFill>
                  <a:srgbClr val="000000"/>
                </a:solidFill>
              </a:rPr>
              <a:t>Elgg</a:t>
            </a:r>
            <a:r>
              <a:rPr lang="en-GB" sz="2000" dirty="0" smtClean="0">
                <a:solidFill>
                  <a:srgbClr val="000000"/>
                </a:solidFill>
              </a:rPr>
              <a:t>: open-source </a:t>
            </a:r>
            <a:r>
              <a:rPr lang="en-GB" sz="2000" dirty="0">
                <a:solidFill>
                  <a:srgbClr val="000000"/>
                </a:solidFill>
              </a:rPr>
              <a:t>web application for social </a:t>
            </a:r>
            <a:r>
              <a:rPr lang="en-GB" sz="2000" dirty="0" smtClean="0">
                <a:solidFill>
                  <a:srgbClr val="000000"/>
                </a:solidFill>
              </a:rPr>
              <a:t>networking</a:t>
            </a:r>
          </a:p>
          <a:p>
            <a:pPr marL="457200" lvl="0" indent="-342900">
              <a:spcBef>
                <a:spcPts val="0"/>
              </a:spcBef>
              <a:spcAft>
                <a:spcPts val="0"/>
              </a:spcAft>
              <a:buClr>
                <a:srgbClr val="000000"/>
              </a:buClr>
              <a:buSzPts val="1800"/>
              <a:buChar char="●"/>
            </a:pPr>
            <a:r>
              <a:rPr lang="en-GB" sz="2000" dirty="0">
                <a:solidFill>
                  <a:srgbClr val="000000"/>
                </a:solidFill>
              </a:rPr>
              <a:t>C</a:t>
            </a:r>
            <a:r>
              <a:rPr lang="en-GB" sz="2000" dirty="0" smtClean="0">
                <a:solidFill>
                  <a:srgbClr val="000000"/>
                </a:solidFill>
              </a:rPr>
              <a:t>ountermeasures </a:t>
            </a:r>
            <a:r>
              <a:rPr lang="en-GB" sz="2000" dirty="0">
                <a:solidFill>
                  <a:srgbClr val="000000"/>
                </a:solidFill>
              </a:rPr>
              <a:t>for </a:t>
            </a:r>
            <a:r>
              <a:rPr lang="en-GB" sz="2000" dirty="0" smtClean="0">
                <a:solidFill>
                  <a:srgbClr val="000000"/>
                </a:solidFill>
              </a:rPr>
              <a:t>CSRF is disabled by us in the VM</a:t>
            </a:r>
            <a:endParaRPr lang="en-GB" sz="2000" dirty="0">
              <a:solidFill>
                <a:srgbClr val="000000"/>
              </a:solidFill>
            </a:endParaRPr>
          </a:p>
          <a:p>
            <a:pPr marL="457200" lvl="0" indent="-342900">
              <a:spcBef>
                <a:spcPts val="0"/>
              </a:spcBef>
              <a:spcAft>
                <a:spcPts val="0"/>
              </a:spcAft>
              <a:buClr>
                <a:srgbClr val="000000"/>
              </a:buClr>
              <a:buSzPts val="1800"/>
              <a:buChar char="●"/>
            </a:pPr>
            <a:r>
              <a:rPr lang="en-GB" sz="2000" dirty="0" smtClean="0">
                <a:solidFill>
                  <a:srgbClr val="000000"/>
                </a:solidFill>
              </a:rPr>
              <a:t>Target website: </a:t>
            </a:r>
            <a:r>
              <a:rPr lang="en-GB" sz="2000" u="sng" dirty="0">
                <a:solidFill>
                  <a:srgbClr val="000000"/>
                </a:solidFill>
                <a:hlinkClick r:id="rId3"/>
              </a:rPr>
              <a:t>http://www.csrf</a:t>
            </a:r>
            <a:r>
              <a:rPr lang="en-GB" sz="2000" u="sng" dirty="0">
                <a:solidFill>
                  <a:srgbClr val="C00000"/>
                </a:solidFill>
                <a:hlinkClick r:id="rId3"/>
              </a:rPr>
              <a:t>lab</a:t>
            </a:r>
            <a:r>
              <a:rPr lang="en-GB" sz="2000" u="sng" dirty="0">
                <a:solidFill>
                  <a:srgbClr val="000000"/>
                </a:solidFill>
                <a:hlinkClick r:id="rId3"/>
              </a:rPr>
              <a:t>elgg.com</a:t>
            </a:r>
          </a:p>
          <a:p>
            <a:pPr marL="457200" lvl="0" indent="-342900">
              <a:spcBef>
                <a:spcPts val="0"/>
              </a:spcBef>
              <a:spcAft>
                <a:spcPts val="0"/>
              </a:spcAft>
              <a:buClr>
                <a:srgbClr val="000000"/>
              </a:buClr>
              <a:buSzPts val="1800"/>
              <a:buChar char="●"/>
            </a:pPr>
            <a:r>
              <a:rPr lang="en-GB" sz="2000" dirty="0" smtClean="0">
                <a:solidFill>
                  <a:srgbClr val="000000"/>
                </a:solidFill>
              </a:rPr>
              <a:t>Attacker’s website: </a:t>
            </a:r>
            <a:r>
              <a:rPr lang="en-GB" sz="2000" u="sng" dirty="0">
                <a:solidFill>
                  <a:srgbClr val="000000"/>
                </a:solidFill>
                <a:hlinkClick r:id="rId4"/>
              </a:rPr>
              <a:t>http://www.csrflabattacker.com</a:t>
            </a:r>
          </a:p>
          <a:p>
            <a:pPr marL="457200" lvl="0" indent="-342900">
              <a:buClr>
                <a:srgbClr val="000000"/>
              </a:buClr>
            </a:pPr>
            <a:r>
              <a:rPr lang="en-GB" sz="2000" dirty="0" smtClean="0">
                <a:solidFill>
                  <a:srgbClr val="000000"/>
                </a:solidFill>
              </a:rPr>
              <a:t>These websites are hosted on </a:t>
            </a:r>
            <a:r>
              <a:rPr lang="en-GB" sz="2000" dirty="0" err="1" smtClean="0">
                <a:solidFill>
                  <a:srgbClr val="000000"/>
                </a:solidFill>
              </a:rPr>
              <a:t>localhost</a:t>
            </a:r>
            <a:r>
              <a:rPr lang="en-GB" sz="2000" dirty="0" smtClean="0">
                <a:solidFill>
                  <a:srgbClr val="000000"/>
                </a:solidFill>
              </a:rPr>
              <a:t> via Apache’s Virtual Hosting, defined in </a:t>
            </a:r>
            <a:r>
              <a:rPr lang="fr-FR" sz="1800" dirty="0" smtClean="0">
                <a:latin typeface="Courier New" pitchFamily="49" charset="0"/>
                <a:cs typeface="Courier New" pitchFamily="49" charset="0"/>
              </a:rPr>
              <a:t>/</a:t>
            </a:r>
            <a:r>
              <a:rPr lang="fr-FR" sz="1800" dirty="0" err="1" smtClean="0">
                <a:latin typeface="Courier New" pitchFamily="49" charset="0"/>
                <a:cs typeface="Courier New" pitchFamily="49" charset="0"/>
              </a:rPr>
              <a:t>etc</a:t>
            </a:r>
            <a:r>
              <a:rPr lang="fr-FR" sz="1800" dirty="0" smtClean="0">
                <a:latin typeface="Courier New" pitchFamily="49" charset="0"/>
                <a:cs typeface="Courier New" pitchFamily="49" charset="0"/>
              </a:rPr>
              <a:t>/</a:t>
            </a:r>
            <a:r>
              <a:rPr lang="fr-FR" sz="1800" dirty="0" err="1" smtClean="0">
                <a:latin typeface="Courier New" pitchFamily="49" charset="0"/>
                <a:cs typeface="Courier New" pitchFamily="49" charset="0"/>
              </a:rPr>
              <a:t>apache2</a:t>
            </a:r>
            <a:r>
              <a:rPr lang="fr-FR" sz="1800" dirty="0" smtClean="0">
                <a:latin typeface="Courier New" pitchFamily="49" charset="0"/>
                <a:cs typeface="Courier New" pitchFamily="49" charset="0"/>
              </a:rPr>
              <a:t>/sites-</a:t>
            </a:r>
            <a:r>
              <a:rPr lang="fr-FR" sz="1800" dirty="0" err="1" smtClean="0">
                <a:latin typeface="Courier New" pitchFamily="49" charset="0"/>
                <a:cs typeface="Courier New" pitchFamily="49" charset="0"/>
              </a:rPr>
              <a:t>available</a:t>
            </a:r>
            <a:r>
              <a:rPr lang="fr-FR" sz="1800" dirty="0" smtClean="0">
                <a:latin typeface="Courier New" pitchFamily="49" charset="0"/>
                <a:cs typeface="Courier New" pitchFamily="49" charset="0"/>
              </a:rPr>
              <a:t>/000-</a:t>
            </a:r>
            <a:r>
              <a:rPr lang="fr-FR" sz="1800" dirty="0" err="1" smtClean="0">
                <a:latin typeface="Courier New" pitchFamily="49" charset="0"/>
                <a:cs typeface="Courier New" pitchFamily="49" charset="0"/>
              </a:rPr>
              <a:t>default.conf</a:t>
            </a:r>
            <a:r>
              <a:rPr lang="fr-FR" sz="1800" dirty="0" smtClean="0">
                <a:latin typeface="Courier New" pitchFamily="49" charset="0"/>
                <a:cs typeface="Courier New" pitchFamily="49" charset="0"/>
              </a:rPr>
              <a:t> </a:t>
            </a:r>
            <a:r>
              <a:rPr lang="fr-FR" sz="2000" dirty="0" smtClean="0"/>
              <a:t/>
            </a:r>
            <a:br>
              <a:rPr lang="fr-FR" sz="2000" dirty="0" smtClean="0"/>
            </a:br>
            <a:endParaRPr lang="en-GB" sz="2000" dirty="0">
              <a:solidFill>
                <a:srgbClr val="000000"/>
              </a:solidFill>
            </a:endParaRPr>
          </a:p>
        </p:txBody>
      </p:sp>
      <p:pic>
        <p:nvPicPr>
          <p:cNvPr id="86" name="Shape 86"/>
          <p:cNvPicPr preferRelativeResize="0"/>
          <p:nvPr/>
        </p:nvPicPr>
        <p:blipFill>
          <a:blip r:embed="rId5">
            <a:alphaModFix/>
          </a:blip>
          <a:stretch>
            <a:fillRect/>
          </a:stretch>
        </p:blipFill>
        <p:spPr>
          <a:xfrm>
            <a:off x="1013261" y="2905638"/>
            <a:ext cx="7185341" cy="1971500"/>
          </a:xfrm>
          <a:prstGeom prst="rect">
            <a:avLst/>
          </a:prstGeom>
          <a:noFill/>
          <a:ln>
            <a:noFill/>
          </a:ln>
        </p:spPr>
      </p:pic>
      <p:sp>
        <p:nvSpPr>
          <p:cNvPr id="5" name="Slide Number Placeholder 4"/>
          <p:cNvSpPr>
            <a:spLocks noGrp="1"/>
          </p:cNvSpPr>
          <p:nvPr>
            <p:ph type="sldNum" idx="12"/>
          </p:nvPr>
        </p:nvSpPr>
        <p:spPr/>
        <p:txBody>
          <a:bodyPr/>
          <a:lstStyle/>
          <a:p>
            <a:pPr marL="0" lvl="0" indent="0">
              <a:spcBef>
                <a:spcPts val="0"/>
              </a:spcBef>
              <a:buNone/>
            </a:pPr>
            <a:fld id="{00000000-1234-1234-1234-123412341234}" type="slidenum">
              <a:rPr lang="en-GB" smtClean="0"/>
              <a:pPr marL="0" lvl="0" indent="0">
                <a:spcBef>
                  <a:spcPts val="0"/>
                </a:spcBef>
                <a:buNone/>
              </a:pPr>
              <a:t>10</a:t>
            </a:fld>
            <a:endParaRPr lang="en-GB"/>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
        <p:nvSpPr>
          <p:cNvPr id="13" name="Rectangle 12"/>
          <p:cNvSpPr/>
          <p:nvPr/>
        </p:nvSpPr>
        <p:spPr>
          <a:xfrm>
            <a:off x="6912347" y="327176"/>
            <a:ext cx="1604996" cy="968224"/>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en-US"/>
          </a:p>
        </p:txBody>
      </p:sp>
      <p:sp>
        <p:nvSpPr>
          <p:cNvPr id="92" name="Shape 92"/>
          <p:cNvSpPr txBox="1">
            <a:spLocks noGrp="1"/>
          </p:cNvSpPr>
          <p:nvPr>
            <p:ph type="title"/>
          </p:nvPr>
        </p:nvSpPr>
        <p:spPr>
          <a:prstGeom prst="rect">
            <a:avLst/>
          </a:prstGeom>
        </p:spPr>
        <p:txBody>
          <a:bodyPr wrap="square" lIns="91425" tIns="91425" rIns="91425" bIns="91425" anchor="t" anchorCtr="0">
            <a:noAutofit/>
          </a:bodyPr>
          <a:lstStyle/>
          <a:p>
            <a:pPr marL="0" lvl="0" indent="0">
              <a:spcBef>
                <a:spcPts val="0"/>
              </a:spcBef>
              <a:buNone/>
            </a:pPr>
            <a:r>
              <a:rPr lang="en-GB" dirty="0" smtClean="0"/>
              <a:t>HTTP GET and POST Services</a:t>
            </a:r>
            <a:endParaRPr lang="en-GB" dirty="0"/>
          </a:p>
        </p:txBody>
      </p:sp>
      <p:sp>
        <p:nvSpPr>
          <p:cNvPr id="94" name="Shape 94"/>
          <p:cNvSpPr txBox="1"/>
          <p:nvPr/>
        </p:nvSpPr>
        <p:spPr>
          <a:xfrm>
            <a:off x="452421" y="1286862"/>
            <a:ext cx="8520600" cy="386100"/>
          </a:xfrm>
          <a:prstGeom prst="rect">
            <a:avLst/>
          </a:prstGeom>
          <a:noFill/>
          <a:ln>
            <a:noFill/>
          </a:ln>
        </p:spPr>
        <p:txBody>
          <a:bodyPr wrap="square" lIns="91425" tIns="91425" rIns="91425" bIns="91425" anchor="t" anchorCtr="0">
            <a:noAutofit/>
          </a:bodyPr>
          <a:lstStyle/>
          <a:p>
            <a:pPr marL="457200" lvl="0" indent="-317500">
              <a:spcBef>
                <a:spcPts val="0"/>
              </a:spcBef>
              <a:buSzPts val="1400"/>
              <a:buFont typeface="Wingdings" panose="05000000000000000000" pitchFamily="2" charset="2"/>
              <a:buChar char="q"/>
            </a:pPr>
            <a:r>
              <a:rPr lang="en-GB" sz="1800" dirty="0" smtClean="0"/>
              <a:t>HTTP GET requests: data (</a:t>
            </a:r>
            <a:r>
              <a:rPr lang="en-GB" sz="1800" dirty="0"/>
              <a:t>foo and bar</a:t>
            </a:r>
            <a:r>
              <a:rPr lang="en-GB" sz="1800" dirty="0" smtClean="0"/>
              <a:t>) are attached </a:t>
            </a:r>
            <a:r>
              <a:rPr lang="en-GB" sz="1800" dirty="0"/>
              <a:t>in the URL.</a:t>
            </a:r>
          </a:p>
        </p:txBody>
      </p:sp>
      <p:grpSp>
        <p:nvGrpSpPr>
          <p:cNvPr id="3" name="Group 2"/>
          <p:cNvGrpSpPr/>
          <p:nvPr/>
        </p:nvGrpSpPr>
        <p:grpSpPr>
          <a:xfrm>
            <a:off x="635431" y="1805647"/>
            <a:ext cx="7873138" cy="686707"/>
            <a:chOff x="525138" y="2128575"/>
            <a:chExt cx="7873138" cy="686707"/>
          </a:xfrm>
        </p:grpSpPr>
        <p:pic>
          <p:nvPicPr>
            <p:cNvPr id="95" name="Shape 95"/>
            <p:cNvPicPr preferRelativeResize="0"/>
            <p:nvPr/>
          </p:nvPicPr>
          <p:blipFill>
            <a:blip r:embed="rId3">
              <a:alphaModFix/>
            </a:blip>
            <a:stretch>
              <a:fillRect/>
            </a:stretch>
          </p:blipFill>
          <p:spPr>
            <a:xfrm>
              <a:off x="525138" y="2128575"/>
              <a:ext cx="7873126" cy="199625"/>
            </a:xfrm>
            <a:prstGeom prst="rect">
              <a:avLst/>
            </a:prstGeom>
            <a:noFill/>
            <a:ln>
              <a:noFill/>
            </a:ln>
          </p:spPr>
        </p:pic>
        <p:pic>
          <p:nvPicPr>
            <p:cNvPr id="96" name="Shape 96"/>
            <p:cNvPicPr preferRelativeResize="0"/>
            <p:nvPr/>
          </p:nvPicPr>
          <p:blipFill>
            <a:blip r:embed="rId4">
              <a:alphaModFix/>
            </a:blip>
            <a:stretch>
              <a:fillRect/>
            </a:stretch>
          </p:blipFill>
          <p:spPr>
            <a:xfrm>
              <a:off x="525150" y="2328200"/>
              <a:ext cx="7873126" cy="487082"/>
            </a:xfrm>
            <a:prstGeom prst="rect">
              <a:avLst/>
            </a:prstGeom>
            <a:noFill/>
            <a:ln>
              <a:noFill/>
            </a:ln>
          </p:spPr>
        </p:pic>
      </p:grpSp>
      <p:sp>
        <p:nvSpPr>
          <p:cNvPr id="97" name="Shape 97"/>
          <p:cNvSpPr txBox="1"/>
          <p:nvPr/>
        </p:nvSpPr>
        <p:spPr>
          <a:xfrm>
            <a:off x="452421" y="2625039"/>
            <a:ext cx="8520600" cy="665728"/>
          </a:xfrm>
          <a:prstGeom prst="rect">
            <a:avLst/>
          </a:prstGeom>
          <a:noFill/>
          <a:ln>
            <a:noFill/>
          </a:ln>
        </p:spPr>
        <p:txBody>
          <a:bodyPr wrap="square" lIns="91425" tIns="91425" rIns="91425" bIns="91425" anchor="t" anchorCtr="0">
            <a:noAutofit/>
          </a:bodyPr>
          <a:lstStyle/>
          <a:p>
            <a:pPr marL="457200" lvl="0" indent="-317500" rtl="0">
              <a:spcBef>
                <a:spcPts val="0"/>
              </a:spcBef>
              <a:buSzPts val="1400"/>
              <a:buFont typeface="Wingdings" panose="05000000000000000000" pitchFamily="2" charset="2"/>
              <a:buChar char="q"/>
            </a:pPr>
            <a:r>
              <a:rPr lang="en-GB" sz="1800" dirty="0" smtClean="0"/>
              <a:t>HTTP POST requests: data </a:t>
            </a:r>
            <a:r>
              <a:rPr lang="en-GB" sz="1800" dirty="0"/>
              <a:t>(foo and bar) </a:t>
            </a:r>
            <a:r>
              <a:rPr lang="en-GB" sz="1800" dirty="0" smtClean="0"/>
              <a:t>are placed inside </a:t>
            </a:r>
            <a:r>
              <a:rPr lang="en-GB" sz="1800" dirty="0"/>
              <a:t>the data field of the HTTP request.</a:t>
            </a:r>
          </a:p>
        </p:txBody>
      </p:sp>
      <p:pic>
        <p:nvPicPr>
          <p:cNvPr id="98" name="Shape 98"/>
          <p:cNvPicPr preferRelativeResize="0"/>
          <p:nvPr/>
        </p:nvPicPr>
        <p:blipFill>
          <a:blip r:embed="rId5">
            <a:alphaModFix/>
          </a:blip>
          <a:stretch>
            <a:fillRect/>
          </a:stretch>
        </p:blipFill>
        <p:spPr>
          <a:xfrm>
            <a:off x="635432" y="3444431"/>
            <a:ext cx="7873125" cy="1108525"/>
          </a:xfrm>
          <a:prstGeom prst="rect">
            <a:avLst/>
          </a:prstGeom>
          <a:noFill/>
          <a:ln>
            <a:noFill/>
          </a:ln>
        </p:spPr>
      </p:pic>
      <p:sp>
        <p:nvSpPr>
          <p:cNvPr id="9" name="TextBox 8"/>
          <p:cNvSpPr txBox="1"/>
          <p:nvPr/>
        </p:nvSpPr>
        <p:spPr>
          <a:xfrm>
            <a:off x="6944319" y="365542"/>
            <a:ext cx="433132" cy="307777"/>
          </a:xfrm>
          <a:prstGeom prst="rect">
            <a:avLst/>
          </a:prstGeom>
          <a:noFill/>
        </p:spPr>
        <p:txBody>
          <a:bodyPr wrap="none" rtlCol="0">
            <a:spAutoFit/>
          </a:bodyPr>
          <a:lstStyle/>
          <a:p>
            <a:r>
              <a:rPr lang="en-US" dirty="0" err="1" smtClean="0"/>
              <a:t>foo</a:t>
            </a:r>
            <a:endParaRPr lang="en-US" dirty="0"/>
          </a:p>
        </p:txBody>
      </p:sp>
      <p:sp>
        <p:nvSpPr>
          <p:cNvPr id="10" name="TextBox 9"/>
          <p:cNvSpPr txBox="1"/>
          <p:nvPr/>
        </p:nvSpPr>
        <p:spPr>
          <a:xfrm>
            <a:off x="6944319" y="659685"/>
            <a:ext cx="442750" cy="307777"/>
          </a:xfrm>
          <a:prstGeom prst="rect">
            <a:avLst/>
          </a:prstGeom>
          <a:noFill/>
        </p:spPr>
        <p:txBody>
          <a:bodyPr wrap="none" rtlCol="0">
            <a:spAutoFit/>
          </a:bodyPr>
          <a:lstStyle/>
          <a:p>
            <a:r>
              <a:rPr lang="en-US" dirty="0" smtClean="0"/>
              <a:t>bar</a:t>
            </a:r>
            <a:endParaRPr lang="en-US" dirty="0"/>
          </a:p>
        </p:txBody>
      </p:sp>
      <p:sp>
        <p:nvSpPr>
          <p:cNvPr id="11" name="Rectangle 10"/>
          <p:cNvSpPr/>
          <p:nvPr/>
        </p:nvSpPr>
        <p:spPr>
          <a:xfrm>
            <a:off x="7398322" y="442277"/>
            <a:ext cx="895216" cy="185437"/>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r>
              <a:rPr lang="en-US" dirty="0" smtClean="0"/>
              <a:t>hello</a:t>
            </a:r>
            <a:endParaRPr lang="en-US" dirty="0"/>
          </a:p>
        </p:txBody>
      </p:sp>
      <p:sp>
        <p:nvSpPr>
          <p:cNvPr id="12" name="Rectangle 11"/>
          <p:cNvSpPr/>
          <p:nvPr/>
        </p:nvSpPr>
        <p:spPr>
          <a:xfrm>
            <a:off x="7398322" y="730027"/>
            <a:ext cx="895216" cy="185437"/>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r>
              <a:rPr lang="en-US" dirty="0" smtClean="0"/>
              <a:t>world</a:t>
            </a:r>
            <a:endParaRPr lang="en-US" dirty="0"/>
          </a:p>
        </p:txBody>
      </p:sp>
      <p:sp>
        <p:nvSpPr>
          <p:cNvPr id="14" name="Slide Number Placeholder 13"/>
          <p:cNvSpPr>
            <a:spLocks noGrp="1"/>
          </p:cNvSpPr>
          <p:nvPr>
            <p:ph type="sldNum" idx="12"/>
          </p:nvPr>
        </p:nvSpPr>
        <p:spPr/>
        <p:txBody>
          <a:bodyPr/>
          <a:lstStyle/>
          <a:p>
            <a:pPr marL="0" lvl="0" indent="0">
              <a:spcBef>
                <a:spcPts val="0"/>
              </a:spcBef>
              <a:buNone/>
            </a:pPr>
            <a:fld id="{00000000-1234-1234-1234-123412341234}" type="slidenum">
              <a:rPr lang="en-GB" smtClean="0"/>
              <a:pPr marL="0" lvl="0" indent="0">
                <a:spcBef>
                  <a:spcPts val="0"/>
                </a:spcBef>
                <a:buNone/>
              </a:pPr>
              <a:t>11</a:t>
            </a:fld>
            <a:endParaRPr lang="en-GB"/>
          </a:p>
        </p:txBody>
      </p:sp>
      <p:sp>
        <p:nvSpPr>
          <p:cNvPr id="15" name="Rectangle 14"/>
          <p:cNvSpPr/>
          <p:nvPr/>
        </p:nvSpPr>
        <p:spPr>
          <a:xfrm>
            <a:off x="7349065" y="999068"/>
            <a:ext cx="762001" cy="237065"/>
          </a:xfrm>
          <a:prstGeom prst="rect">
            <a:avLst/>
          </a:prstGeom>
          <a:solidFill>
            <a:schemeClr val="bg1">
              <a:lumMod val="85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Submit</a:t>
            </a:r>
            <a:endParaRPr lang="en-US" dirty="0">
              <a:solidFill>
                <a:schemeClr val="tx1"/>
              </a:solidFill>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3" name="Shape 103"/>
          <p:cNvSpPr txBox="1">
            <a:spLocks noGrp="1"/>
          </p:cNvSpPr>
          <p:nvPr>
            <p:ph type="title"/>
          </p:nvPr>
        </p:nvSpPr>
        <p:spPr>
          <a:prstGeom prst="rect">
            <a:avLst/>
          </a:prstGeom>
        </p:spPr>
        <p:txBody>
          <a:bodyPr wrap="square" lIns="91425" tIns="91425" rIns="91425" bIns="91425" anchor="t" anchorCtr="0">
            <a:noAutofit/>
          </a:bodyPr>
          <a:lstStyle/>
          <a:p>
            <a:pPr marL="0" lvl="0" indent="0">
              <a:spcBef>
                <a:spcPts val="0"/>
              </a:spcBef>
              <a:buNone/>
            </a:pPr>
            <a:r>
              <a:rPr lang="en-GB" dirty="0"/>
              <a:t>CSRF Attack </a:t>
            </a:r>
            <a:r>
              <a:rPr lang="en-GB" dirty="0" smtClean="0"/>
              <a:t>on GET Requests - </a:t>
            </a:r>
            <a:r>
              <a:rPr lang="en-GB" dirty="0"/>
              <a:t>Basic Idea</a:t>
            </a:r>
          </a:p>
        </p:txBody>
      </p:sp>
      <p:sp>
        <p:nvSpPr>
          <p:cNvPr id="104" name="Shape 104"/>
          <p:cNvSpPr txBox="1">
            <a:spLocks noGrp="1"/>
          </p:cNvSpPr>
          <p:nvPr>
            <p:ph type="body" idx="1"/>
          </p:nvPr>
        </p:nvSpPr>
        <p:spPr>
          <a:prstGeom prst="rect">
            <a:avLst/>
          </a:prstGeom>
        </p:spPr>
        <p:txBody>
          <a:bodyPr wrap="square" lIns="91425" tIns="91425" rIns="91425" bIns="91425" anchor="t" anchorCtr="0">
            <a:noAutofit/>
          </a:bodyPr>
          <a:lstStyle/>
          <a:p>
            <a:pPr marL="457200" lvl="0" indent="-342900">
              <a:spcBef>
                <a:spcPts val="0"/>
              </a:spcBef>
              <a:spcAft>
                <a:spcPts val="0"/>
              </a:spcAft>
              <a:buClr>
                <a:srgbClr val="000000"/>
              </a:buClr>
              <a:buSzPts val="1800"/>
              <a:buChar char="●"/>
            </a:pPr>
            <a:r>
              <a:rPr lang="en-GB" sz="1800" dirty="0">
                <a:solidFill>
                  <a:srgbClr val="000000"/>
                </a:solidFill>
              </a:rPr>
              <a:t>Consider an online banking web application </a:t>
            </a:r>
            <a:r>
              <a:rPr lang="en-GB" sz="1800" u="sng" dirty="0" smtClean="0">
                <a:solidFill>
                  <a:srgbClr val="000000"/>
                </a:solidFill>
                <a:hlinkClick r:id="rId3"/>
              </a:rPr>
              <a:t>www.husbank.com</a:t>
            </a:r>
            <a:r>
              <a:rPr lang="en-GB" sz="1800" dirty="0" smtClean="0">
                <a:solidFill>
                  <a:srgbClr val="000000"/>
                </a:solidFill>
              </a:rPr>
              <a:t> </a:t>
            </a:r>
            <a:r>
              <a:rPr lang="en-GB" sz="1800" dirty="0">
                <a:solidFill>
                  <a:srgbClr val="000000"/>
                </a:solidFill>
              </a:rPr>
              <a:t>which allows users to transfer money from their accounts to other people’s accounts.</a:t>
            </a:r>
          </a:p>
          <a:p>
            <a:pPr marL="457200" lvl="0" indent="-342900">
              <a:spcBef>
                <a:spcPts val="0"/>
              </a:spcBef>
              <a:spcAft>
                <a:spcPts val="0"/>
              </a:spcAft>
              <a:buClr>
                <a:srgbClr val="000000"/>
              </a:buClr>
              <a:buSzPts val="1800"/>
              <a:buChar char="●"/>
            </a:pPr>
            <a:r>
              <a:rPr lang="en-GB" sz="1800" dirty="0" smtClean="0">
                <a:solidFill>
                  <a:srgbClr val="000000"/>
                </a:solidFill>
              </a:rPr>
              <a:t>A </a:t>
            </a:r>
            <a:r>
              <a:rPr lang="en-GB" sz="1800" dirty="0">
                <a:solidFill>
                  <a:srgbClr val="000000"/>
                </a:solidFill>
              </a:rPr>
              <a:t>user is logged in </a:t>
            </a:r>
            <a:r>
              <a:rPr lang="en-GB" sz="1800">
                <a:solidFill>
                  <a:srgbClr val="000000"/>
                </a:solidFill>
              </a:rPr>
              <a:t>into </a:t>
            </a:r>
            <a:r>
              <a:rPr lang="en-GB" sz="1800" smtClean="0">
                <a:solidFill>
                  <a:srgbClr val="000000"/>
                </a:solidFill>
              </a:rPr>
              <a:t>the bank </a:t>
            </a:r>
            <a:r>
              <a:rPr lang="en-GB" sz="1800" dirty="0">
                <a:solidFill>
                  <a:srgbClr val="000000"/>
                </a:solidFill>
              </a:rPr>
              <a:t>web application and has a session cookie which uniquely identifies the authenticated user.</a:t>
            </a:r>
          </a:p>
          <a:p>
            <a:pPr marL="457200" lvl="0" indent="-342900">
              <a:spcBef>
                <a:spcPts val="0"/>
              </a:spcBef>
              <a:buClr>
                <a:srgbClr val="000000"/>
              </a:buClr>
              <a:buSzPts val="1800"/>
              <a:buChar char="●"/>
            </a:pPr>
            <a:r>
              <a:rPr lang="en-GB" sz="1800" dirty="0">
                <a:solidFill>
                  <a:srgbClr val="000000"/>
                </a:solidFill>
              </a:rPr>
              <a:t>HTTP request to transfer $500 from his/her account to account 3220:</a:t>
            </a:r>
          </a:p>
          <a:p>
            <a:pPr marL="0" lvl="0" indent="457200" rtl="0">
              <a:spcBef>
                <a:spcPts val="0"/>
              </a:spcBef>
              <a:buNone/>
            </a:pPr>
            <a:r>
              <a:rPr lang="en-GB" sz="1800" u="sng" dirty="0">
                <a:solidFill>
                  <a:srgbClr val="000000"/>
                </a:solidFill>
                <a:hlinkClick r:id="rId4"/>
              </a:rPr>
              <a:t>http://</a:t>
            </a:r>
            <a:r>
              <a:rPr lang="en-GB" sz="1800" u="sng" dirty="0" smtClean="0">
                <a:solidFill>
                  <a:srgbClr val="000000"/>
                </a:solidFill>
                <a:hlinkClick r:id="rId4"/>
              </a:rPr>
              <a:t>www.husbank.com/transfer.php?to=3220&amp;amount=500</a:t>
            </a:r>
            <a:endParaRPr lang="en-GB" sz="1800" u="sng" dirty="0">
              <a:solidFill>
                <a:srgbClr val="000000"/>
              </a:solidFill>
              <a:hlinkClick r:id="rId4"/>
            </a:endParaRPr>
          </a:p>
          <a:p>
            <a:pPr marL="457200" lvl="0" indent="-342900" rtl="0">
              <a:spcBef>
                <a:spcPts val="0"/>
              </a:spcBef>
              <a:buClr>
                <a:srgbClr val="000000"/>
              </a:buClr>
              <a:buSzPts val="1800"/>
              <a:buChar char="●"/>
            </a:pPr>
            <a:r>
              <a:rPr lang="en-GB" sz="1800" dirty="0">
                <a:solidFill>
                  <a:srgbClr val="000000"/>
                </a:solidFill>
              </a:rPr>
              <a:t>In order to perform the attack, the attacker needs to send out the forged request from the victim’s machine so that the browsers will attach the victim’s session cookies with the requests.</a:t>
            </a:r>
          </a:p>
        </p:txBody>
      </p:sp>
      <p:sp>
        <p:nvSpPr>
          <p:cNvPr id="4" name="Rectangle 3"/>
          <p:cNvSpPr/>
          <p:nvPr/>
        </p:nvSpPr>
        <p:spPr>
          <a:xfrm>
            <a:off x="2397907" y="3644812"/>
            <a:ext cx="2417093" cy="1362008"/>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en-US"/>
          </a:p>
        </p:txBody>
      </p:sp>
      <p:pic>
        <p:nvPicPr>
          <p:cNvPr id="5" name="Picture 3"/>
          <p:cNvPicPr>
            <a:picLocks noChangeAspect="1" noChangeArrowheads="1"/>
          </p:cNvPicPr>
          <p:nvPr/>
        </p:nvPicPr>
        <p:blipFill>
          <a:blip r:embed="rId5"/>
          <a:srcRect/>
          <a:stretch>
            <a:fillRect/>
          </a:stretch>
        </p:blipFill>
        <p:spPr bwMode="auto">
          <a:xfrm>
            <a:off x="3357077" y="4041347"/>
            <a:ext cx="1258799" cy="866624"/>
          </a:xfrm>
          <a:prstGeom prst="rect">
            <a:avLst/>
          </a:prstGeom>
          <a:noFill/>
          <a:ln w="9525">
            <a:noFill/>
            <a:miter lim="800000"/>
            <a:headEnd/>
            <a:tailEnd/>
          </a:ln>
          <a:effectLst/>
        </p:spPr>
      </p:pic>
      <p:pic>
        <p:nvPicPr>
          <p:cNvPr id="6" name="Picture 5" descr="A Eulogy to Clip Art, in Clip Art - The Atlantic"/>
          <p:cNvPicPr>
            <a:picLocks noChangeAspect="1" noChangeArrowheads="1"/>
          </p:cNvPicPr>
          <p:nvPr/>
        </p:nvPicPr>
        <p:blipFill>
          <a:blip r:embed="rId6"/>
          <a:srcRect/>
          <a:stretch>
            <a:fillRect/>
          </a:stretch>
        </p:blipFill>
        <p:spPr bwMode="auto">
          <a:xfrm>
            <a:off x="6240939" y="3432147"/>
            <a:ext cx="1690632" cy="1109292"/>
          </a:xfrm>
          <a:prstGeom prst="rect">
            <a:avLst/>
          </a:prstGeom>
          <a:noFill/>
        </p:spPr>
      </p:pic>
      <p:sp>
        <p:nvSpPr>
          <p:cNvPr id="7" name="TextBox 6"/>
          <p:cNvSpPr txBox="1"/>
          <p:nvPr/>
        </p:nvSpPr>
        <p:spPr>
          <a:xfrm>
            <a:off x="6490322" y="4501677"/>
            <a:ext cx="1249060" cy="307777"/>
          </a:xfrm>
          <a:prstGeom prst="rect">
            <a:avLst/>
          </a:prstGeom>
          <a:noFill/>
        </p:spPr>
        <p:txBody>
          <a:bodyPr wrap="none" rtlCol="0">
            <a:spAutoFit/>
          </a:bodyPr>
          <a:lstStyle/>
          <a:p>
            <a:r>
              <a:rPr lang="en-US" dirty="0" smtClean="0"/>
              <a:t>husbank.com</a:t>
            </a:r>
            <a:endParaRPr lang="en-US" dirty="0"/>
          </a:p>
        </p:txBody>
      </p:sp>
      <p:sp>
        <p:nvSpPr>
          <p:cNvPr id="8" name="TextBox 7"/>
          <p:cNvSpPr txBox="1"/>
          <p:nvPr/>
        </p:nvSpPr>
        <p:spPr>
          <a:xfrm>
            <a:off x="3472166" y="4552831"/>
            <a:ext cx="1023037" cy="261610"/>
          </a:xfrm>
          <a:prstGeom prst="rect">
            <a:avLst/>
          </a:prstGeom>
          <a:noFill/>
        </p:spPr>
        <p:txBody>
          <a:bodyPr wrap="none" rtlCol="0">
            <a:spAutoFit/>
          </a:bodyPr>
          <a:lstStyle/>
          <a:p>
            <a:r>
              <a:rPr lang="en-US" sz="1100" dirty="0" smtClean="0"/>
              <a:t>husbank.com</a:t>
            </a:r>
            <a:endParaRPr lang="en-US" sz="1100" dirty="0"/>
          </a:p>
        </p:txBody>
      </p:sp>
      <p:pic>
        <p:nvPicPr>
          <p:cNvPr id="11" name="Picture 2"/>
          <p:cNvPicPr>
            <a:picLocks noChangeAspect="1" noChangeArrowheads="1"/>
          </p:cNvPicPr>
          <p:nvPr/>
        </p:nvPicPr>
        <p:blipFill>
          <a:blip r:embed="rId7"/>
          <a:srcRect/>
          <a:stretch>
            <a:fillRect/>
          </a:stretch>
        </p:blipFill>
        <p:spPr bwMode="auto">
          <a:xfrm>
            <a:off x="2630378" y="3781025"/>
            <a:ext cx="1218556" cy="835735"/>
          </a:xfrm>
          <a:prstGeom prst="rect">
            <a:avLst/>
          </a:prstGeom>
          <a:noFill/>
          <a:ln w="9525">
            <a:noFill/>
            <a:miter lim="800000"/>
            <a:headEnd/>
            <a:tailEnd/>
          </a:ln>
          <a:effectLst/>
        </p:spPr>
      </p:pic>
      <p:sp>
        <p:nvSpPr>
          <p:cNvPr id="12" name="TextBox 11"/>
          <p:cNvSpPr txBox="1"/>
          <p:nvPr/>
        </p:nvSpPr>
        <p:spPr>
          <a:xfrm>
            <a:off x="2743204" y="4105224"/>
            <a:ext cx="944489" cy="261610"/>
          </a:xfrm>
          <a:prstGeom prst="rect">
            <a:avLst/>
          </a:prstGeom>
          <a:noFill/>
        </p:spPr>
        <p:txBody>
          <a:bodyPr wrap="none" rtlCol="0">
            <a:spAutoFit/>
          </a:bodyPr>
          <a:lstStyle/>
          <a:p>
            <a:r>
              <a:rPr lang="en-US" sz="1100" dirty="0" smtClean="0"/>
              <a:t>badsite.com</a:t>
            </a:r>
            <a:endParaRPr lang="en-US" sz="1100" dirty="0"/>
          </a:p>
        </p:txBody>
      </p:sp>
      <p:sp>
        <p:nvSpPr>
          <p:cNvPr id="13" name="TextBox 12"/>
          <p:cNvSpPr txBox="1"/>
          <p:nvPr/>
        </p:nvSpPr>
        <p:spPr>
          <a:xfrm>
            <a:off x="2423396" y="4661507"/>
            <a:ext cx="841897" cy="307777"/>
          </a:xfrm>
          <a:prstGeom prst="rect">
            <a:avLst/>
          </a:prstGeom>
          <a:noFill/>
        </p:spPr>
        <p:txBody>
          <a:bodyPr wrap="none" rtlCol="0">
            <a:spAutoFit/>
          </a:bodyPr>
          <a:lstStyle/>
          <a:p>
            <a:r>
              <a:rPr lang="en-US" dirty="0" smtClean="0"/>
              <a:t>Browser</a:t>
            </a:r>
          </a:p>
        </p:txBody>
      </p:sp>
      <p:cxnSp>
        <p:nvCxnSpPr>
          <p:cNvPr id="14" name="Straight Arrow Connector 13"/>
          <p:cNvCxnSpPr>
            <a:endCxn id="6" idx="1"/>
          </p:cNvCxnSpPr>
          <p:nvPr/>
        </p:nvCxnSpPr>
        <p:spPr>
          <a:xfrm>
            <a:off x="3932559" y="3875011"/>
            <a:ext cx="2308380" cy="111782"/>
          </a:xfrm>
          <a:prstGeom prst="straightConnector1">
            <a:avLst/>
          </a:prstGeom>
          <a:ln>
            <a:tailEnd type="arrow"/>
          </a:ln>
        </p:spPr>
        <p:style>
          <a:lnRef idx="3">
            <a:schemeClr val="accent1"/>
          </a:lnRef>
          <a:fillRef idx="0">
            <a:schemeClr val="accent1"/>
          </a:fillRef>
          <a:effectRef idx="2">
            <a:schemeClr val="accent1"/>
          </a:effectRef>
          <a:fontRef idx="minor">
            <a:schemeClr val="tx1"/>
          </a:fontRef>
        </p:style>
      </p:cxnSp>
      <p:sp>
        <p:nvSpPr>
          <p:cNvPr id="15" name="TextBox 14"/>
          <p:cNvSpPr txBox="1"/>
          <p:nvPr/>
        </p:nvSpPr>
        <p:spPr>
          <a:xfrm rot="175183">
            <a:off x="4821998" y="3587075"/>
            <a:ext cx="1444626" cy="400110"/>
          </a:xfrm>
          <a:prstGeom prst="rect">
            <a:avLst/>
          </a:prstGeom>
          <a:noFill/>
        </p:spPr>
        <p:txBody>
          <a:bodyPr wrap="none" rtlCol="0">
            <a:spAutoFit/>
          </a:bodyPr>
          <a:lstStyle/>
          <a:p>
            <a:r>
              <a:rPr lang="en-US" sz="1000" dirty="0" smtClean="0"/>
              <a:t>Forged HTTP GET + </a:t>
            </a:r>
          </a:p>
          <a:p>
            <a:r>
              <a:rPr lang="en-US" sz="1000" dirty="0" smtClean="0"/>
              <a:t>authentication cookies</a:t>
            </a:r>
          </a:p>
        </p:txBody>
      </p:sp>
      <p:sp>
        <p:nvSpPr>
          <p:cNvPr id="17" name="TextBox 16"/>
          <p:cNvSpPr txBox="1"/>
          <p:nvPr/>
        </p:nvSpPr>
        <p:spPr>
          <a:xfrm rot="175183">
            <a:off x="5064085" y="3919366"/>
            <a:ext cx="934871" cy="553998"/>
          </a:xfrm>
          <a:prstGeom prst="rect">
            <a:avLst/>
          </a:prstGeom>
          <a:noFill/>
        </p:spPr>
        <p:txBody>
          <a:bodyPr wrap="none" rtlCol="0">
            <a:spAutoFit/>
          </a:bodyPr>
          <a:lstStyle/>
          <a:p>
            <a:r>
              <a:rPr lang="en-GB" sz="1000" u="sng" dirty="0" smtClean="0">
                <a:hlinkClick r:id="rId4"/>
              </a:rPr>
              <a:t>transfer.php?</a:t>
            </a:r>
          </a:p>
          <a:p>
            <a:r>
              <a:rPr lang="en-GB" sz="1000" u="sng" dirty="0" smtClean="0">
                <a:hlinkClick r:id="rId4"/>
              </a:rPr>
              <a:t>to=3220&amp;</a:t>
            </a:r>
          </a:p>
          <a:p>
            <a:r>
              <a:rPr lang="en-GB" sz="1000" u="sng" dirty="0" smtClean="0">
                <a:hlinkClick r:id="rId4"/>
              </a:rPr>
              <a:t>amount=500</a:t>
            </a:r>
            <a:endParaRPr lang="en-US" sz="1000" dirty="0" smtClean="0"/>
          </a:p>
        </p:txBody>
      </p:sp>
      <p:cxnSp>
        <p:nvCxnSpPr>
          <p:cNvPr id="23" name="Straight Connector 22"/>
          <p:cNvCxnSpPr/>
          <p:nvPr/>
        </p:nvCxnSpPr>
        <p:spPr>
          <a:xfrm flipV="1">
            <a:off x="4648733" y="4444112"/>
            <a:ext cx="1636968" cy="364481"/>
          </a:xfrm>
          <a:prstGeom prst="line">
            <a:avLst/>
          </a:prstGeom>
          <a:ln>
            <a:prstDash val="sysDash"/>
          </a:ln>
        </p:spPr>
        <p:style>
          <a:lnRef idx="3">
            <a:schemeClr val="accent1"/>
          </a:lnRef>
          <a:fillRef idx="0">
            <a:schemeClr val="accent1"/>
          </a:fillRef>
          <a:effectRef idx="2">
            <a:schemeClr val="accent1"/>
          </a:effectRef>
          <a:fontRef idx="minor">
            <a:schemeClr val="tx1"/>
          </a:fontRef>
        </p:style>
      </p:cxnSp>
      <p:sp>
        <p:nvSpPr>
          <p:cNvPr id="24" name="TextBox 23"/>
          <p:cNvSpPr txBox="1"/>
          <p:nvPr/>
        </p:nvSpPr>
        <p:spPr>
          <a:xfrm rot="20927889">
            <a:off x="4897932" y="4558999"/>
            <a:ext cx="1521570" cy="415498"/>
          </a:xfrm>
          <a:prstGeom prst="rect">
            <a:avLst/>
          </a:prstGeom>
          <a:noFill/>
        </p:spPr>
        <p:txBody>
          <a:bodyPr wrap="none" rtlCol="0">
            <a:spAutoFit/>
          </a:bodyPr>
          <a:lstStyle/>
          <a:p>
            <a:r>
              <a:rPr lang="en-US" sz="1050" dirty="0" smtClean="0"/>
              <a:t>Logged in with </a:t>
            </a:r>
          </a:p>
          <a:p>
            <a:r>
              <a:rPr lang="en-US" sz="1050" dirty="0" smtClean="0"/>
              <a:t>authentication cookies</a:t>
            </a:r>
            <a:endParaRPr lang="en-US" sz="1050" dirty="0"/>
          </a:p>
        </p:txBody>
      </p:sp>
      <p:sp>
        <p:nvSpPr>
          <p:cNvPr id="25" name="Slide Number Placeholder 24"/>
          <p:cNvSpPr>
            <a:spLocks noGrp="1"/>
          </p:cNvSpPr>
          <p:nvPr>
            <p:ph type="sldNum" idx="12"/>
          </p:nvPr>
        </p:nvSpPr>
        <p:spPr/>
        <p:txBody>
          <a:bodyPr/>
          <a:lstStyle/>
          <a:p>
            <a:pPr marL="0" lvl="0" indent="0">
              <a:spcBef>
                <a:spcPts val="0"/>
              </a:spcBef>
              <a:buNone/>
            </a:pPr>
            <a:fld id="{00000000-1234-1234-1234-123412341234}" type="slidenum">
              <a:rPr lang="en-GB" smtClean="0"/>
              <a:pPr marL="0" lvl="0" indent="0">
                <a:spcBef>
                  <a:spcPts val="0"/>
                </a:spcBef>
                <a:buNone/>
              </a:pPr>
              <a:t>12</a:t>
            </a:fld>
            <a:endParaRPr lang="en-GB"/>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sp>
        <p:nvSpPr>
          <p:cNvPr id="109" name="Shape 109"/>
          <p:cNvSpPr txBox="1">
            <a:spLocks noGrp="1"/>
          </p:cNvSpPr>
          <p:nvPr>
            <p:ph type="title"/>
          </p:nvPr>
        </p:nvSpPr>
        <p:spPr>
          <a:prstGeom prst="rect">
            <a:avLst/>
          </a:prstGeom>
        </p:spPr>
        <p:txBody>
          <a:bodyPr wrap="square" lIns="91425" tIns="91425" rIns="91425" bIns="91425" anchor="t" anchorCtr="0">
            <a:noAutofit/>
          </a:bodyPr>
          <a:lstStyle/>
          <a:p>
            <a:pPr marL="0" lvl="0" indent="-69850">
              <a:spcBef>
                <a:spcPts val="0"/>
              </a:spcBef>
              <a:buClr>
                <a:schemeClr val="dk1"/>
              </a:buClr>
              <a:buSzPts val="1100"/>
              <a:buFont typeface="Arial"/>
              <a:buNone/>
            </a:pPr>
            <a:r>
              <a:rPr lang="en-GB" dirty="0"/>
              <a:t>CSRF </a:t>
            </a:r>
            <a:r>
              <a:rPr lang="en-GB" dirty="0" smtClean="0"/>
              <a:t>Attack on GET Requests </a:t>
            </a:r>
            <a:r>
              <a:rPr lang="en-GB" dirty="0"/>
              <a:t>- Basic Idea</a:t>
            </a:r>
          </a:p>
        </p:txBody>
      </p:sp>
      <p:sp>
        <p:nvSpPr>
          <p:cNvPr id="110" name="Shape 110"/>
          <p:cNvSpPr txBox="1">
            <a:spLocks noGrp="1"/>
          </p:cNvSpPr>
          <p:nvPr>
            <p:ph type="body" idx="1"/>
          </p:nvPr>
        </p:nvSpPr>
        <p:spPr>
          <a:xfrm>
            <a:off x="311700" y="1152475"/>
            <a:ext cx="8520600" cy="1879800"/>
          </a:xfrm>
          <a:prstGeom prst="rect">
            <a:avLst/>
          </a:prstGeom>
        </p:spPr>
        <p:txBody>
          <a:bodyPr wrap="square" lIns="91425" tIns="91425" rIns="91425" bIns="91425" anchor="t" anchorCtr="0">
            <a:noAutofit/>
          </a:bodyPr>
          <a:lstStyle/>
          <a:p>
            <a:pPr>
              <a:spcAft>
                <a:spcPts val="600"/>
              </a:spcAft>
            </a:pPr>
            <a:r>
              <a:rPr lang="en-GB" dirty="0">
                <a:solidFill>
                  <a:srgbClr val="000000"/>
                </a:solidFill>
              </a:rPr>
              <a:t>The attacker can place </a:t>
            </a:r>
            <a:r>
              <a:rPr lang="en-GB" dirty="0" smtClean="0">
                <a:solidFill>
                  <a:srgbClr val="000000"/>
                </a:solidFill>
              </a:rPr>
              <a:t>a </a:t>
            </a:r>
            <a:r>
              <a:rPr lang="en-GB" dirty="0">
                <a:solidFill>
                  <a:srgbClr val="000000"/>
                </a:solidFill>
              </a:rPr>
              <a:t>piece of code (to trigger request) in the form of </a:t>
            </a:r>
            <a:r>
              <a:rPr lang="en-GB" dirty="0" err="1">
                <a:solidFill>
                  <a:srgbClr val="000000"/>
                </a:solidFill>
              </a:rPr>
              <a:t>Javascript</a:t>
            </a:r>
            <a:r>
              <a:rPr lang="en-GB" dirty="0">
                <a:solidFill>
                  <a:srgbClr val="000000"/>
                </a:solidFill>
              </a:rPr>
              <a:t> code in the attacker’s web </a:t>
            </a:r>
            <a:r>
              <a:rPr lang="en-GB" dirty="0" smtClean="0">
                <a:solidFill>
                  <a:srgbClr val="000000"/>
                </a:solidFill>
              </a:rPr>
              <a:t>page.</a:t>
            </a:r>
          </a:p>
          <a:p>
            <a:pPr>
              <a:spcAft>
                <a:spcPts val="600"/>
              </a:spcAft>
            </a:pPr>
            <a:r>
              <a:rPr lang="en-GB" dirty="0" smtClean="0">
                <a:solidFill>
                  <a:srgbClr val="000000"/>
                </a:solidFill>
              </a:rPr>
              <a:t>HTML </a:t>
            </a:r>
            <a:r>
              <a:rPr lang="en-GB" dirty="0">
                <a:solidFill>
                  <a:srgbClr val="000000"/>
                </a:solidFill>
              </a:rPr>
              <a:t>tags like </a:t>
            </a:r>
            <a:r>
              <a:rPr lang="en-GB" dirty="0" err="1">
                <a:solidFill>
                  <a:srgbClr val="000000"/>
                </a:solidFill>
                <a:latin typeface="Courier New" pitchFamily="49" charset="0"/>
                <a:cs typeface="Courier New" pitchFamily="49" charset="0"/>
              </a:rPr>
              <a:t>img</a:t>
            </a:r>
            <a:r>
              <a:rPr lang="en-GB" dirty="0">
                <a:solidFill>
                  <a:srgbClr val="000000"/>
                </a:solidFill>
              </a:rPr>
              <a:t> and </a:t>
            </a:r>
            <a:r>
              <a:rPr lang="en-GB" sz="2000" dirty="0" err="1">
                <a:solidFill>
                  <a:srgbClr val="000000"/>
                </a:solidFill>
                <a:latin typeface="Courier New" pitchFamily="49" charset="0"/>
                <a:cs typeface="Courier New" pitchFamily="49" charset="0"/>
              </a:rPr>
              <a:t>iframe</a:t>
            </a:r>
            <a:r>
              <a:rPr lang="en-GB" dirty="0">
                <a:solidFill>
                  <a:srgbClr val="000000"/>
                </a:solidFill>
              </a:rPr>
              <a:t> can trigger GET requests to the URL specified in </a:t>
            </a:r>
            <a:r>
              <a:rPr lang="en-GB" sz="2000" dirty="0" err="1">
                <a:solidFill>
                  <a:srgbClr val="000000"/>
                </a:solidFill>
                <a:latin typeface="Courier New" pitchFamily="49" charset="0"/>
                <a:cs typeface="Courier New" pitchFamily="49" charset="0"/>
              </a:rPr>
              <a:t>src</a:t>
            </a:r>
            <a:r>
              <a:rPr lang="en-GB" dirty="0">
                <a:solidFill>
                  <a:srgbClr val="000000"/>
                </a:solidFill>
              </a:rPr>
              <a:t> attribute. Response for this request will be an image/webpage. </a:t>
            </a:r>
          </a:p>
        </p:txBody>
      </p:sp>
      <p:sp>
        <p:nvSpPr>
          <p:cNvPr id="5" name="Slide Number Placeholder 4"/>
          <p:cNvSpPr>
            <a:spLocks noGrp="1"/>
          </p:cNvSpPr>
          <p:nvPr>
            <p:ph type="sldNum" idx="12"/>
          </p:nvPr>
        </p:nvSpPr>
        <p:spPr/>
        <p:txBody>
          <a:bodyPr/>
          <a:lstStyle/>
          <a:p>
            <a:pPr marL="0" lvl="0" indent="0">
              <a:spcBef>
                <a:spcPts val="0"/>
              </a:spcBef>
              <a:buNone/>
            </a:pPr>
            <a:fld id="{00000000-1234-1234-1234-123412341234}" type="slidenum">
              <a:rPr lang="en-GB" smtClean="0"/>
              <a:pPr marL="0" lvl="0" indent="0">
                <a:spcBef>
                  <a:spcPts val="0"/>
                </a:spcBef>
                <a:buNone/>
              </a:pPr>
              <a:t>13</a:t>
            </a:fld>
            <a:endParaRPr lang="en-GB"/>
          </a:p>
        </p:txBody>
      </p:sp>
      <p:sp>
        <p:nvSpPr>
          <p:cNvPr id="6" name="TextBox 5"/>
          <p:cNvSpPr txBox="1"/>
          <p:nvPr/>
        </p:nvSpPr>
        <p:spPr>
          <a:xfrm>
            <a:off x="344658" y="3066756"/>
            <a:ext cx="8032968" cy="1246495"/>
          </a:xfrm>
          <a:prstGeom prst="rect">
            <a:avLst/>
          </a:prstGeom>
          <a:solidFill>
            <a:schemeClr val="bg1">
              <a:lumMod val="85000"/>
            </a:schemeClr>
          </a:solidFill>
        </p:spPr>
        <p:txBody>
          <a:bodyPr wrap="none" rtlCol="0">
            <a:spAutoFit/>
          </a:bodyPr>
          <a:lstStyle/>
          <a:p>
            <a:r>
              <a:rPr lang="en-US" sz="1500" b="1" dirty="0" smtClean="0">
                <a:latin typeface="Courier New" pitchFamily="49" charset="0"/>
                <a:cs typeface="Courier New" pitchFamily="49" charset="0"/>
              </a:rPr>
              <a:t>&lt;img src=“http://www.husbank.com/transfer.php?to=3220&amp;amount=500”?&gt;</a:t>
            </a:r>
          </a:p>
          <a:p>
            <a:endParaRPr lang="en-US" sz="1500" b="1" dirty="0" smtClean="0">
              <a:latin typeface="Courier New" pitchFamily="49" charset="0"/>
              <a:cs typeface="Courier New" pitchFamily="49" charset="0"/>
            </a:endParaRPr>
          </a:p>
          <a:p>
            <a:r>
              <a:rPr lang="en-US" sz="1500" b="1" dirty="0" smtClean="0">
                <a:latin typeface="Courier New" pitchFamily="49" charset="0"/>
                <a:cs typeface="Courier New" pitchFamily="49" charset="0"/>
              </a:rPr>
              <a:t>&lt;iframe</a:t>
            </a:r>
          </a:p>
          <a:p>
            <a:r>
              <a:rPr lang="en-US" sz="1500" b="1" dirty="0" smtClean="0">
                <a:latin typeface="Courier New" pitchFamily="49" charset="0"/>
                <a:cs typeface="Courier New" pitchFamily="49" charset="0"/>
              </a:rPr>
              <a:t>    </a:t>
            </a:r>
            <a:r>
              <a:rPr lang="en-US" sz="1500" b="1" dirty="0" err="1" smtClean="0">
                <a:latin typeface="Courier New" pitchFamily="49" charset="0"/>
                <a:cs typeface="Courier New" pitchFamily="49" charset="0"/>
              </a:rPr>
              <a:t>src</a:t>
            </a:r>
            <a:r>
              <a:rPr lang="en-US" sz="1500" b="1" dirty="0" smtClean="0">
                <a:latin typeface="Courier New" pitchFamily="49" charset="0"/>
                <a:cs typeface="Courier New" pitchFamily="49" charset="0"/>
              </a:rPr>
              <a:t>=“http://www.husbank.com/transfer.php?to=3220&amp;amount=500”?&gt;</a:t>
            </a:r>
          </a:p>
          <a:p>
            <a:r>
              <a:rPr lang="en-US" sz="1500" b="1" dirty="0" smtClean="0">
                <a:latin typeface="Courier New" pitchFamily="49" charset="0"/>
                <a:cs typeface="Courier New" pitchFamily="49" charset="0"/>
              </a:rPr>
              <a:t>&lt;/iframe&gt;</a:t>
            </a:r>
          </a:p>
        </p:txBody>
      </p:sp>
      <p:sp>
        <p:nvSpPr>
          <p:cNvPr id="7" name="Rectangle 6"/>
          <p:cNvSpPr/>
          <p:nvPr/>
        </p:nvSpPr>
        <p:spPr>
          <a:xfrm>
            <a:off x="1522827" y="3092254"/>
            <a:ext cx="6460588" cy="228600"/>
          </a:xfrm>
          <a:prstGeom prst="rect">
            <a:avLst/>
          </a:prstGeom>
          <a:solidFill>
            <a:srgbClr val="FFFF00">
              <a:alpha val="25000"/>
            </a:srgbClr>
          </a:solidFill>
          <a:ln w="1270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Line Callout 1 9"/>
          <p:cNvSpPr/>
          <p:nvPr/>
        </p:nvSpPr>
        <p:spPr>
          <a:xfrm>
            <a:off x="6942406" y="2665828"/>
            <a:ext cx="184731" cy="307777"/>
          </a:xfrm>
          <a:prstGeom prst="borderCallout1">
            <a:avLst/>
          </a:prstGeom>
          <a:noFill/>
        </p:spPr>
        <p:txBody>
          <a:bodyPr wrap="none" rtlCol="0">
            <a:spAutoFit/>
          </a:bodyPr>
          <a:lstStyle/>
          <a:p>
            <a:endParaRPr lang="en-US" i="1" dirty="0" smtClean="0">
              <a:solidFill>
                <a:srgbClr val="000000"/>
              </a:solidFill>
              <a:latin typeface="Arial"/>
              <a:ea typeface="Arial"/>
              <a:cs typeface="Arial"/>
            </a:endParaRPr>
          </a:p>
        </p:txBody>
      </p:sp>
      <p:sp>
        <p:nvSpPr>
          <p:cNvPr id="11" name="Line Callout 1 10"/>
          <p:cNvSpPr/>
          <p:nvPr/>
        </p:nvSpPr>
        <p:spPr>
          <a:xfrm>
            <a:off x="5261316" y="2623625"/>
            <a:ext cx="3193367" cy="267286"/>
          </a:xfrm>
          <a:prstGeom prst="borderCallout1">
            <a:avLst>
              <a:gd name="adj1" fmla="val 18750"/>
              <a:gd name="adj2" fmla="val -8333"/>
              <a:gd name="adj3" fmla="val 165132"/>
              <a:gd name="adj4" fmla="val -31285"/>
            </a:avLst>
          </a:prstGeom>
        </p:spPr>
        <p:style>
          <a:lnRef idx="2">
            <a:schemeClr val="accent1"/>
          </a:lnRef>
          <a:fillRef idx="1">
            <a:schemeClr val="lt1"/>
          </a:fillRef>
          <a:effectRef idx="0">
            <a:schemeClr val="accent1"/>
          </a:effectRef>
          <a:fontRef idx="minor">
            <a:schemeClr val="dk1"/>
          </a:fontRef>
        </p:style>
        <p:txBody>
          <a:bodyPr rtlCol="0" anchor="ctr"/>
          <a:lstStyle/>
          <a:p>
            <a:r>
              <a:rPr lang="en-US" i="1" dirty="0" smtClean="0"/>
              <a:t>supposed to be the URL to an image</a:t>
            </a:r>
            <a:endParaRPr lang="en-US" i="1" dirty="0"/>
          </a:p>
        </p:txBody>
      </p:sp>
      <p:sp>
        <p:nvSpPr>
          <p:cNvPr id="12" name="Line Callout 1 11"/>
          <p:cNvSpPr/>
          <p:nvPr/>
        </p:nvSpPr>
        <p:spPr>
          <a:xfrm>
            <a:off x="4621236" y="4339883"/>
            <a:ext cx="3193367" cy="267286"/>
          </a:xfrm>
          <a:prstGeom prst="borderCallout1">
            <a:avLst>
              <a:gd name="adj1" fmla="val 18750"/>
              <a:gd name="adj2" fmla="val -8333"/>
              <a:gd name="adj3" fmla="val -103289"/>
              <a:gd name="adj4" fmla="val -19611"/>
            </a:avLst>
          </a:prstGeom>
        </p:spPr>
        <p:style>
          <a:lnRef idx="2">
            <a:schemeClr val="accent1"/>
          </a:lnRef>
          <a:fillRef idx="1">
            <a:schemeClr val="lt1"/>
          </a:fillRef>
          <a:effectRef idx="0">
            <a:schemeClr val="accent1"/>
          </a:effectRef>
          <a:fontRef idx="minor">
            <a:schemeClr val="dk1"/>
          </a:fontRef>
        </p:style>
        <p:txBody>
          <a:bodyPr rtlCol="0" anchor="ctr"/>
          <a:lstStyle/>
          <a:p>
            <a:r>
              <a:rPr lang="en-US" i="1" dirty="0" smtClean="0"/>
              <a:t>supposed to be the URL to a web page</a:t>
            </a:r>
            <a:endParaRPr lang="en-US" i="1" dirty="0"/>
          </a:p>
        </p:txBody>
      </p:sp>
      <p:sp>
        <p:nvSpPr>
          <p:cNvPr id="13" name="Rectangle 12"/>
          <p:cNvSpPr/>
          <p:nvPr/>
        </p:nvSpPr>
        <p:spPr>
          <a:xfrm>
            <a:off x="1438420" y="3788604"/>
            <a:ext cx="6460588" cy="228600"/>
          </a:xfrm>
          <a:prstGeom prst="rect">
            <a:avLst/>
          </a:prstGeom>
          <a:solidFill>
            <a:srgbClr val="FFFF00">
              <a:alpha val="25000"/>
            </a:srgbClr>
          </a:solidFill>
          <a:ln w="1270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CSRF Attack on Elgg</a:t>
            </a:r>
            <a:endParaRPr lang="en-US" dirty="0"/>
          </a:p>
        </p:txBody>
      </p:sp>
      <p:sp>
        <p:nvSpPr>
          <p:cNvPr id="4" name="Slide Number Placeholder 3"/>
          <p:cNvSpPr>
            <a:spLocks noGrp="1"/>
          </p:cNvSpPr>
          <p:nvPr>
            <p:ph type="sldNum" idx="12"/>
          </p:nvPr>
        </p:nvSpPr>
        <p:spPr/>
        <p:txBody>
          <a:bodyPr/>
          <a:lstStyle/>
          <a:p>
            <a:pPr marL="0" lvl="0" indent="0">
              <a:spcBef>
                <a:spcPts val="0"/>
              </a:spcBef>
              <a:buNone/>
            </a:pPr>
            <a:fld id="{00000000-1234-1234-1234-123412341234}" type="slidenum">
              <a:rPr lang="en-GB" smtClean="0"/>
              <a:pPr marL="0" lvl="0" indent="0">
                <a:spcBef>
                  <a:spcPts val="0"/>
                </a:spcBef>
                <a:buNone/>
              </a:pPr>
              <a:t>14</a:t>
            </a:fld>
            <a:endParaRPr lang="en-GB"/>
          </a:p>
        </p:txBody>
      </p:sp>
      <p:grpSp>
        <p:nvGrpSpPr>
          <p:cNvPr id="7" name="Group 6"/>
          <p:cNvGrpSpPr/>
          <p:nvPr/>
        </p:nvGrpSpPr>
        <p:grpSpPr>
          <a:xfrm>
            <a:off x="1515533" y="1227666"/>
            <a:ext cx="5528733" cy="3611616"/>
            <a:chOff x="1381655" y="776817"/>
            <a:chExt cx="5950478" cy="4104799"/>
          </a:xfrm>
        </p:grpSpPr>
        <p:pic>
          <p:nvPicPr>
            <p:cNvPr id="2050" name="Picture 2"/>
            <p:cNvPicPr>
              <a:picLocks noChangeAspect="1" noChangeArrowheads="1"/>
            </p:cNvPicPr>
            <p:nvPr/>
          </p:nvPicPr>
          <p:blipFill>
            <a:blip r:embed="rId2"/>
            <a:srcRect/>
            <a:stretch>
              <a:fillRect/>
            </a:stretch>
          </p:blipFill>
          <p:spPr bwMode="auto">
            <a:xfrm>
              <a:off x="1381655" y="1426636"/>
              <a:ext cx="5950478" cy="3454980"/>
            </a:xfrm>
            <a:prstGeom prst="rect">
              <a:avLst/>
            </a:prstGeom>
            <a:noFill/>
            <a:ln w="9525">
              <a:noFill/>
              <a:miter lim="800000"/>
              <a:headEnd/>
              <a:tailEnd/>
            </a:ln>
            <a:effectLst/>
          </p:spPr>
        </p:pic>
        <p:pic>
          <p:nvPicPr>
            <p:cNvPr id="2051" name="Picture 3"/>
            <p:cNvPicPr>
              <a:picLocks noChangeAspect="1" noChangeArrowheads="1"/>
            </p:cNvPicPr>
            <p:nvPr/>
          </p:nvPicPr>
          <p:blipFill>
            <a:blip r:embed="rId3"/>
            <a:srcRect r="53038"/>
            <a:stretch>
              <a:fillRect/>
            </a:stretch>
          </p:blipFill>
          <p:spPr bwMode="auto">
            <a:xfrm>
              <a:off x="1431395" y="776817"/>
              <a:ext cx="5900738" cy="714375"/>
            </a:xfrm>
            <a:prstGeom prst="rect">
              <a:avLst/>
            </a:prstGeom>
            <a:noFill/>
            <a:ln w="9525">
              <a:noFill/>
              <a:miter lim="800000"/>
              <a:headEnd/>
              <a:tailEnd/>
            </a:ln>
            <a:effectLst/>
          </p:spPr>
        </p:pic>
      </p:gr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err="1" smtClean="0"/>
              <a:t>CSRF</a:t>
            </a:r>
            <a:r>
              <a:rPr lang="en-US" dirty="0" smtClean="0"/>
              <a:t> Attack on </a:t>
            </a:r>
            <a:r>
              <a:rPr lang="en-US" dirty="0" err="1" smtClean="0"/>
              <a:t>Elgg</a:t>
            </a:r>
            <a:endParaRPr lang="en-US" dirty="0"/>
          </a:p>
        </p:txBody>
      </p:sp>
      <p:sp>
        <p:nvSpPr>
          <p:cNvPr id="3" name="Text Placeholder 2"/>
          <p:cNvSpPr>
            <a:spLocks noGrp="1"/>
          </p:cNvSpPr>
          <p:nvPr>
            <p:ph type="body" idx="1"/>
          </p:nvPr>
        </p:nvSpPr>
        <p:spPr/>
        <p:txBody>
          <a:bodyPr/>
          <a:lstStyle/>
          <a:p>
            <a:r>
              <a:rPr lang="en-US" dirty="0" err="1" smtClean="0"/>
              <a:t>Elgg’s</a:t>
            </a:r>
            <a:r>
              <a:rPr lang="en-US" dirty="0" smtClean="0"/>
              <a:t> countermeasure on </a:t>
            </a:r>
            <a:r>
              <a:rPr lang="en-US" dirty="0" err="1" smtClean="0"/>
              <a:t>CSRF</a:t>
            </a:r>
            <a:r>
              <a:rPr lang="en-US" dirty="0" smtClean="0"/>
              <a:t> has been disabled for the experiment purpose</a:t>
            </a:r>
          </a:p>
          <a:p>
            <a:r>
              <a:rPr lang="en-US" dirty="0" err="1" smtClean="0"/>
              <a:t>Elgg</a:t>
            </a:r>
            <a:r>
              <a:rPr lang="en-US" dirty="0" smtClean="0"/>
              <a:t> is running at </a:t>
            </a:r>
            <a:r>
              <a:rPr lang="en-US" dirty="0" smtClean="0">
                <a:hlinkClick r:id="rId2"/>
              </a:rPr>
              <a:t>http://www.csrflabelgg.com/</a:t>
            </a:r>
            <a:r>
              <a:rPr lang="en-US" dirty="0" smtClean="0"/>
              <a:t> , installed on the local machine</a:t>
            </a:r>
          </a:p>
          <a:p>
            <a:r>
              <a:rPr lang="en-US" dirty="0" smtClean="0"/>
              <a:t>Accounts already created for the experiment</a:t>
            </a:r>
          </a:p>
          <a:p>
            <a:pPr>
              <a:buNone/>
            </a:pPr>
            <a:endParaRPr lang="en-US" dirty="0" smtClean="0"/>
          </a:p>
          <a:p>
            <a:endParaRPr lang="en-US" dirty="0"/>
          </a:p>
        </p:txBody>
      </p:sp>
      <p:sp>
        <p:nvSpPr>
          <p:cNvPr id="4" name="Slide Number Placeholder 3"/>
          <p:cNvSpPr>
            <a:spLocks noGrp="1"/>
          </p:cNvSpPr>
          <p:nvPr>
            <p:ph type="sldNum" idx="12"/>
          </p:nvPr>
        </p:nvSpPr>
        <p:spPr/>
        <p:txBody>
          <a:bodyPr/>
          <a:lstStyle/>
          <a:p>
            <a:pPr marL="0" lvl="0" indent="0">
              <a:spcBef>
                <a:spcPts val="0"/>
              </a:spcBef>
              <a:buNone/>
            </a:pPr>
            <a:fld id="{00000000-1234-1234-1234-123412341234}" type="slidenum">
              <a:rPr lang="en-GB" smtClean="0"/>
              <a:pPr marL="0" lvl="0" indent="0">
                <a:spcBef>
                  <a:spcPts val="0"/>
                </a:spcBef>
                <a:buNone/>
              </a:pPr>
              <a:t>15</a:t>
            </a:fld>
            <a:endParaRPr lang="en-GB"/>
          </a:p>
        </p:txBody>
      </p:sp>
      <p:pic>
        <p:nvPicPr>
          <p:cNvPr id="68610" name="Picture 2"/>
          <p:cNvPicPr>
            <a:picLocks noChangeAspect="1" noChangeArrowheads="1"/>
          </p:cNvPicPr>
          <p:nvPr/>
        </p:nvPicPr>
        <p:blipFill>
          <a:blip r:embed="rId3"/>
          <a:srcRect/>
          <a:stretch>
            <a:fillRect/>
          </a:stretch>
        </p:blipFill>
        <p:spPr bwMode="auto">
          <a:xfrm>
            <a:off x="2022059" y="2965020"/>
            <a:ext cx="2792922" cy="546825"/>
          </a:xfrm>
          <a:prstGeom prst="rect">
            <a:avLst/>
          </a:prstGeom>
          <a:noFill/>
          <a:ln w="9525">
            <a:noFill/>
            <a:miter lim="800000"/>
            <a:headEnd/>
            <a:tailEnd/>
          </a:ln>
          <a:effectLst/>
        </p:spPr>
      </p:pic>
      <p:pic>
        <p:nvPicPr>
          <p:cNvPr id="68611" name="Picture 3"/>
          <p:cNvPicPr>
            <a:picLocks noChangeAspect="1" noChangeArrowheads="1"/>
          </p:cNvPicPr>
          <p:nvPr/>
        </p:nvPicPr>
        <p:blipFill>
          <a:blip r:embed="rId4"/>
          <a:srcRect r="4546"/>
          <a:stretch>
            <a:fillRect/>
          </a:stretch>
        </p:blipFill>
        <p:spPr bwMode="auto">
          <a:xfrm>
            <a:off x="1995382" y="3510149"/>
            <a:ext cx="2819599" cy="1157439"/>
          </a:xfrm>
          <a:prstGeom prst="rect">
            <a:avLst/>
          </a:prstGeom>
          <a:noFill/>
          <a:ln w="9525">
            <a:noFill/>
            <a:miter lim="800000"/>
            <a:headEnd/>
            <a:tailEnd/>
          </a:ln>
          <a:effectLst/>
        </p:spPr>
      </p:pic>
      <p:sp>
        <p:nvSpPr>
          <p:cNvPr id="7" name="TextBox 6"/>
          <p:cNvSpPr txBox="1"/>
          <p:nvPr/>
        </p:nvSpPr>
        <p:spPr>
          <a:xfrm>
            <a:off x="5331655" y="3552087"/>
            <a:ext cx="3507692" cy="954107"/>
          </a:xfrm>
          <a:prstGeom prst="rect">
            <a:avLst/>
          </a:prstGeom>
          <a:noFill/>
        </p:spPr>
        <p:txBody>
          <a:bodyPr wrap="none" rtlCol="0">
            <a:spAutoFit/>
          </a:bodyPr>
          <a:lstStyle/>
          <a:p>
            <a:r>
              <a:rPr lang="vi-VN" i="1" dirty="0" smtClean="0"/>
              <a:t>Alice </a:t>
            </a:r>
            <a:r>
              <a:rPr lang="en-US" i="1" dirty="0" smtClean="0"/>
              <a:t>is the victim</a:t>
            </a:r>
          </a:p>
          <a:p>
            <a:r>
              <a:rPr lang="en-US" i="1" dirty="0" smtClean="0"/>
              <a:t>Boby is Alice’s friend</a:t>
            </a:r>
          </a:p>
          <a:p>
            <a:r>
              <a:rPr lang="en-US" i="1" dirty="0" smtClean="0"/>
              <a:t>Charlie is a dummy user created by Samy</a:t>
            </a:r>
          </a:p>
          <a:p>
            <a:r>
              <a:rPr lang="en-US" i="1" dirty="0" smtClean="0"/>
              <a:t>Samy is the attacker</a:t>
            </a:r>
            <a:endParaRPr lang="en-US" i="1" dirty="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Install HTTP Header Live add-on</a:t>
            </a:r>
            <a:endParaRPr lang="en-US" dirty="0"/>
          </a:p>
        </p:txBody>
      </p:sp>
      <p:sp>
        <p:nvSpPr>
          <p:cNvPr id="3" name="Text Placeholder 2"/>
          <p:cNvSpPr>
            <a:spLocks noGrp="1"/>
          </p:cNvSpPr>
          <p:nvPr>
            <p:ph type="body" idx="1"/>
          </p:nvPr>
        </p:nvSpPr>
        <p:spPr>
          <a:xfrm>
            <a:off x="311700" y="1152475"/>
            <a:ext cx="8327142" cy="3416400"/>
          </a:xfrm>
        </p:spPr>
        <p:txBody>
          <a:bodyPr/>
          <a:lstStyle/>
          <a:p>
            <a:r>
              <a:rPr lang="en-US" dirty="0" smtClean="0"/>
              <a:t>The tool captures live HTTP traffic</a:t>
            </a:r>
          </a:p>
          <a:p>
            <a:r>
              <a:rPr lang="en-US" dirty="0" smtClean="0"/>
              <a:t>Search for ‘HTTP Header Live’ add-on and install it</a:t>
            </a:r>
          </a:p>
          <a:p>
            <a:r>
              <a:rPr lang="en-US" dirty="0" smtClean="0"/>
              <a:t>Click on the ‘Show sidebars’ icon on the top right corner of your browser</a:t>
            </a:r>
            <a:endParaRPr lang="en-US" dirty="0"/>
          </a:p>
        </p:txBody>
      </p:sp>
      <p:sp>
        <p:nvSpPr>
          <p:cNvPr id="4" name="Slide Number Placeholder 3"/>
          <p:cNvSpPr>
            <a:spLocks noGrp="1"/>
          </p:cNvSpPr>
          <p:nvPr>
            <p:ph type="sldNum" idx="12"/>
          </p:nvPr>
        </p:nvSpPr>
        <p:spPr/>
        <p:txBody>
          <a:bodyPr/>
          <a:lstStyle/>
          <a:p>
            <a:pPr marL="0" lvl="0" indent="0">
              <a:spcBef>
                <a:spcPts val="0"/>
              </a:spcBef>
              <a:buNone/>
            </a:pPr>
            <a:fld id="{00000000-1234-1234-1234-123412341234}" type="slidenum">
              <a:rPr lang="en-GB" smtClean="0"/>
              <a:pPr marL="0" lvl="0" indent="0">
                <a:spcBef>
                  <a:spcPts val="0"/>
                </a:spcBef>
                <a:buNone/>
              </a:pPr>
              <a:t>16</a:t>
            </a:fld>
            <a:endParaRPr lang="en-GB"/>
          </a:p>
        </p:txBody>
      </p:sp>
      <p:pic>
        <p:nvPicPr>
          <p:cNvPr id="69636" name="Picture 4"/>
          <p:cNvPicPr>
            <a:picLocks noChangeAspect="1" noChangeArrowheads="1"/>
          </p:cNvPicPr>
          <p:nvPr/>
        </p:nvPicPr>
        <p:blipFill>
          <a:blip r:embed="rId2"/>
          <a:srcRect t="3225"/>
          <a:stretch>
            <a:fillRect/>
          </a:stretch>
        </p:blipFill>
        <p:spPr bwMode="auto">
          <a:xfrm>
            <a:off x="1415633" y="2274749"/>
            <a:ext cx="5480951" cy="2708068"/>
          </a:xfrm>
          <a:prstGeom prst="rect">
            <a:avLst/>
          </a:prstGeom>
          <a:noFill/>
          <a:ln w="9525">
            <a:noFill/>
            <a:miter lim="800000"/>
            <a:headEnd/>
            <a:tailEnd/>
          </a:ln>
          <a:effectLst/>
        </p:spPr>
      </p:pic>
      <p:sp>
        <p:nvSpPr>
          <p:cNvPr id="8" name="Oval 7"/>
          <p:cNvSpPr/>
          <p:nvPr/>
        </p:nvSpPr>
        <p:spPr>
          <a:xfrm>
            <a:off x="6411704" y="2226365"/>
            <a:ext cx="337931" cy="238539"/>
          </a:xfrm>
          <a:prstGeom prst="ellipse">
            <a:avLst/>
          </a:prstGeom>
          <a:noFill/>
          <a:ln>
            <a:solidFill>
              <a:srgbClr val="FF0000"/>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pic>
        <p:nvPicPr>
          <p:cNvPr id="1026" name="Picture 2"/>
          <p:cNvPicPr>
            <a:picLocks noChangeAspect="1" noChangeArrowheads="1"/>
          </p:cNvPicPr>
          <p:nvPr/>
        </p:nvPicPr>
        <p:blipFill>
          <a:blip r:embed="rId3"/>
          <a:srcRect t="36014"/>
          <a:stretch>
            <a:fillRect/>
          </a:stretch>
        </p:blipFill>
        <p:spPr bwMode="auto">
          <a:xfrm>
            <a:off x="1433436" y="4494628"/>
            <a:ext cx="5452696" cy="536331"/>
          </a:xfrm>
          <a:prstGeom prst="rect">
            <a:avLst/>
          </a:prstGeom>
          <a:noFill/>
          <a:ln w="9525">
            <a:noFill/>
            <a:miter lim="800000"/>
            <a:headEnd/>
            <a:tailEnd/>
          </a:ln>
          <a:effectLst/>
        </p:spPr>
      </p:pic>
      <p:sp>
        <p:nvSpPr>
          <p:cNvPr id="9" name="TextBox 8"/>
          <p:cNvSpPr txBox="1"/>
          <p:nvPr/>
        </p:nvSpPr>
        <p:spPr>
          <a:xfrm>
            <a:off x="7209692" y="4030390"/>
            <a:ext cx="1828800" cy="523220"/>
          </a:xfrm>
          <a:prstGeom prst="rect">
            <a:avLst/>
          </a:prstGeom>
          <a:noFill/>
        </p:spPr>
        <p:txBody>
          <a:bodyPr wrap="square" rtlCol="0">
            <a:spAutoFit/>
          </a:bodyPr>
          <a:lstStyle/>
          <a:p>
            <a:r>
              <a:rPr lang="en-US" dirty="0" smtClean="0"/>
              <a:t>File is saved in Downloads folder</a:t>
            </a:r>
            <a:endParaRPr lang="en-US" dirty="0"/>
          </a:p>
        </p:txBody>
      </p:sp>
      <p:cxnSp>
        <p:nvCxnSpPr>
          <p:cNvPr id="11" name="Straight Connector 10"/>
          <p:cNvCxnSpPr/>
          <p:nvPr/>
        </p:nvCxnSpPr>
        <p:spPr>
          <a:xfrm flipV="1">
            <a:off x="4065563" y="4332849"/>
            <a:ext cx="3165231" cy="316523"/>
          </a:xfrm>
          <a:prstGeom prst="line">
            <a:avLst/>
          </a:prstGeom>
        </p:spPr>
        <p:style>
          <a:lnRef idx="2">
            <a:schemeClr val="accent2"/>
          </a:lnRef>
          <a:fillRef idx="0">
            <a:schemeClr val="accent2"/>
          </a:fillRef>
          <a:effectRef idx="1">
            <a:schemeClr val="accent2"/>
          </a:effectRef>
          <a:fontRef idx="minor">
            <a:schemeClr val="tx1"/>
          </a:fontRef>
        </p:style>
      </p:cxn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Firefox network monitor</a:t>
            </a:r>
            <a:endParaRPr lang="en-US" dirty="0"/>
          </a:p>
        </p:txBody>
      </p:sp>
      <p:sp>
        <p:nvSpPr>
          <p:cNvPr id="3" name="Text Placeholder 2"/>
          <p:cNvSpPr>
            <a:spLocks noGrp="1"/>
          </p:cNvSpPr>
          <p:nvPr>
            <p:ph type="body" idx="1"/>
          </p:nvPr>
        </p:nvSpPr>
        <p:spPr/>
        <p:txBody>
          <a:bodyPr/>
          <a:lstStyle/>
          <a:p>
            <a:r>
              <a:rPr lang="en-US" dirty="0" smtClean="0"/>
              <a:t> Another way is to use Firefox network monitor</a:t>
            </a:r>
          </a:p>
          <a:p>
            <a:pPr lvl="1"/>
            <a:r>
              <a:rPr lang="en-US" dirty="0" err="1" smtClean="0"/>
              <a:t>Goto</a:t>
            </a:r>
            <a:r>
              <a:rPr lang="en-US" dirty="0" smtClean="0"/>
              <a:t> Firefox top right menu =&gt; Web Developer =&gt; Network</a:t>
            </a:r>
          </a:p>
          <a:p>
            <a:pPr lvl="1"/>
            <a:r>
              <a:rPr lang="en-US" dirty="0" smtClean="0"/>
              <a:t>Choose the HTTP request, details are displayed on the right panes</a:t>
            </a:r>
            <a:endParaRPr lang="en-US" dirty="0"/>
          </a:p>
        </p:txBody>
      </p:sp>
      <p:sp>
        <p:nvSpPr>
          <p:cNvPr id="4" name="Slide Number Placeholder 3"/>
          <p:cNvSpPr>
            <a:spLocks noGrp="1"/>
          </p:cNvSpPr>
          <p:nvPr>
            <p:ph type="sldNum" idx="12"/>
          </p:nvPr>
        </p:nvSpPr>
        <p:spPr/>
        <p:txBody>
          <a:bodyPr/>
          <a:lstStyle/>
          <a:p>
            <a:pPr marL="0" lvl="0" indent="0">
              <a:spcBef>
                <a:spcPts val="0"/>
              </a:spcBef>
              <a:buNone/>
            </a:pPr>
            <a:fld id="{00000000-1234-1234-1234-123412341234}" type="slidenum">
              <a:rPr lang="en-GB" smtClean="0"/>
              <a:pPr marL="0" lvl="0" indent="0">
                <a:spcBef>
                  <a:spcPts val="0"/>
                </a:spcBef>
                <a:buNone/>
              </a:pPr>
              <a:t>17</a:t>
            </a:fld>
            <a:endParaRPr lang="en-GB"/>
          </a:p>
        </p:txBody>
      </p:sp>
      <p:pic>
        <p:nvPicPr>
          <p:cNvPr id="1026" name="Picture 2"/>
          <p:cNvPicPr>
            <a:picLocks noChangeAspect="1" noChangeArrowheads="1"/>
          </p:cNvPicPr>
          <p:nvPr/>
        </p:nvPicPr>
        <p:blipFill>
          <a:blip r:embed="rId2"/>
          <a:srcRect/>
          <a:stretch>
            <a:fillRect/>
          </a:stretch>
        </p:blipFill>
        <p:spPr bwMode="auto">
          <a:xfrm>
            <a:off x="531852" y="2107596"/>
            <a:ext cx="7743642" cy="2624264"/>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sp>
        <p:nvSpPr>
          <p:cNvPr id="116" name="Shape 116"/>
          <p:cNvSpPr txBox="1">
            <a:spLocks noGrp="1"/>
          </p:cNvSpPr>
          <p:nvPr>
            <p:ph type="title"/>
          </p:nvPr>
        </p:nvSpPr>
        <p:spPr>
          <a:prstGeom prst="rect">
            <a:avLst/>
          </a:prstGeom>
        </p:spPr>
        <p:txBody>
          <a:bodyPr wrap="square" lIns="91425" tIns="91425" rIns="91425" bIns="91425" anchor="t" anchorCtr="0">
            <a:noAutofit/>
          </a:bodyPr>
          <a:lstStyle/>
          <a:p>
            <a:pPr marL="0" lvl="0" indent="0">
              <a:spcBef>
                <a:spcPts val="0"/>
              </a:spcBef>
              <a:buNone/>
            </a:pPr>
            <a:r>
              <a:rPr lang="en-GB"/>
              <a:t>Attack on Elgg’s Add-Friend Service</a:t>
            </a:r>
          </a:p>
        </p:txBody>
      </p:sp>
      <p:sp>
        <p:nvSpPr>
          <p:cNvPr id="117" name="Shape 117"/>
          <p:cNvSpPr txBox="1">
            <a:spLocks noGrp="1"/>
          </p:cNvSpPr>
          <p:nvPr>
            <p:ph type="body" idx="1"/>
          </p:nvPr>
        </p:nvSpPr>
        <p:spPr>
          <a:xfrm>
            <a:off x="311700" y="1152474"/>
            <a:ext cx="5986790" cy="2853837"/>
          </a:xfrm>
          <a:prstGeom prst="rect">
            <a:avLst/>
          </a:prstGeom>
        </p:spPr>
        <p:txBody>
          <a:bodyPr wrap="square" lIns="91425" tIns="91425" rIns="91425" bIns="91425" anchor="t" anchorCtr="0">
            <a:noAutofit/>
          </a:bodyPr>
          <a:lstStyle/>
          <a:p>
            <a:pPr marL="0" lvl="0" indent="0">
              <a:spcBef>
                <a:spcPts val="0"/>
              </a:spcBef>
              <a:buNone/>
            </a:pPr>
            <a:r>
              <a:rPr lang="en-GB" u="sng" dirty="0">
                <a:solidFill>
                  <a:srgbClr val="000000"/>
                </a:solidFill>
              </a:rPr>
              <a:t>Goal :</a:t>
            </a:r>
            <a:r>
              <a:rPr lang="en-GB" dirty="0">
                <a:solidFill>
                  <a:srgbClr val="000000"/>
                </a:solidFill>
              </a:rPr>
              <a:t> Add </a:t>
            </a:r>
            <a:r>
              <a:rPr lang="en-GB" dirty="0" smtClean="0">
                <a:solidFill>
                  <a:srgbClr val="000000"/>
                </a:solidFill>
              </a:rPr>
              <a:t>yourself </a:t>
            </a:r>
            <a:r>
              <a:rPr lang="en-GB" dirty="0">
                <a:solidFill>
                  <a:srgbClr val="000000"/>
                </a:solidFill>
              </a:rPr>
              <a:t>to the victim’s friend list without </a:t>
            </a:r>
            <a:r>
              <a:rPr lang="en-GB">
                <a:solidFill>
                  <a:srgbClr val="000000"/>
                </a:solidFill>
              </a:rPr>
              <a:t>his/her </a:t>
            </a:r>
            <a:r>
              <a:rPr lang="en-GB" smtClean="0">
                <a:solidFill>
                  <a:srgbClr val="000000"/>
                </a:solidFill>
              </a:rPr>
              <a:t>consent by sending a fake add-friend request.</a:t>
            </a:r>
            <a:endParaRPr lang="en-GB" dirty="0">
              <a:solidFill>
                <a:srgbClr val="000000"/>
              </a:solidFill>
            </a:endParaRPr>
          </a:p>
          <a:p>
            <a:pPr marL="0" lvl="0" indent="0">
              <a:spcBef>
                <a:spcPts val="0"/>
              </a:spcBef>
              <a:buNone/>
            </a:pPr>
            <a:endParaRPr lang="en-GB" u="sng" dirty="0" smtClean="0">
              <a:solidFill>
                <a:srgbClr val="000000"/>
              </a:solidFill>
            </a:endParaRPr>
          </a:p>
          <a:p>
            <a:pPr marL="0" lvl="0" indent="0">
              <a:spcBef>
                <a:spcPts val="0"/>
              </a:spcBef>
              <a:buNone/>
            </a:pPr>
            <a:r>
              <a:rPr lang="en-GB" u="sng" dirty="0" smtClean="0">
                <a:solidFill>
                  <a:srgbClr val="000000"/>
                </a:solidFill>
              </a:rPr>
              <a:t>Investigation </a:t>
            </a:r>
            <a:r>
              <a:rPr lang="en-GB" u="sng" dirty="0">
                <a:solidFill>
                  <a:srgbClr val="000000"/>
                </a:solidFill>
              </a:rPr>
              <a:t>taken by the attacker Samy</a:t>
            </a:r>
            <a:r>
              <a:rPr lang="en-GB" u="sng" dirty="0" smtClean="0">
                <a:solidFill>
                  <a:srgbClr val="000000"/>
                </a:solidFill>
              </a:rPr>
              <a:t>:</a:t>
            </a:r>
          </a:p>
          <a:p>
            <a:pPr marL="0" lvl="0" indent="0">
              <a:spcBef>
                <a:spcPts val="0"/>
              </a:spcBef>
              <a:buNone/>
            </a:pPr>
            <a:endParaRPr lang="en-GB" sz="1000" u="sng" dirty="0">
              <a:solidFill>
                <a:srgbClr val="000000"/>
              </a:solidFill>
            </a:endParaRPr>
          </a:p>
          <a:p>
            <a:pPr marL="457200" lvl="0" indent="-342900">
              <a:spcBef>
                <a:spcPts val="0"/>
              </a:spcBef>
              <a:spcAft>
                <a:spcPts val="1200"/>
              </a:spcAft>
              <a:buClr>
                <a:srgbClr val="000000"/>
              </a:buClr>
              <a:buSzPts val="1800"/>
              <a:buChar char="●"/>
            </a:pPr>
            <a:r>
              <a:rPr lang="en-GB" dirty="0">
                <a:solidFill>
                  <a:srgbClr val="000000"/>
                </a:solidFill>
              </a:rPr>
              <a:t>Creates an </a:t>
            </a:r>
            <a:r>
              <a:rPr lang="en-GB" dirty="0" err="1">
                <a:solidFill>
                  <a:srgbClr val="000000"/>
                </a:solidFill>
              </a:rPr>
              <a:t>Elgg</a:t>
            </a:r>
            <a:r>
              <a:rPr lang="en-GB" dirty="0">
                <a:solidFill>
                  <a:srgbClr val="000000"/>
                </a:solidFill>
              </a:rPr>
              <a:t> account using Charlie as the name.</a:t>
            </a:r>
          </a:p>
          <a:p>
            <a:pPr marL="457200" lvl="0" indent="-342900">
              <a:spcBef>
                <a:spcPts val="0"/>
              </a:spcBef>
              <a:spcAft>
                <a:spcPts val="1200"/>
              </a:spcAft>
              <a:buClr>
                <a:srgbClr val="000000"/>
              </a:buClr>
              <a:buSzPts val="1800"/>
              <a:buChar char="●"/>
            </a:pPr>
            <a:r>
              <a:rPr lang="en-GB" dirty="0">
                <a:solidFill>
                  <a:srgbClr val="000000"/>
                </a:solidFill>
              </a:rPr>
              <a:t>In Charlie’s account, he clicks add-friend button to add himself to Charlie’s friend list. Using </a:t>
            </a:r>
            <a:r>
              <a:rPr lang="en-GB" dirty="0" err="1">
                <a:solidFill>
                  <a:srgbClr val="000000"/>
                </a:solidFill>
              </a:rPr>
              <a:t>FireFox</a:t>
            </a:r>
            <a:r>
              <a:rPr lang="en-GB" dirty="0">
                <a:solidFill>
                  <a:srgbClr val="000000"/>
                </a:solidFill>
              </a:rPr>
              <a:t> LiveHTTPHeaders extension to capture the add-friend HTTP request. </a:t>
            </a:r>
          </a:p>
        </p:txBody>
      </p:sp>
      <p:sp>
        <p:nvSpPr>
          <p:cNvPr id="4" name="Slide Number Placeholder 3"/>
          <p:cNvSpPr>
            <a:spLocks noGrp="1"/>
          </p:cNvSpPr>
          <p:nvPr>
            <p:ph type="sldNum" idx="12"/>
          </p:nvPr>
        </p:nvSpPr>
        <p:spPr/>
        <p:txBody>
          <a:bodyPr/>
          <a:lstStyle/>
          <a:p>
            <a:pPr marL="0" lvl="0" indent="0">
              <a:spcBef>
                <a:spcPts val="0"/>
              </a:spcBef>
              <a:buNone/>
            </a:pPr>
            <a:fld id="{00000000-1234-1234-1234-123412341234}" type="slidenum">
              <a:rPr lang="en-GB" smtClean="0"/>
              <a:pPr marL="0" lvl="0" indent="0">
                <a:spcBef>
                  <a:spcPts val="0"/>
                </a:spcBef>
                <a:buNone/>
              </a:pPr>
              <a:t>18</a:t>
            </a:fld>
            <a:endParaRPr lang="en-GB"/>
          </a:p>
        </p:txBody>
      </p:sp>
      <p:pic>
        <p:nvPicPr>
          <p:cNvPr id="2050" name="Picture 2"/>
          <p:cNvPicPr>
            <a:picLocks noChangeAspect="1" noChangeArrowheads="1"/>
          </p:cNvPicPr>
          <p:nvPr/>
        </p:nvPicPr>
        <p:blipFill>
          <a:blip r:embed="rId3"/>
          <a:srcRect/>
          <a:stretch>
            <a:fillRect/>
          </a:stretch>
        </p:blipFill>
        <p:spPr bwMode="auto">
          <a:xfrm>
            <a:off x="6528687" y="2185901"/>
            <a:ext cx="2392711" cy="2501197"/>
          </a:xfrm>
          <a:prstGeom prst="rect">
            <a:avLst/>
          </a:prstGeom>
          <a:noFill/>
          <a:ln w="9525">
            <a:noFill/>
            <a:miter lim="800000"/>
            <a:headEnd/>
            <a:tailEnd/>
          </a:ln>
          <a:effectLst/>
        </p:spPr>
      </p:pic>
      <p:pic>
        <p:nvPicPr>
          <p:cNvPr id="2051" name="Picture 3"/>
          <p:cNvPicPr>
            <a:picLocks noChangeAspect="1" noChangeArrowheads="1"/>
          </p:cNvPicPr>
          <p:nvPr/>
        </p:nvPicPr>
        <p:blipFill>
          <a:blip r:embed="rId4"/>
          <a:srcRect/>
          <a:stretch>
            <a:fillRect/>
          </a:stretch>
        </p:blipFill>
        <p:spPr bwMode="auto">
          <a:xfrm>
            <a:off x="6475001" y="267045"/>
            <a:ext cx="2138263" cy="1763373"/>
          </a:xfrm>
          <a:prstGeom prst="rect">
            <a:avLst/>
          </a:prstGeom>
          <a:noFill/>
          <a:ln w="9525">
            <a:noFill/>
            <a:miter lim="800000"/>
            <a:headEnd/>
            <a:tailEnd/>
          </a:ln>
          <a:effectLst/>
        </p:spPr>
      </p:pic>
      <p:sp>
        <p:nvSpPr>
          <p:cNvPr id="7" name="Oval 6"/>
          <p:cNvSpPr/>
          <p:nvPr/>
        </p:nvSpPr>
        <p:spPr>
          <a:xfrm>
            <a:off x="6483928" y="3759910"/>
            <a:ext cx="933582" cy="447608"/>
          </a:xfrm>
          <a:prstGeom prst="ellipse">
            <a:avLst/>
          </a:prstGeom>
          <a:noFill/>
          <a:ln>
            <a:solidFill>
              <a:srgbClr val="C00000"/>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9" name="TextBox 8"/>
          <p:cNvSpPr txBox="1"/>
          <p:nvPr/>
        </p:nvSpPr>
        <p:spPr>
          <a:xfrm>
            <a:off x="7609343" y="665026"/>
            <a:ext cx="1303562" cy="276999"/>
          </a:xfrm>
          <a:prstGeom prst="rect">
            <a:avLst/>
          </a:prstGeom>
          <a:noFill/>
        </p:spPr>
        <p:txBody>
          <a:bodyPr wrap="none" rtlCol="0">
            <a:spAutoFit/>
          </a:bodyPr>
          <a:lstStyle/>
          <a:p>
            <a:r>
              <a:rPr lang="en-US" sz="1200" dirty="0" smtClean="0">
                <a:solidFill>
                  <a:srgbClr val="C00000"/>
                </a:solidFill>
              </a:rPr>
              <a:t>Search for </a:t>
            </a:r>
            <a:r>
              <a:rPr lang="en-US" sz="1200" dirty="0" err="1" smtClean="0">
                <a:solidFill>
                  <a:srgbClr val="C00000"/>
                </a:solidFill>
              </a:rPr>
              <a:t>samy</a:t>
            </a:r>
            <a:endParaRPr lang="en-US" sz="1200" dirty="0">
              <a:solidFill>
                <a:srgbClr val="C00000"/>
              </a:solidFill>
            </a:endParaRPr>
          </a:p>
        </p:txBody>
      </p:sp>
      <p:sp>
        <p:nvSpPr>
          <p:cNvPr id="10" name="Right Arrow 9"/>
          <p:cNvSpPr/>
          <p:nvPr/>
        </p:nvSpPr>
        <p:spPr>
          <a:xfrm rot="11484602">
            <a:off x="7213114" y="644700"/>
            <a:ext cx="428713" cy="20262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21"/>
        <p:cNvGrpSpPr/>
        <p:nvPr/>
      </p:nvGrpSpPr>
      <p:grpSpPr>
        <a:xfrm>
          <a:off x="0" y="0"/>
          <a:ext cx="0" cy="0"/>
          <a:chOff x="0" y="0"/>
          <a:chExt cx="0" cy="0"/>
        </a:xfrm>
      </p:grpSpPr>
      <p:sp>
        <p:nvSpPr>
          <p:cNvPr id="122" name="Shape 122"/>
          <p:cNvSpPr txBox="1">
            <a:spLocks noGrp="1"/>
          </p:cNvSpPr>
          <p:nvPr>
            <p:ph type="title"/>
          </p:nvPr>
        </p:nvSpPr>
        <p:spPr>
          <a:prstGeom prst="rect">
            <a:avLst/>
          </a:prstGeom>
        </p:spPr>
        <p:txBody>
          <a:bodyPr wrap="square" lIns="91425" tIns="91425" rIns="91425" bIns="91425" anchor="t" anchorCtr="0">
            <a:noAutofit/>
          </a:bodyPr>
          <a:lstStyle/>
          <a:p>
            <a:pPr marL="0" lvl="0" indent="-69850">
              <a:spcBef>
                <a:spcPts val="0"/>
              </a:spcBef>
              <a:buClr>
                <a:schemeClr val="dk1"/>
              </a:buClr>
              <a:buSzPts val="1100"/>
              <a:buFont typeface="Arial"/>
              <a:buNone/>
            </a:pPr>
            <a:r>
              <a:rPr lang="en-GB" dirty="0" smtClean="0"/>
              <a:t>Captured HTTP Header</a:t>
            </a:r>
            <a:endParaRPr lang="en-GB" dirty="0"/>
          </a:p>
        </p:txBody>
      </p:sp>
      <p:pic>
        <p:nvPicPr>
          <p:cNvPr id="123" name="Shape 123"/>
          <p:cNvPicPr preferRelativeResize="0"/>
          <p:nvPr/>
        </p:nvPicPr>
        <p:blipFill>
          <a:blip r:embed="rId3">
            <a:alphaModFix/>
          </a:blip>
          <a:stretch>
            <a:fillRect/>
          </a:stretch>
        </p:blipFill>
        <p:spPr>
          <a:xfrm>
            <a:off x="152399" y="1023062"/>
            <a:ext cx="6830291" cy="2097407"/>
          </a:xfrm>
          <a:prstGeom prst="rect">
            <a:avLst/>
          </a:prstGeom>
          <a:noFill/>
          <a:ln>
            <a:noFill/>
          </a:ln>
        </p:spPr>
      </p:pic>
      <p:pic>
        <p:nvPicPr>
          <p:cNvPr id="124" name="Shape 124"/>
          <p:cNvPicPr preferRelativeResize="0"/>
          <p:nvPr/>
        </p:nvPicPr>
        <p:blipFill>
          <a:blip r:embed="rId4">
            <a:alphaModFix/>
          </a:blip>
          <a:stretch>
            <a:fillRect/>
          </a:stretch>
        </p:blipFill>
        <p:spPr>
          <a:xfrm>
            <a:off x="152400" y="3120368"/>
            <a:ext cx="6849474" cy="984831"/>
          </a:xfrm>
          <a:prstGeom prst="rect">
            <a:avLst/>
          </a:prstGeom>
          <a:noFill/>
          <a:ln>
            <a:noFill/>
          </a:ln>
        </p:spPr>
      </p:pic>
      <p:sp>
        <p:nvSpPr>
          <p:cNvPr id="125" name="Shape 125"/>
          <p:cNvSpPr txBox="1"/>
          <p:nvPr/>
        </p:nvSpPr>
        <p:spPr>
          <a:xfrm>
            <a:off x="6995480" y="1017725"/>
            <a:ext cx="1961444" cy="1732509"/>
          </a:xfrm>
          <a:prstGeom prst="rect">
            <a:avLst/>
          </a:prstGeom>
          <a:noFill/>
          <a:ln>
            <a:noFill/>
          </a:ln>
        </p:spPr>
        <p:txBody>
          <a:bodyPr wrap="square" lIns="91425" tIns="91425" rIns="91425" bIns="91425" anchor="t" anchorCtr="0">
            <a:noAutofit/>
          </a:bodyPr>
          <a:lstStyle/>
          <a:p>
            <a:pPr marL="0" lvl="0" indent="0">
              <a:spcBef>
                <a:spcPts val="0"/>
              </a:spcBef>
              <a:buNone/>
            </a:pPr>
            <a:r>
              <a:rPr lang="en-GB" u="sng" dirty="0"/>
              <a:t>Line </a:t>
            </a:r>
            <a:r>
              <a:rPr lang="en-GB" u="sng" dirty="0" smtClean="0">
                <a:latin typeface="Arial Unicode MS" panose="020B0604020202020204" pitchFamily="34" charset="-128"/>
                <a:ea typeface="Arial Unicode MS" panose="020B0604020202020204" pitchFamily="34" charset="-128"/>
                <a:cs typeface="Arial Unicode MS" panose="020B0604020202020204" pitchFamily="34" charset="-128"/>
              </a:rPr>
              <a:t>①</a:t>
            </a:r>
            <a:r>
              <a:rPr lang="en-GB" u="sng" dirty="0" smtClean="0"/>
              <a:t> </a:t>
            </a:r>
            <a:r>
              <a:rPr lang="en-GB" u="sng" dirty="0"/>
              <a:t>:</a:t>
            </a:r>
            <a:r>
              <a:rPr lang="en-GB" dirty="0"/>
              <a:t> URL of </a:t>
            </a:r>
            <a:r>
              <a:rPr lang="en-GB" dirty="0" err="1"/>
              <a:t>Elgg’s</a:t>
            </a:r>
            <a:r>
              <a:rPr lang="en-GB" dirty="0"/>
              <a:t> add-friend request. </a:t>
            </a:r>
            <a:r>
              <a:rPr lang="en-GB" dirty="0" err="1"/>
              <a:t>UserID</a:t>
            </a:r>
            <a:r>
              <a:rPr lang="en-GB" dirty="0"/>
              <a:t> of the user to be added to the friend list is used. Here, </a:t>
            </a:r>
            <a:r>
              <a:rPr lang="en-GB" dirty="0" err="1">
                <a:solidFill>
                  <a:srgbClr val="C00000"/>
                </a:solidFill>
              </a:rPr>
              <a:t>Samy’s</a:t>
            </a:r>
            <a:r>
              <a:rPr lang="en-GB" dirty="0">
                <a:solidFill>
                  <a:srgbClr val="C00000"/>
                </a:solidFill>
              </a:rPr>
              <a:t> </a:t>
            </a:r>
            <a:r>
              <a:rPr lang="en-GB" dirty="0" err="1">
                <a:solidFill>
                  <a:srgbClr val="C00000"/>
                </a:solidFill>
              </a:rPr>
              <a:t>UserID</a:t>
            </a:r>
            <a:r>
              <a:rPr lang="en-GB" dirty="0">
                <a:solidFill>
                  <a:srgbClr val="C00000"/>
                </a:solidFill>
              </a:rPr>
              <a:t> (GUID) is 42</a:t>
            </a:r>
            <a:r>
              <a:rPr lang="en-GB" dirty="0"/>
              <a:t>.</a:t>
            </a:r>
          </a:p>
          <a:p>
            <a:pPr marL="0" lvl="0" indent="0">
              <a:spcBef>
                <a:spcPts val="0"/>
              </a:spcBef>
              <a:buNone/>
            </a:pPr>
            <a:endParaRPr dirty="0"/>
          </a:p>
        </p:txBody>
      </p:sp>
      <p:sp>
        <p:nvSpPr>
          <p:cNvPr id="126" name="Shape 126"/>
          <p:cNvSpPr txBox="1"/>
          <p:nvPr/>
        </p:nvSpPr>
        <p:spPr>
          <a:xfrm>
            <a:off x="152332" y="4107659"/>
            <a:ext cx="6280500" cy="810050"/>
          </a:xfrm>
          <a:prstGeom prst="rect">
            <a:avLst/>
          </a:prstGeom>
          <a:noFill/>
          <a:ln>
            <a:noFill/>
          </a:ln>
        </p:spPr>
        <p:txBody>
          <a:bodyPr wrap="square" lIns="91425" tIns="91425" rIns="91425" bIns="91425" anchor="t" anchorCtr="0">
            <a:noAutofit/>
          </a:bodyPr>
          <a:lstStyle/>
          <a:p>
            <a:pPr marL="0" lvl="0" indent="-69850">
              <a:spcBef>
                <a:spcPts val="0"/>
              </a:spcBef>
              <a:buClr>
                <a:schemeClr val="dk1"/>
              </a:buClr>
              <a:buSzPts val="1100"/>
              <a:buFont typeface="Arial"/>
              <a:buNone/>
            </a:pPr>
            <a:r>
              <a:rPr lang="en-GB" sz="1600" u="sng" dirty="0">
                <a:solidFill>
                  <a:schemeClr val="dk1"/>
                </a:solidFill>
              </a:rPr>
              <a:t>Line </a:t>
            </a:r>
            <a:r>
              <a:rPr lang="en-GB" sz="1600" u="sng" dirty="0" smtClean="0">
                <a:solidFill>
                  <a:schemeClr val="dk1"/>
                </a:solidFill>
                <a:latin typeface="Arial Unicode MS" panose="020B0604020202020204" pitchFamily="34" charset="-128"/>
                <a:ea typeface="Arial Unicode MS" panose="020B0604020202020204" pitchFamily="34" charset="-128"/>
                <a:cs typeface="Arial Unicode MS" panose="020B0604020202020204" pitchFamily="34" charset="-128"/>
              </a:rPr>
              <a:t>③</a:t>
            </a:r>
            <a:r>
              <a:rPr lang="en-GB" sz="1600" u="sng" dirty="0" smtClean="0">
                <a:solidFill>
                  <a:schemeClr val="dk1"/>
                </a:solidFill>
              </a:rPr>
              <a:t> </a:t>
            </a:r>
            <a:r>
              <a:rPr lang="en-GB" sz="1600" u="sng" dirty="0">
                <a:solidFill>
                  <a:schemeClr val="dk1"/>
                </a:solidFill>
              </a:rPr>
              <a:t>:</a:t>
            </a:r>
            <a:r>
              <a:rPr lang="en-GB" sz="1600" dirty="0">
                <a:solidFill>
                  <a:schemeClr val="dk1"/>
                </a:solidFill>
              </a:rPr>
              <a:t> Session cookie which is unique for each user. It is automatically sent by </a:t>
            </a:r>
            <a:r>
              <a:rPr lang="en-GB" sz="1600" dirty="0" smtClean="0">
                <a:solidFill>
                  <a:schemeClr val="dk1"/>
                </a:solidFill>
              </a:rPr>
              <a:t>the browser.</a:t>
            </a:r>
            <a:endParaRPr lang="en-GB" sz="1600" dirty="0">
              <a:solidFill>
                <a:schemeClr val="dk1"/>
              </a:solidFill>
            </a:endParaRPr>
          </a:p>
        </p:txBody>
      </p:sp>
      <p:sp>
        <p:nvSpPr>
          <p:cNvPr id="7" name="Slide Number Placeholder 6"/>
          <p:cNvSpPr>
            <a:spLocks noGrp="1"/>
          </p:cNvSpPr>
          <p:nvPr>
            <p:ph type="sldNum" idx="12"/>
          </p:nvPr>
        </p:nvSpPr>
        <p:spPr/>
        <p:txBody>
          <a:bodyPr/>
          <a:lstStyle/>
          <a:p>
            <a:pPr marL="0" lvl="0" indent="0">
              <a:spcBef>
                <a:spcPts val="0"/>
              </a:spcBef>
              <a:buNone/>
            </a:pPr>
            <a:fld id="{00000000-1234-1234-1234-123412341234}" type="slidenum">
              <a:rPr lang="en-GB" smtClean="0"/>
              <a:pPr marL="0" lvl="0" indent="0">
                <a:spcBef>
                  <a:spcPts val="0"/>
                </a:spcBef>
                <a:buNone/>
              </a:pPr>
              <a:t>19</a:t>
            </a:fld>
            <a:endParaRPr lang="en-GB"/>
          </a:p>
        </p:txBody>
      </p:sp>
      <p:sp>
        <p:nvSpPr>
          <p:cNvPr id="8" name="Rectangle 7"/>
          <p:cNvSpPr/>
          <p:nvPr/>
        </p:nvSpPr>
        <p:spPr>
          <a:xfrm>
            <a:off x="200464" y="1045405"/>
            <a:ext cx="5433647" cy="228600"/>
          </a:xfrm>
          <a:prstGeom prst="rect">
            <a:avLst/>
          </a:prstGeom>
          <a:solidFill>
            <a:srgbClr val="FFFF00">
              <a:alpha val="25000"/>
            </a:srgbClr>
          </a:solidFill>
          <a:ln w="1270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1164102" y="1270489"/>
            <a:ext cx="4455942" cy="228600"/>
          </a:xfrm>
          <a:prstGeom prst="rect">
            <a:avLst/>
          </a:prstGeom>
          <a:solidFill>
            <a:srgbClr val="FFFF00">
              <a:alpha val="25000"/>
            </a:srgbClr>
          </a:solidFill>
          <a:ln w="1270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p:nvSpPr>
        <p:spPr>
          <a:xfrm>
            <a:off x="172327" y="3584625"/>
            <a:ext cx="3942473" cy="228600"/>
          </a:xfrm>
          <a:prstGeom prst="rect">
            <a:avLst/>
          </a:prstGeom>
          <a:solidFill>
            <a:srgbClr val="FFFF00">
              <a:alpha val="25000"/>
            </a:srgbClr>
          </a:solidFill>
          <a:ln w="1270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Shape 125"/>
          <p:cNvSpPr txBox="1"/>
          <p:nvPr/>
        </p:nvSpPr>
        <p:spPr>
          <a:xfrm>
            <a:off x="7002514" y="2729136"/>
            <a:ext cx="1961444" cy="1498204"/>
          </a:xfrm>
          <a:prstGeom prst="rect">
            <a:avLst/>
          </a:prstGeom>
          <a:noFill/>
          <a:ln>
            <a:noFill/>
          </a:ln>
        </p:spPr>
        <p:txBody>
          <a:bodyPr wrap="square" lIns="91425" tIns="91425" rIns="91425" bIns="91425" anchor="t" anchorCtr="0">
            <a:noAutofit/>
          </a:bodyPr>
          <a:lstStyle/>
          <a:p>
            <a:pPr marL="0" lvl="0" indent="0">
              <a:spcBef>
                <a:spcPts val="0"/>
              </a:spcBef>
              <a:buNone/>
            </a:pPr>
            <a:r>
              <a:rPr lang="en-GB" u="sng" dirty="0" smtClean="0"/>
              <a:t>Line </a:t>
            </a:r>
            <a:r>
              <a:rPr lang="en-GB" u="sng" dirty="0" smtClean="0">
                <a:latin typeface="Arial Unicode MS" panose="020B0604020202020204" pitchFamily="34" charset="-128"/>
                <a:ea typeface="Arial Unicode MS" panose="020B0604020202020204" pitchFamily="34" charset="-128"/>
                <a:cs typeface="Arial Unicode MS" panose="020B0604020202020204" pitchFamily="34" charset="-128"/>
              </a:rPr>
              <a:t>②</a:t>
            </a:r>
            <a:r>
              <a:rPr lang="en-GB" u="sng" dirty="0" smtClean="0"/>
              <a:t> </a:t>
            </a:r>
            <a:r>
              <a:rPr lang="en-GB" u="sng" dirty="0"/>
              <a:t>:</a:t>
            </a:r>
            <a:r>
              <a:rPr lang="en-GB" dirty="0"/>
              <a:t> Elgg’s countermeasure against CSRF attacks which are disabled</a:t>
            </a:r>
            <a:r>
              <a:rPr lang="en-GB" dirty="0" smtClean="0"/>
              <a:t>.</a:t>
            </a:r>
            <a:endParaRPr lang="en-GB"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dissolve">
                                      <p:cBhvr>
                                        <p:cTn id="7" dur="500"/>
                                        <p:tgtEl>
                                          <p:spTgt spid="8"/>
                                        </p:tgtEl>
                                      </p:cBhvr>
                                    </p:animEffect>
                                  </p:childTnLst>
                                </p:cTn>
                              </p:par>
                              <p:par>
                                <p:cTn id="8" presetID="9" presetClass="entr" presetSubtype="0" fill="hold" grpId="0" nodeType="withEffect">
                                  <p:stCondLst>
                                    <p:cond delay="0"/>
                                  </p:stCondLst>
                                  <p:childTnLst>
                                    <p:set>
                                      <p:cBhvr>
                                        <p:cTn id="9" dur="1" fill="hold">
                                          <p:stCondLst>
                                            <p:cond delay="0"/>
                                          </p:stCondLst>
                                        </p:cTn>
                                        <p:tgtEl>
                                          <p:spTgt spid="125"/>
                                        </p:tgtEl>
                                        <p:attrNameLst>
                                          <p:attrName>style.visibility</p:attrName>
                                        </p:attrNameLst>
                                      </p:cBhvr>
                                      <p:to>
                                        <p:strVal val="visible"/>
                                      </p:to>
                                    </p:set>
                                    <p:animEffect transition="in" filter="dissolve">
                                      <p:cBhvr>
                                        <p:cTn id="10" dur="500"/>
                                        <p:tgtEl>
                                          <p:spTgt spid="125"/>
                                        </p:tgtEl>
                                      </p:cBhvr>
                                    </p:animEffect>
                                  </p:childTnLst>
                                </p:cTn>
                              </p:par>
                            </p:childTnLst>
                          </p:cTn>
                        </p:par>
                      </p:childTnLst>
                    </p:cTn>
                  </p:par>
                  <p:par>
                    <p:cTn id="11" fill="hold">
                      <p:stCondLst>
                        <p:cond delay="indefinite"/>
                      </p:stCondLst>
                      <p:childTnLst>
                        <p:par>
                          <p:cTn id="12" fill="hold">
                            <p:stCondLst>
                              <p:cond delay="0"/>
                            </p:stCondLst>
                            <p:childTnLst>
                              <p:par>
                                <p:cTn id="13" presetID="9" presetClass="exit" presetSubtype="0" fill="hold" grpId="1" nodeType="clickEffect">
                                  <p:stCondLst>
                                    <p:cond delay="0"/>
                                  </p:stCondLst>
                                  <p:childTnLst>
                                    <p:animEffect transition="out" filter="dissolve">
                                      <p:cBhvr>
                                        <p:cTn id="14" dur="500"/>
                                        <p:tgtEl>
                                          <p:spTgt spid="8"/>
                                        </p:tgtEl>
                                      </p:cBhvr>
                                    </p:animEffect>
                                    <p:set>
                                      <p:cBhvr>
                                        <p:cTn id="15" dur="1" fill="hold">
                                          <p:stCondLst>
                                            <p:cond delay="499"/>
                                          </p:stCondLst>
                                        </p:cTn>
                                        <p:tgtEl>
                                          <p:spTgt spid="8"/>
                                        </p:tgtEl>
                                        <p:attrNameLst>
                                          <p:attrName>style.visibility</p:attrName>
                                        </p:attrNameLst>
                                      </p:cBhvr>
                                      <p:to>
                                        <p:strVal val="hidden"/>
                                      </p:to>
                                    </p:set>
                                  </p:childTnLst>
                                </p:cTn>
                              </p:par>
                              <p:par>
                                <p:cTn id="16" presetID="9" presetClass="entr" presetSubtype="0" fill="hold" grpId="0" nodeType="with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dissolve">
                                      <p:cBhvr>
                                        <p:cTn id="18" dur="500"/>
                                        <p:tgtEl>
                                          <p:spTgt spid="9"/>
                                        </p:tgtEl>
                                      </p:cBhvr>
                                    </p:animEffect>
                                  </p:childTnLst>
                                </p:cTn>
                              </p:par>
                              <p:par>
                                <p:cTn id="19" presetID="9" presetClass="entr" presetSubtype="0" fill="hold" grpId="0" nodeType="withEffect">
                                  <p:stCondLst>
                                    <p:cond delay="0"/>
                                  </p:stCondLst>
                                  <p:childTnLst>
                                    <p:set>
                                      <p:cBhvr>
                                        <p:cTn id="20" dur="1" fill="hold">
                                          <p:stCondLst>
                                            <p:cond delay="0"/>
                                          </p:stCondLst>
                                        </p:cTn>
                                        <p:tgtEl>
                                          <p:spTgt spid="11"/>
                                        </p:tgtEl>
                                        <p:attrNameLst>
                                          <p:attrName>style.visibility</p:attrName>
                                        </p:attrNameLst>
                                      </p:cBhvr>
                                      <p:to>
                                        <p:strVal val="visible"/>
                                      </p:to>
                                    </p:set>
                                    <p:animEffect transition="in" filter="dissolve">
                                      <p:cBhvr>
                                        <p:cTn id="21" dur="500"/>
                                        <p:tgtEl>
                                          <p:spTgt spid="11"/>
                                        </p:tgtEl>
                                      </p:cBhvr>
                                    </p:animEffect>
                                  </p:childTnLst>
                                </p:cTn>
                              </p:par>
                            </p:childTnLst>
                          </p:cTn>
                        </p:par>
                      </p:childTnLst>
                    </p:cTn>
                  </p:par>
                  <p:par>
                    <p:cTn id="22" fill="hold">
                      <p:stCondLst>
                        <p:cond delay="indefinite"/>
                      </p:stCondLst>
                      <p:childTnLst>
                        <p:par>
                          <p:cTn id="23" fill="hold">
                            <p:stCondLst>
                              <p:cond delay="0"/>
                            </p:stCondLst>
                            <p:childTnLst>
                              <p:par>
                                <p:cTn id="24" presetID="9" presetClass="exit" presetSubtype="0" fill="hold" grpId="1" nodeType="clickEffect">
                                  <p:stCondLst>
                                    <p:cond delay="0"/>
                                  </p:stCondLst>
                                  <p:childTnLst>
                                    <p:animEffect transition="out" filter="dissolve">
                                      <p:cBhvr>
                                        <p:cTn id="25" dur="500"/>
                                        <p:tgtEl>
                                          <p:spTgt spid="9"/>
                                        </p:tgtEl>
                                      </p:cBhvr>
                                    </p:animEffect>
                                    <p:set>
                                      <p:cBhvr>
                                        <p:cTn id="26" dur="1" fill="hold">
                                          <p:stCondLst>
                                            <p:cond delay="499"/>
                                          </p:stCondLst>
                                        </p:cTn>
                                        <p:tgtEl>
                                          <p:spTgt spid="9"/>
                                        </p:tgtEl>
                                        <p:attrNameLst>
                                          <p:attrName>style.visibility</p:attrName>
                                        </p:attrNameLst>
                                      </p:cBhvr>
                                      <p:to>
                                        <p:strVal val="hidden"/>
                                      </p:to>
                                    </p:set>
                                  </p:childTnLst>
                                </p:cTn>
                              </p:par>
                              <p:par>
                                <p:cTn id="27" presetID="9" presetClass="entr" presetSubtype="0" fill="hold" grpId="0" nodeType="withEffect">
                                  <p:stCondLst>
                                    <p:cond delay="0"/>
                                  </p:stCondLst>
                                  <p:childTnLst>
                                    <p:set>
                                      <p:cBhvr>
                                        <p:cTn id="28" dur="1" fill="hold">
                                          <p:stCondLst>
                                            <p:cond delay="0"/>
                                          </p:stCondLst>
                                        </p:cTn>
                                        <p:tgtEl>
                                          <p:spTgt spid="10"/>
                                        </p:tgtEl>
                                        <p:attrNameLst>
                                          <p:attrName>style.visibility</p:attrName>
                                        </p:attrNameLst>
                                      </p:cBhvr>
                                      <p:to>
                                        <p:strVal val="visible"/>
                                      </p:to>
                                    </p:set>
                                    <p:animEffect transition="in" filter="dissolve">
                                      <p:cBhvr>
                                        <p:cTn id="29" dur="500"/>
                                        <p:tgtEl>
                                          <p:spTgt spid="10"/>
                                        </p:tgtEl>
                                      </p:cBhvr>
                                    </p:animEffect>
                                  </p:childTnLst>
                                </p:cTn>
                              </p:par>
                              <p:par>
                                <p:cTn id="30" presetID="9" presetClass="entr" presetSubtype="0" fill="hold" grpId="0" nodeType="withEffect">
                                  <p:stCondLst>
                                    <p:cond delay="0"/>
                                  </p:stCondLst>
                                  <p:childTnLst>
                                    <p:set>
                                      <p:cBhvr>
                                        <p:cTn id="31" dur="1" fill="hold">
                                          <p:stCondLst>
                                            <p:cond delay="0"/>
                                          </p:stCondLst>
                                        </p:cTn>
                                        <p:tgtEl>
                                          <p:spTgt spid="126"/>
                                        </p:tgtEl>
                                        <p:attrNameLst>
                                          <p:attrName>style.visibility</p:attrName>
                                        </p:attrNameLst>
                                      </p:cBhvr>
                                      <p:to>
                                        <p:strVal val="visible"/>
                                      </p:to>
                                    </p:set>
                                    <p:animEffect transition="in" filter="dissolve">
                                      <p:cBhvr>
                                        <p:cTn id="32" dur="500"/>
                                        <p:tgtEl>
                                          <p:spTgt spid="126"/>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xit" presetSubtype="0" fill="hold" grpId="1" nodeType="clickEffect">
                                  <p:stCondLst>
                                    <p:cond delay="0"/>
                                  </p:stCondLst>
                                  <p:childTnLst>
                                    <p:animEffect transition="out" filter="dissolve">
                                      <p:cBhvr>
                                        <p:cTn id="36" dur="500"/>
                                        <p:tgtEl>
                                          <p:spTgt spid="10"/>
                                        </p:tgtEl>
                                      </p:cBhvr>
                                    </p:animEffect>
                                    <p:set>
                                      <p:cBhvr>
                                        <p:cTn id="37" dur="1" fill="hold">
                                          <p:stCondLst>
                                            <p:cond delay="499"/>
                                          </p:stCondLst>
                                        </p:cTn>
                                        <p:tgtEl>
                                          <p:spTgt spid="1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5" grpId="0"/>
      <p:bldP spid="126" grpId="0"/>
      <p:bldP spid="8" grpId="0" animBg="1"/>
      <p:bldP spid="8" grpId="1" animBg="1"/>
      <p:bldP spid="9" grpId="0" animBg="1"/>
      <p:bldP spid="9" grpId="1" animBg="1"/>
      <p:bldP spid="10" grpId="0" animBg="1"/>
      <p:bldP spid="10" grpId="1" animBg="1"/>
      <p:bldP spid="11"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grpSp>
        <p:nvGrpSpPr>
          <p:cNvPr id="8" name="Group 7"/>
          <p:cNvGrpSpPr/>
          <p:nvPr/>
        </p:nvGrpSpPr>
        <p:grpSpPr>
          <a:xfrm>
            <a:off x="311698" y="1297018"/>
            <a:ext cx="6677387" cy="1964129"/>
            <a:chOff x="311698" y="1297018"/>
            <a:chExt cx="6677387" cy="1964129"/>
          </a:xfrm>
        </p:grpSpPr>
        <p:pic>
          <p:nvPicPr>
            <p:cNvPr id="133" name="Shape 133"/>
            <p:cNvPicPr preferRelativeResize="0"/>
            <p:nvPr/>
          </p:nvPicPr>
          <p:blipFill>
            <a:blip r:embed="rId3">
              <a:alphaModFix/>
            </a:blip>
            <a:stretch>
              <a:fillRect/>
            </a:stretch>
          </p:blipFill>
          <p:spPr>
            <a:xfrm>
              <a:off x="311698" y="1297018"/>
              <a:ext cx="6677387" cy="1964129"/>
            </a:xfrm>
            <a:prstGeom prst="rect">
              <a:avLst/>
            </a:prstGeom>
            <a:noFill/>
            <a:ln>
              <a:noFill/>
            </a:ln>
          </p:spPr>
        </p:pic>
        <p:pic>
          <p:nvPicPr>
            <p:cNvPr id="30721" name="Picture 1"/>
            <p:cNvPicPr>
              <a:picLocks noChangeAspect="1" noChangeArrowheads="1"/>
            </p:cNvPicPr>
            <p:nvPr/>
          </p:nvPicPr>
          <p:blipFill>
            <a:blip r:embed="rId4"/>
            <a:srcRect/>
            <a:stretch>
              <a:fillRect/>
            </a:stretch>
          </p:blipFill>
          <p:spPr bwMode="auto">
            <a:xfrm>
              <a:off x="974955" y="2504154"/>
              <a:ext cx="1135199" cy="290201"/>
            </a:xfrm>
            <a:prstGeom prst="rect">
              <a:avLst/>
            </a:prstGeom>
            <a:noFill/>
            <a:ln w="9525">
              <a:noFill/>
              <a:miter lim="800000"/>
              <a:headEnd/>
              <a:tailEnd/>
            </a:ln>
            <a:effectLst/>
          </p:spPr>
        </p:pic>
      </p:grpSp>
      <p:sp>
        <p:nvSpPr>
          <p:cNvPr id="131" name="Shape 131"/>
          <p:cNvSpPr txBox="1">
            <a:spLocks noGrp="1"/>
          </p:cNvSpPr>
          <p:nvPr>
            <p:ph type="title"/>
          </p:nvPr>
        </p:nvSpPr>
        <p:spPr>
          <a:prstGeom prst="rect">
            <a:avLst/>
          </a:prstGeom>
        </p:spPr>
        <p:txBody>
          <a:bodyPr wrap="square" lIns="91425" tIns="91425" rIns="91425" bIns="91425" anchor="t" anchorCtr="0">
            <a:noAutofit/>
          </a:bodyPr>
          <a:lstStyle/>
          <a:p>
            <a:pPr lvl="0" indent="-69850">
              <a:buClr>
                <a:schemeClr val="dk1"/>
              </a:buClr>
              <a:buSzPts val="1100"/>
            </a:pPr>
            <a:r>
              <a:rPr lang="en-GB" dirty="0">
                <a:solidFill>
                  <a:srgbClr val="000000"/>
                </a:solidFill>
              </a:rPr>
              <a:t>Create the malicious web page</a:t>
            </a:r>
            <a:endParaRPr lang="en-GB" dirty="0"/>
          </a:p>
        </p:txBody>
      </p:sp>
      <p:sp>
        <p:nvSpPr>
          <p:cNvPr id="134" name="Shape 134"/>
          <p:cNvSpPr txBox="1"/>
          <p:nvPr/>
        </p:nvSpPr>
        <p:spPr>
          <a:xfrm>
            <a:off x="311698" y="3381287"/>
            <a:ext cx="8455031" cy="1606332"/>
          </a:xfrm>
          <a:prstGeom prst="rect">
            <a:avLst/>
          </a:prstGeom>
          <a:noFill/>
          <a:ln>
            <a:noFill/>
          </a:ln>
        </p:spPr>
        <p:txBody>
          <a:bodyPr wrap="square" lIns="91425" tIns="91425" rIns="91425" bIns="91425" anchor="t" anchorCtr="0">
            <a:noAutofit/>
          </a:bodyPr>
          <a:lstStyle/>
          <a:p>
            <a:pPr marL="342900" lvl="0" indent="-342900">
              <a:spcBef>
                <a:spcPts val="0"/>
              </a:spcBef>
              <a:buAutoNum type="arabicPeriod" startAt="2"/>
            </a:pPr>
            <a:r>
              <a:rPr lang="en-GB" dirty="0" smtClean="0"/>
              <a:t>The </a:t>
            </a:r>
            <a:r>
              <a:rPr lang="en-GB" dirty="0"/>
              <a:t>attacker </a:t>
            </a:r>
            <a:r>
              <a:rPr lang="en-GB" dirty="0" smtClean="0"/>
              <a:t>uses </a:t>
            </a:r>
            <a:r>
              <a:rPr lang="en-GB" dirty="0"/>
              <a:t>add-friend URL along with friend </a:t>
            </a:r>
            <a:r>
              <a:rPr lang="en-GB" dirty="0" smtClean="0"/>
              <a:t>parameter</a:t>
            </a:r>
            <a:r>
              <a:rPr lang="en-GB" dirty="0"/>
              <a:t>. The size of the image is very small so that the victim is not </a:t>
            </a:r>
            <a:r>
              <a:rPr lang="en-GB" dirty="0" smtClean="0"/>
              <a:t>suspicious about the broken image synbol.</a:t>
            </a:r>
          </a:p>
          <a:p>
            <a:pPr lvl="0">
              <a:spcBef>
                <a:spcPts val="0"/>
              </a:spcBef>
            </a:pPr>
            <a:endParaRPr lang="en-GB" dirty="0"/>
          </a:p>
          <a:p>
            <a:pPr marL="0" lvl="0" indent="0">
              <a:spcBef>
                <a:spcPts val="0"/>
              </a:spcBef>
              <a:buNone/>
            </a:pPr>
            <a:r>
              <a:rPr lang="en-GB" dirty="0" smtClean="0"/>
              <a:t>3.    The </a:t>
            </a:r>
            <a:r>
              <a:rPr lang="en-GB" dirty="0"/>
              <a:t>crafted web page is placed in the malicious website </a:t>
            </a:r>
            <a:r>
              <a:rPr lang="en-GB" u="sng" dirty="0">
                <a:solidFill>
                  <a:schemeClr val="hlink"/>
                </a:solidFill>
                <a:hlinkClick r:id="rId5"/>
              </a:rPr>
              <a:t>www.csrflabattacker.com</a:t>
            </a:r>
            <a:r>
              <a:rPr lang="en-GB" dirty="0"/>
              <a:t> (inside </a:t>
            </a:r>
            <a:r>
              <a:rPr lang="en-GB" dirty="0" smtClean="0"/>
              <a:t>the </a:t>
            </a:r>
            <a:r>
              <a:rPr lang="en-GB" dirty="0" smtClean="0">
                <a:latin typeface="Courier New" panose="02070309020205020404" pitchFamily="49" charset="0"/>
                <a:cs typeface="Courier New" panose="02070309020205020404" pitchFamily="49" charset="0"/>
              </a:rPr>
              <a:t>/</a:t>
            </a:r>
            <a:r>
              <a:rPr lang="en-GB" dirty="0" err="1" smtClean="0">
                <a:latin typeface="Courier New" panose="02070309020205020404" pitchFamily="49" charset="0"/>
                <a:cs typeface="Courier New" panose="02070309020205020404" pitchFamily="49" charset="0"/>
              </a:rPr>
              <a:t>var</a:t>
            </a:r>
            <a:r>
              <a:rPr lang="en-GB" dirty="0" smtClean="0">
                <a:latin typeface="Courier New" panose="02070309020205020404" pitchFamily="49" charset="0"/>
                <a:cs typeface="Courier New" panose="02070309020205020404" pitchFamily="49" charset="0"/>
              </a:rPr>
              <a:t>/www/CSRF/Attacker </a:t>
            </a:r>
            <a:r>
              <a:rPr lang="en-GB" dirty="0"/>
              <a:t>folder).</a:t>
            </a:r>
          </a:p>
        </p:txBody>
      </p:sp>
      <p:sp>
        <p:nvSpPr>
          <p:cNvPr id="135" name="Shape 135"/>
          <p:cNvSpPr txBox="1"/>
          <p:nvPr/>
        </p:nvSpPr>
        <p:spPr>
          <a:xfrm>
            <a:off x="6794698" y="1181293"/>
            <a:ext cx="2245974" cy="3247800"/>
          </a:xfrm>
          <a:prstGeom prst="rect">
            <a:avLst/>
          </a:prstGeom>
          <a:noFill/>
          <a:ln>
            <a:noFill/>
          </a:ln>
        </p:spPr>
        <p:txBody>
          <a:bodyPr wrap="square" lIns="91425" tIns="91425" rIns="91425" bIns="91425" anchor="t" anchorCtr="0">
            <a:noAutofit/>
          </a:bodyPr>
          <a:lstStyle/>
          <a:p>
            <a:pPr marL="365760" lvl="0">
              <a:buClr>
                <a:schemeClr val="dk1"/>
              </a:buClr>
              <a:buSzPts val="1800"/>
            </a:pPr>
            <a:r>
              <a:rPr lang="en-GB" dirty="0" smtClean="0">
                <a:solidFill>
                  <a:schemeClr val="dk1"/>
                </a:solidFill>
              </a:rPr>
              <a:t>1. The img tag will trigger an HTTP GET request. When browsers render a web page and sees an img tag, it sends an HTTP GET request to the URL specified in the src attribute.</a:t>
            </a:r>
            <a:endParaRPr lang="en-GB" dirty="0">
              <a:solidFill>
                <a:schemeClr val="dk1"/>
              </a:solidFill>
            </a:endParaRPr>
          </a:p>
        </p:txBody>
      </p:sp>
      <p:sp>
        <p:nvSpPr>
          <p:cNvPr id="6" name="Slide Number Placeholder 5"/>
          <p:cNvSpPr>
            <a:spLocks noGrp="1"/>
          </p:cNvSpPr>
          <p:nvPr>
            <p:ph type="sldNum" idx="12"/>
          </p:nvPr>
        </p:nvSpPr>
        <p:spPr/>
        <p:txBody>
          <a:bodyPr/>
          <a:lstStyle/>
          <a:p>
            <a:pPr marL="0" lvl="0" indent="0">
              <a:spcBef>
                <a:spcPts val="0"/>
              </a:spcBef>
              <a:buNone/>
            </a:pPr>
            <a:fld id="{00000000-1234-1234-1234-123412341234}" type="slidenum">
              <a:rPr lang="en-GB" smtClean="0"/>
              <a:pPr marL="0" lvl="0" indent="0">
                <a:spcBef>
                  <a:spcPts val="0"/>
                </a:spcBef>
                <a:buNone/>
              </a:pPr>
              <a:t>20</a:t>
            </a:fld>
            <a:endParaRPr lang="en-GB"/>
          </a:p>
        </p:txBody>
      </p:sp>
      <p:pic>
        <p:nvPicPr>
          <p:cNvPr id="1026" name="Picture 2"/>
          <p:cNvPicPr>
            <a:picLocks noChangeAspect="1" noChangeArrowheads="1"/>
          </p:cNvPicPr>
          <p:nvPr/>
        </p:nvPicPr>
        <p:blipFill>
          <a:blip r:embed="rId6"/>
          <a:srcRect/>
          <a:stretch>
            <a:fillRect/>
          </a:stretch>
        </p:blipFill>
        <p:spPr bwMode="auto">
          <a:xfrm>
            <a:off x="5795899" y="3704328"/>
            <a:ext cx="386788" cy="389833"/>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sp>
        <p:nvSpPr>
          <p:cNvPr id="140" name="Shape 140"/>
          <p:cNvSpPr txBox="1">
            <a:spLocks noGrp="1"/>
          </p:cNvSpPr>
          <p:nvPr>
            <p:ph type="title"/>
          </p:nvPr>
        </p:nvSpPr>
        <p:spPr>
          <a:prstGeom prst="rect">
            <a:avLst/>
          </a:prstGeom>
        </p:spPr>
        <p:txBody>
          <a:bodyPr wrap="square" lIns="91425" tIns="91425" rIns="91425" bIns="91425" anchor="t" anchorCtr="0">
            <a:noAutofit/>
          </a:bodyPr>
          <a:lstStyle/>
          <a:p>
            <a:pPr marL="0" lvl="0" indent="-69850">
              <a:spcBef>
                <a:spcPts val="0"/>
              </a:spcBef>
              <a:buClr>
                <a:schemeClr val="dk1"/>
              </a:buClr>
              <a:buSzPts val="1100"/>
              <a:buFont typeface="Arial"/>
              <a:buNone/>
            </a:pPr>
            <a:r>
              <a:rPr lang="en-GB" dirty="0" smtClean="0"/>
              <a:t>Launching the attack</a:t>
            </a:r>
            <a:endParaRPr lang="en-GB" dirty="0"/>
          </a:p>
        </p:txBody>
      </p:sp>
      <p:sp>
        <p:nvSpPr>
          <p:cNvPr id="141" name="Shape 141"/>
          <p:cNvSpPr txBox="1">
            <a:spLocks noGrp="1"/>
          </p:cNvSpPr>
          <p:nvPr>
            <p:ph type="body" idx="1"/>
          </p:nvPr>
        </p:nvSpPr>
        <p:spPr>
          <a:prstGeom prst="rect">
            <a:avLst/>
          </a:prstGeom>
        </p:spPr>
        <p:txBody>
          <a:bodyPr wrap="square" lIns="91425" tIns="91425" rIns="91425" bIns="91425" anchor="t" anchorCtr="0">
            <a:noAutofit/>
          </a:bodyPr>
          <a:lstStyle/>
          <a:p>
            <a:pPr marL="287338" indent="-287338">
              <a:spcAft>
                <a:spcPts val="1200"/>
              </a:spcAft>
              <a:buNone/>
            </a:pPr>
            <a:r>
              <a:rPr lang="en-GB" sz="2000" dirty="0" smtClean="0">
                <a:solidFill>
                  <a:srgbClr val="000000"/>
                </a:solidFill>
              </a:rPr>
              <a:t>For the attack to be successful, </a:t>
            </a:r>
            <a:r>
              <a:rPr lang="en-GB" sz="2000" dirty="0" err="1" smtClean="0">
                <a:solidFill>
                  <a:srgbClr val="000000"/>
                </a:solidFill>
              </a:rPr>
              <a:t>Samy</a:t>
            </a:r>
            <a:r>
              <a:rPr lang="en-GB" sz="2000" dirty="0" smtClean="0">
                <a:solidFill>
                  <a:srgbClr val="000000"/>
                </a:solidFill>
              </a:rPr>
              <a:t> has to lure Alice to visit the malicious page while Alice is having an active session with </a:t>
            </a:r>
            <a:r>
              <a:rPr lang="en-GB" sz="2000" dirty="0" err="1" smtClean="0">
                <a:solidFill>
                  <a:srgbClr val="000000"/>
                </a:solidFill>
              </a:rPr>
              <a:t>Elgg</a:t>
            </a:r>
            <a:r>
              <a:rPr lang="en-GB" sz="2000" dirty="0" smtClean="0">
                <a:solidFill>
                  <a:srgbClr val="000000"/>
                </a:solidFill>
              </a:rPr>
              <a:t> at </a:t>
            </a:r>
            <a:r>
              <a:rPr lang="en-GB" sz="2000" dirty="0" smtClean="0">
                <a:solidFill>
                  <a:srgbClr val="000000"/>
                </a:solidFill>
                <a:hlinkClick r:id="rId3"/>
              </a:rPr>
              <a:t>www.csrflabelgg.com</a:t>
            </a:r>
            <a:r>
              <a:rPr lang="en-GB" sz="2000" dirty="0" smtClean="0">
                <a:solidFill>
                  <a:srgbClr val="000000"/>
                </a:solidFill>
              </a:rPr>
              <a:t> </a:t>
            </a:r>
          </a:p>
          <a:p>
            <a:pPr marL="287338" indent="-287338">
              <a:spcAft>
                <a:spcPts val="1200"/>
              </a:spcAft>
            </a:pPr>
            <a:r>
              <a:rPr lang="en-GB" sz="2000" dirty="0" smtClean="0">
                <a:solidFill>
                  <a:srgbClr val="000000"/>
                </a:solidFill>
              </a:rPr>
              <a:t>Using </a:t>
            </a:r>
            <a:r>
              <a:rPr lang="en-GB" sz="2000" dirty="0" err="1" smtClean="0">
                <a:solidFill>
                  <a:srgbClr val="000000"/>
                </a:solidFill>
              </a:rPr>
              <a:t>Elgg</a:t>
            </a:r>
            <a:r>
              <a:rPr lang="en-GB" sz="2000" dirty="0" smtClean="0">
                <a:solidFill>
                  <a:srgbClr val="000000"/>
                </a:solidFill>
              </a:rPr>
              <a:t>, </a:t>
            </a:r>
            <a:r>
              <a:rPr lang="en-GB" sz="2000" dirty="0" err="1" smtClean="0">
                <a:solidFill>
                  <a:srgbClr val="000000"/>
                </a:solidFill>
              </a:rPr>
              <a:t>Samy</a:t>
            </a:r>
            <a:r>
              <a:rPr lang="en-GB" sz="2000" dirty="0" smtClean="0">
                <a:solidFill>
                  <a:srgbClr val="000000"/>
                </a:solidFill>
              </a:rPr>
              <a:t> </a:t>
            </a:r>
            <a:r>
              <a:rPr lang="en-GB" sz="2000" dirty="0">
                <a:solidFill>
                  <a:srgbClr val="000000"/>
                </a:solidFill>
              </a:rPr>
              <a:t>can send a </a:t>
            </a:r>
            <a:r>
              <a:rPr lang="en-GB" sz="2000" dirty="0" smtClean="0">
                <a:solidFill>
                  <a:srgbClr val="000000"/>
                </a:solidFill>
              </a:rPr>
              <a:t>private </a:t>
            </a:r>
            <a:r>
              <a:rPr lang="en-GB" sz="2000" dirty="0">
                <a:solidFill>
                  <a:srgbClr val="000000"/>
                </a:solidFill>
              </a:rPr>
              <a:t>message to Alice with the link to the malicious web </a:t>
            </a:r>
            <a:r>
              <a:rPr lang="en-GB" sz="2000" dirty="0" smtClean="0">
                <a:solidFill>
                  <a:srgbClr val="000000"/>
                </a:solidFill>
              </a:rPr>
              <a:t>page </a:t>
            </a:r>
            <a:r>
              <a:rPr lang="en-GB" sz="2000" dirty="0" smtClean="0">
                <a:solidFill>
                  <a:srgbClr val="000000"/>
                </a:solidFill>
                <a:hlinkClick r:id="rId4"/>
              </a:rPr>
              <a:t>www.csrflabattack.com</a:t>
            </a:r>
            <a:r>
              <a:rPr lang="en-GB" sz="2000" dirty="0" smtClean="0">
                <a:solidFill>
                  <a:srgbClr val="000000"/>
                </a:solidFill>
              </a:rPr>
              <a:t> </a:t>
            </a:r>
            <a:endParaRPr lang="en-GB" sz="2000" dirty="0">
              <a:solidFill>
                <a:srgbClr val="000000"/>
              </a:solidFill>
            </a:endParaRPr>
          </a:p>
          <a:p>
            <a:pPr marL="287338" indent="-287338">
              <a:spcAft>
                <a:spcPts val="1200"/>
              </a:spcAft>
            </a:pPr>
            <a:r>
              <a:rPr lang="en-GB" sz="2000" dirty="0" smtClean="0">
                <a:solidFill>
                  <a:srgbClr val="000000"/>
                </a:solidFill>
              </a:rPr>
              <a:t>If </a:t>
            </a:r>
            <a:r>
              <a:rPr lang="en-GB" sz="2000" dirty="0">
                <a:solidFill>
                  <a:srgbClr val="000000"/>
                </a:solidFill>
              </a:rPr>
              <a:t>Alice clicks the link, </a:t>
            </a:r>
            <a:r>
              <a:rPr lang="en-GB" sz="2000" dirty="0" err="1">
                <a:solidFill>
                  <a:srgbClr val="000000"/>
                </a:solidFill>
              </a:rPr>
              <a:t>Samy’s</a:t>
            </a:r>
            <a:r>
              <a:rPr lang="en-GB" sz="2000" dirty="0">
                <a:solidFill>
                  <a:srgbClr val="000000"/>
                </a:solidFill>
              </a:rPr>
              <a:t> malicious web page will be loaded into Alice’s browser and a forged add-friend request will be sent to the </a:t>
            </a:r>
            <a:r>
              <a:rPr lang="en-GB" sz="2000" dirty="0" err="1">
                <a:solidFill>
                  <a:srgbClr val="000000"/>
                </a:solidFill>
              </a:rPr>
              <a:t>Elgg</a:t>
            </a:r>
            <a:r>
              <a:rPr lang="en-GB" sz="2000" dirty="0">
                <a:solidFill>
                  <a:srgbClr val="000000"/>
                </a:solidFill>
              </a:rPr>
              <a:t> server.</a:t>
            </a:r>
          </a:p>
          <a:p>
            <a:pPr marL="287338" indent="-287338">
              <a:spcAft>
                <a:spcPts val="1200"/>
              </a:spcAft>
            </a:pPr>
            <a:r>
              <a:rPr lang="en-GB" sz="2000" dirty="0" smtClean="0">
                <a:solidFill>
                  <a:srgbClr val="000000"/>
                </a:solidFill>
              </a:rPr>
              <a:t>On </a:t>
            </a:r>
            <a:r>
              <a:rPr lang="en-GB" sz="2000" dirty="0">
                <a:solidFill>
                  <a:srgbClr val="000000"/>
                </a:solidFill>
              </a:rPr>
              <a:t>success, Samy will be added to Alice’s friend list.</a:t>
            </a:r>
          </a:p>
        </p:txBody>
      </p:sp>
      <p:sp>
        <p:nvSpPr>
          <p:cNvPr id="4" name="Slide Number Placeholder 3"/>
          <p:cNvSpPr>
            <a:spLocks noGrp="1"/>
          </p:cNvSpPr>
          <p:nvPr>
            <p:ph type="sldNum" idx="12"/>
          </p:nvPr>
        </p:nvSpPr>
        <p:spPr/>
        <p:txBody>
          <a:bodyPr/>
          <a:lstStyle/>
          <a:p>
            <a:pPr marL="0" lvl="0" indent="0">
              <a:spcBef>
                <a:spcPts val="0"/>
              </a:spcBef>
              <a:buNone/>
            </a:pPr>
            <a:fld id="{00000000-1234-1234-1234-123412341234}" type="slidenum">
              <a:rPr lang="en-GB" smtClean="0"/>
              <a:pPr marL="0" lvl="0" indent="0">
                <a:spcBef>
                  <a:spcPts val="0"/>
                </a:spcBef>
                <a:buNone/>
              </a:pPr>
              <a:t>21</a:t>
            </a:fld>
            <a:endParaRPr lang="en-GB"/>
          </a:p>
        </p:txBody>
      </p:sp>
      <p:pic>
        <p:nvPicPr>
          <p:cNvPr id="6" name="Picture 1"/>
          <p:cNvPicPr>
            <a:picLocks noChangeAspect="1" noChangeArrowheads="1"/>
          </p:cNvPicPr>
          <p:nvPr/>
        </p:nvPicPr>
        <p:blipFill>
          <a:blip r:embed="rId5"/>
          <a:srcRect r="59079"/>
          <a:stretch>
            <a:fillRect/>
          </a:stretch>
        </p:blipFill>
        <p:spPr bwMode="auto">
          <a:xfrm>
            <a:off x="6315494" y="3302466"/>
            <a:ext cx="1722782" cy="1652516"/>
          </a:xfrm>
          <a:prstGeom prst="rect">
            <a:avLst/>
          </a:prstGeom>
          <a:noFill/>
          <a:ln w="9525">
            <a:noFill/>
            <a:miter lim="800000"/>
            <a:headEnd/>
            <a:tailEnd/>
          </a:ln>
          <a:effectLst/>
        </p:spPr>
      </p:pic>
      <p:pic>
        <p:nvPicPr>
          <p:cNvPr id="28674" name="Picture 2"/>
          <p:cNvPicPr>
            <a:picLocks noChangeAspect="1" noChangeArrowheads="1"/>
          </p:cNvPicPr>
          <p:nvPr/>
        </p:nvPicPr>
        <p:blipFill>
          <a:blip r:embed="rId6"/>
          <a:srcRect/>
          <a:stretch>
            <a:fillRect/>
          </a:stretch>
        </p:blipFill>
        <p:spPr bwMode="auto">
          <a:xfrm>
            <a:off x="1690254" y="3671432"/>
            <a:ext cx="4267200" cy="866775"/>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146" name="Shape 146"/>
          <p:cNvSpPr txBox="1">
            <a:spLocks noGrp="1"/>
          </p:cNvSpPr>
          <p:nvPr>
            <p:ph type="title"/>
          </p:nvPr>
        </p:nvSpPr>
        <p:spPr>
          <a:prstGeom prst="rect">
            <a:avLst/>
          </a:prstGeom>
        </p:spPr>
        <p:txBody>
          <a:bodyPr wrap="square" lIns="91425" tIns="91425" rIns="91425" bIns="91425" anchor="t" anchorCtr="0">
            <a:noAutofit/>
          </a:bodyPr>
          <a:lstStyle/>
          <a:p>
            <a:pPr marL="0" lvl="0" indent="0">
              <a:spcBef>
                <a:spcPts val="0"/>
              </a:spcBef>
              <a:buNone/>
            </a:pPr>
            <a:r>
              <a:rPr lang="en-GB" dirty="0" err="1"/>
              <a:t>CSRF</a:t>
            </a:r>
            <a:r>
              <a:rPr lang="en-GB" dirty="0"/>
              <a:t> Attacks on HTTP POST </a:t>
            </a:r>
            <a:r>
              <a:rPr lang="en-GB" dirty="0" smtClean="0"/>
              <a:t>Services</a:t>
            </a:r>
            <a:endParaRPr lang="en-GB" dirty="0"/>
          </a:p>
        </p:txBody>
      </p:sp>
      <p:sp>
        <p:nvSpPr>
          <p:cNvPr id="147" name="Shape 147"/>
          <p:cNvSpPr txBox="1">
            <a:spLocks noGrp="1"/>
          </p:cNvSpPr>
          <p:nvPr>
            <p:ph type="body" idx="1"/>
          </p:nvPr>
        </p:nvSpPr>
        <p:spPr>
          <a:xfrm>
            <a:off x="311700" y="1152475"/>
            <a:ext cx="8520600" cy="509100"/>
          </a:xfrm>
          <a:prstGeom prst="rect">
            <a:avLst/>
          </a:prstGeom>
        </p:spPr>
        <p:txBody>
          <a:bodyPr wrap="square" lIns="91425" tIns="91425" rIns="91425" bIns="91425" anchor="t" anchorCtr="0">
            <a:noAutofit/>
          </a:bodyPr>
          <a:lstStyle/>
          <a:p>
            <a:pPr marL="0" lvl="0" indent="0">
              <a:spcBef>
                <a:spcPts val="0"/>
              </a:spcBef>
              <a:buNone/>
            </a:pPr>
            <a:r>
              <a:rPr lang="en-GB" b="1">
                <a:solidFill>
                  <a:srgbClr val="000000"/>
                </a:solidFill>
              </a:rPr>
              <a:t>Constructing a POST Request Using JavaScript</a:t>
            </a:r>
          </a:p>
        </p:txBody>
      </p:sp>
      <p:pic>
        <p:nvPicPr>
          <p:cNvPr id="148" name="Shape 148"/>
          <p:cNvPicPr preferRelativeResize="0"/>
          <p:nvPr/>
        </p:nvPicPr>
        <p:blipFill>
          <a:blip r:embed="rId3">
            <a:alphaModFix/>
          </a:blip>
          <a:stretch>
            <a:fillRect/>
          </a:stretch>
        </p:blipFill>
        <p:spPr>
          <a:xfrm>
            <a:off x="416825" y="2339657"/>
            <a:ext cx="8005800" cy="1144850"/>
          </a:xfrm>
          <a:prstGeom prst="rect">
            <a:avLst/>
          </a:prstGeom>
          <a:noFill/>
          <a:ln>
            <a:noFill/>
          </a:ln>
        </p:spPr>
      </p:pic>
      <p:sp>
        <p:nvSpPr>
          <p:cNvPr id="149" name="Shape 149"/>
          <p:cNvSpPr txBox="1"/>
          <p:nvPr/>
        </p:nvSpPr>
        <p:spPr>
          <a:xfrm>
            <a:off x="383450" y="3540247"/>
            <a:ext cx="8118600" cy="1575086"/>
          </a:xfrm>
          <a:prstGeom prst="rect">
            <a:avLst/>
          </a:prstGeom>
          <a:noFill/>
          <a:ln>
            <a:noFill/>
          </a:ln>
        </p:spPr>
        <p:txBody>
          <a:bodyPr wrap="square" lIns="91425" tIns="91425" rIns="91425" bIns="91425" anchor="t" anchorCtr="0">
            <a:noAutofit/>
          </a:bodyPr>
          <a:lstStyle/>
          <a:p>
            <a:pPr marL="457200" lvl="0" indent="-342900">
              <a:spcBef>
                <a:spcPts val="0"/>
              </a:spcBef>
              <a:spcAft>
                <a:spcPts val="0"/>
              </a:spcAft>
              <a:buSzPts val="1800"/>
              <a:buChar char="●"/>
            </a:pPr>
            <a:r>
              <a:rPr lang="en-GB" sz="1600" dirty="0"/>
              <a:t>POST requests can be generated using HTML forms. The above form has two text fields and a </a:t>
            </a:r>
            <a:r>
              <a:rPr lang="en-GB" sz="1600" dirty="0" smtClean="0">
                <a:latin typeface="Courier New" panose="02070309020205020404" pitchFamily="49" charset="0"/>
                <a:cs typeface="Courier New" panose="02070309020205020404" pitchFamily="49" charset="0"/>
              </a:rPr>
              <a:t>Submit</a:t>
            </a:r>
            <a:r>
              <a:rPr lang="en-GB" sz="1600" dirty="0" smtClean="0"/>
              <a:t> </a:t>
            </a:r>
            <a:r>
              <a:rPr lang="en-GB" sz="1600" dirty="0"/>
              <a:t>button.</a:t>
            </a:r>
          </a:p>
          <a:p>
            <a:pPr marL="457200" lvl="0" indent="-342900">
              <a:buSzPts val="1800"/>
              <a:buChar char="●"/>
            </a:pPr>
            <a:r>
              <a:rPr lang="en-GB" sz="1600" dirty="0"/>
              <a:t>When the user clicks on the </a:t>
            </a:r>
            <a:r>
              <a:rPr lang="en-GB" sz="1600" dirty="0" smtClean="0">
                <a:latin typeface="Courier New" panose="02070309020205020404" pitchFamily="49" charset="0"/>
                <a:cs typeface="Courier New" panose="02070309020205020404" pitchFamily="49" charset="0"/>
              </a:rPr>
              <a:t>Submit</a:t>
            </a:r>
            <a:r>
              <a:rPr lang="en-GB" sz="1600" dirty="0" smtClean="0">
                <a:latin typeface="Arial" panose="020B0604020202020204" pitchFamily="34" charset="0"/>
                <a:cs typeface="Arial" panose="020B0604020202020204" pitchFamily="34" charset="0"/>
              </a:rPr>
              <a:t> </a:t>
            </a:r>
            <a:r>
              <a:rPr lang="en-GB" sz="1600" dirty="0" smtClean="0"/>
              <a:t>button</a:t>
            </a:r>
            <a:r>
              <a:rPr lang="en-GB" sz="1600" dirty="0"/>
              <a:t>, POST request will be sent out to the URL </a:t>
            </a:r>
            <a:r>
              <a:rPr lang="en-GB" sz="1600" dirty="0" smtClean="0"/>
              <a:t>specified in </a:t>
            </a:r>
            <a:r>
              <a:rPr lang="en-GB" sz="1600" dirty="0"/>
              <a:t>the action field with </a:t>
            </a:r>
            <a:r>
              <a:rPr lang="en-GB" sz="1600" i="1" dirty="0" smtClean="0">
                <a:latin typeface="Courier New" panose="02070309020205020404" pitchFamily="49" charset="0"/>
                <a:cs typeface="Courier New" panose="02070309020205020404" pitchFamily="49" charset="0"/>
              </a:rPr>
              <a:t>to</a:t>
            </a:r>
            <a:r>
              <a:rPr lang="en-GB" sz="1600" dirty="0" smtClean="0">
                <a:latin typeface="Arial" panose="020B0604020202020204" pitchFamily="34" charset="0"/>
                <a:cs typeface="Arial" panose="020B0604020202020204" pitchFamily="34" charset="0"/>
              </a:rPr>
              <a:t> </a:t>
            </a:r>
            <a:r>
              <a:rPr lang="en-GB" sz="1600" dirty="0"/>
              <a:t>and </a:t>
            </a:r>
            <a:r>
              <a:rPr lang="en-GB" sz="1600" i="1" dirty="0" smtClean="0">
                <a:latin typeface="Courier New" panose="02070309020205020404" pitchFamily="49" charset="0"/>
                <a:cs typeface="Courier New" panose="02070309020205020404" pitchFamily="49" charset="0"/>
              </a:rPr>
              <a:t>amount</a:t>
            </a:r>
            <a:r>
              <a:rPr lang="en-GB" sz="1600" dirty="0" smtClean="0"/>
              <a:t> </a:t>
            </a:r>
            <a:r>
              <a:rPr lang="en-GB" sz="1600" dirty="0"/>
              <a:t>fields included in the body.</a:t>
            </a:r>
          </a:p>
          <a:p>
            <a:pPr marL="457200" lvl="0" indent="-342900">
              <a:spcBef>
                <a:spcPts val="0"/>
              </a:spcBef>
              <a:buSzPts val="1800"/>
              <a:buChar char="●"/>
            </a:pPr>
            <a:r>
              <a:rPr lang="en-GB" sz="1600" dirty="0">
                <a:solidFill>
                  <a:srgbClr val="C00000"/>
                </a:solidFill>
              </a:rPr>
              <a:t>Attacker’s job is to </a:t>
            </a:r>
            <a:r>
              <a:rPr lang="en-GB" sz="1600" dirty="0" smtClean="0">
                <a:solidFill>
                  <a:srgbClr val="C00000"/>
                </a:solidFill>
              </a:rPr>
              <a:t>click on the button without the help from the user.</a:t>
            </a:r>
            <a:endParaRPr lang="en-GB" sz="1600" dirty="0">
              <a:solidFill>
                <a:srgbClr val="C00000"/>
              </a:solidFill>
            </a:endParaRPr>
          </a:p>
        </p:txBody>
      </p:sp>
      <p:sp>
        <p:nvSpPr>
          <p:cNvPr id="6" name="Slide Number Placeholder 5"/>
          <p:cNvSpPr>
            <a:spLocks noGrp="1"/>
          </p:cNvSpPr>
          <p:nvPr>
            <p:ph type="sldNum" idx="12"/>
          </p:nvPr>
        </p:nvSpPr>
        <p:spPr/>
        <p:txBody>
          <a:bodyPr/>
          <a:lstStyle/>
          <a:p>
            <a:pPr marL="0" lvl="0" indent="0">
              <a:spcBef>
                <a:spcPts val="0"/>
              </a:spcBef>
              <a:buNone/>
            </a:pPr>
            <a:fld id="{00000000-1234-1234-1234-123412341234}" type="slidenum">
              <a:rPr lang="en-GB" smtClean="0"/>
              <a:pPr marL="0" lvl="0" indent="0">
                <a:spcBef>
                  <a:spcPts val="0"/>
                </a:spcBef>
                <a:buNone/>
              </a:pPr>
              <a:t>22</a:t>
            </a:fld>
            <a:endParaRPr lang="en-GB"/>
          </a:p>
        </p:txBody>
      </p:sp>
      <p:sp>
        <p:nvSpPr>
          <p:cNvPr id="9" name="Rectangle 8"/>
          <p:cNvSpPr/>
          <p:nvPr/>
        </p:nvSpPr>
        <p:spPr>
          <a:xfrm>
            <a:off x="6011199" y="1334342"/>
            <a:ext cx="2403931" cy="87214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en-US" sz="1200"/>
          </a:p>
        </p:txBody>
      </p:sp>
      <p:sp>
        <p:nvSpPr>
          <p:cNvPr id="10" name="TextBox 9"/>
          <p:cNvSpPr txBox="1"/>
          <p:nvPr/>
        </p:nvSpPr>
        <p:spPr>
          <a:xfrm>
            <a:off x="6043172" y="1372708"/>
            <a:ext cx="1446230" cy="276999"/>
          </a:xfrm>
          <a:prstGeom prst="rect">
            <a:avLst/>
          </a:prstGeom>
          <a:noFill/>
        </p:spPr>
        <p:txBody>
          <a:bodyPr wrap="none" rtlCol="0">
            <a:spAutoFit/>
          </a:bodyPr>
          <a:lstStyle/>
          <a:p>
            <a:r>
              <a:rPr lang="en-US" sz="1200" dirty="0" smtClean="0"/>
              <a:t>Recipient account:</a:t>
            </a:r>
            <a:endParaRPr lang="en-US" sz="1200" dirty="0"/>
          </a:p>
        </p:txBody>
      </p:sp>
      <p:sp>
        <p:nvSpPr>
          <p:cNvPr id="11" name="TextBox 10"/>
          <p:cNvSpPr txBox="1"/>
          <p:nvPr/>
        </p:nvSpPr>
        <p:spPr>
          <a:xfrm>
            <a:off x="6043172" y="1666851"/>
            <a:ext cx="756938" cy="276999"/>
          </a:xfrm>
          <a:prstGeom prst="rect">
            <a:avLst/>
          </a:prstGeom>
          <a:noFill/>
        </p:spPr>
        <p:txBody>
          <a:bodyPr wrap="none" rtlCol="0">
            <a:spAutoFit/>
          </a:bodyPr>
          <a:lstStyle/>
          <a:p>
            <a:r>
              <a:rPr lang="en-US" sz="1200" dirty="0" smtClean="0"/>
              <a:t>Amount:</a:t>
            </a:r>
            <a:endParaRPr lang="en-US" sz="1200" dirty="0"/>
          </a:p>
        </p:txBody>
      </p:sp>
      <p:sp>
        <p:nvSpPr>
          <p:cNvPr id="12" name="Rectangle 11"/>
          <p:cNvSpPr/>
          <p:nvPr/>
        </p:nvSpPr>
        <p:spPr>
          <a:xfrm>
            <a:off x="7429539" y="1422939"/>
            <a:ext cx="895216" cy="185437"/>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r>
              <a:rPr lang="en-US" sz="1200" dirty="0" smtClean="0"/>
              <a:t>3220</a:t>
            </a:r>
            <a:endParaRPr lang="en-US" sz="1200" dirty="0"/>
          </a:p>
        </p:txBody>
      </p:sp>
      <p:sp>
        <p:nvSpPr>
          <p:cNvPr id="13" name="Rectangle 12"/>
          <p:cNvSpPr/>
          <p:nvPr/>
        </p:nvSpPr>
        <p:spPr>
          <a:xfrm>
            <a:off x="6748963" y="1717315"/>
            <a:ext cx="895216" cy="185437"/>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r>
              <a:rPr lang="en-US" sz="1200" dirty="0" smtClean="0"/>
              <a:t>500</a:t>
            </a:r>
            <a:endParaRPr lang="en-US" sz="1200" dirty="0"/>
          </a:p>
        </p:txBody>
      </p:sp>
      <p:sp>
        <p:nvSpPr>
          <p:cNvPr id="14" name="Rectangle 13"/>
          <p:cNvSpPr/>
          <p:nvPr/>
        </p:nvSpPr>
        <p:spPr>
          <a:xfrm>
            <a:off x="6145995" y="1969106"/>
            <a:ext cx="895216" cy="185437"/>
          </a:xfrm>
          <a:prstGeom prst="rect">
            <a:avLst/>
          </a:prstGeom>
          <a:solidFill>
            <a:schemeClr val="bg1">
              <a:lumMod val="85000"/>
            </a:schemeClr>
          </a:solidFill>
          <a:ln>
            <a:solidFill>
              <a:schemeClr val="bg1">
                <a:lumMod val="65000"/>
              </a:schemeClr>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sz="1200" dirty="0" smtClean="0"/>
              <a:t>Submit</a:t>
            </a:r>
            <a:endParaRPr lang="en-US" sz="1200" dirty="0"/>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53"/>
        <p:cNvGrpSpPr/>
        <p:nvPr/>
      </p:nvGrpSpPr>
      <p:grpSpPr>
        <a:xfrm>
          <a:off x="0" y="0"/>
          <a:ext cx="0" cy="0"/>
          <a:chOff x="0" y="0"/>
          <a:chExt cx="0" cy="0"/>
        </a:xfrm>
      </p:grpSpPr>
      <p:sp>
        <p:nvSpPr>
          <p:cNvPr id="154" name="Shape 154"/>
          <p:cNvSpPr txBox="1">
            <a:spLocks noGrp="1"/>
          </p:cNvSpPr>
          <p:nvPr>
            <p:ph type="title"/>
          </p:nvPr>
        </p:nvSpPr>
        <p:spPr>
          <a:prstGeom prst="rect">
            <a:avLst/>
          </a:prstGeom>
        </p:spPr>
        <p:txBody>
          <a:bodyPr wrap="square" lIns="91425" tIns="91425" rIns="91425" bIns="91425" anchor="t" anchorCtr="0">
            <a:noAutofit/>
          </a:bodyPr>
          <a:lstStyle/>
          <a:p>
            <a:pPr marL="0" lvl="0" indent="-69850">
              <a:spcBef>
                <a:spcPts val="0"/>
              </a:spcBef>
              <a:buClr>
                <a:schemeClr val="dk1"/>
              </a:buClr>
              <a:buSzPts val="1100"/>
              <a:buFont typeface="Arial"/>
              <a:buNone/>
            </a:pPr>
            <a:r>
              <a:rPr lang="en-GB" dirty="0"/>
              <a:t>CSRF Attacks on HTTP POST Services</a:t>
            </a:r>
          </a:p>
        </p:txBody>
      </p:sp>
      <p:pic>
        <p:nvPicPr>
          <p:cNvPr id="155" name="Shape 155"/>
          <p:cNvPicPr preferRelativeResize="0"/>
          <p:nvPr/>
        </p:nvPicPr>
        <p:blipFill>
          <a:blip r:embed="rId3">
            <a:alphaModFix/>
          </a:blip>
          <a:stretch>
            <a:fillRect/>
          </a:stretch>
        </p:blipFill>
        <p:spPr>
          <a:xfrm>
            <a:off x="81501" y="973467"/>
            <a:ext cx="6415215" cy="3937436"/>
          </a:xfrm>
          <a:prstGeom prst="rect">
            <a:avLst/>
          </a:prstGeom>
          <a:noFill/>
          <a:ln>
            <a:noFill/>
          </a:ln>
        </p:spPr>
      </p:pic>
      <p:sp>
        <p:nvSpPr>
          <p:cNvPr id="156" name="Shape 156"/>
          <p:cNvSpPr txBox="1"/>
          <p:nvPr/>
        </p:nvSpPr>
        <p:spPr>
          <a:xfrm>
            <a:off x="6605420" y="1032672"/>
            <a:ext cx="2400303" cy="3920100"/>
          </a:xfrm>
          <a:prstGeom prst="rect">
            <a:avLst/>
          </a:prstGeom>
          <a:noFill/>
          <a:ln>
            <a:noFill/>
          </a:ln>
        </p:spPr>
        <p:txBody>
          <a:bodyPr wrap="square" lIns="91425" tIns="91425" rIns="91425" bIns="91425" anchor="t" anchorCtr="0">
            <a:noAutofit/>
          </a:bodyPr>
          <a:lstStyle/>
          <a:p>
            <a:pPr marL="0" lvl="0" indent="0">
              <a:spcBef>
                <a:spcPts val="0"/>
              </a:spcBef>
              <a:buNone/>
            </a:pPr>
            <a:r>
              <a:rPr lang="en-GB" u="sng" dirty="0"/>
              <a:t>Line </a:t>
            </a:r>
            <a:r>
              <a:rPr lang="en-GB" u="sng" dirty="0" smtClean="0">
                <a:latin typeface="Arial Unicode MS" panose="020B0604020202020204" pitchFamily="34" charset="-128"/>
                <a:ea typeface="Arial Unicode MS" panose="020B0604020202020204" pitchFamily="34" charset="-128"/>
                <a:cs typeface="Arial Unicode MS" panose="020B0604020202020204" pitchFamily="34" charset="-128"/>
              </a:rPr>
              <a:t>①</a:t>
            </a:r>
            <a:r>
              <a:rPr lang="en-GB" u="sng" dirty="0" smtClean="0"/>
              <a:t>: </a:t>
            </a:r>
            <a:r>
              <a:rPr lang="en-GB" dirty="0"/>
              <a:t>Creates a form </a:t>
            </a:r>
            <a:r>
              <a:rPr lang="en-GB" dirty="0" smtClean="0"/>
              <a:t>dynamically; request </a:t>
            </a:r>
            <a:r>
              <a:rPr lang="en-GB" dirty="0"/>
              <a:t>type is set to “POST”</a:t>
            </a:r>
          </a:p>
          <a:p>
            <a:pPr marL="0" lvl="0" indent="0">
              <a:spcBef>
                <a:spcPts val="0"/>
              </a:spcBef>
              <a:buNone/>
            </a:pPr>
            <a:endParaRPr dirty="0"/>
          </a:p>
          <a:p>
            <a:pPr marL="0" lvl="0" indent="0">
              <a:spcBef>
                <a:spcPts val="0"/>
              </a:spcBef>
              <a:buNone/>
            </a:pPr>
            <a:r>
              <a:rPr lang="en-GB" u="sng" dirty="0"/>
              <a:t>Line </a:t>
            </a:r>
            <a:r>
              <a:rPr lang="en-GB" u="sng" dirty="0" smtClean="0">
                <a:latin typeface="Arial Unicode MS" panose="020B0604020202020204" pitchFamily="34" charset="-128"/>
                <a:ea typeface="Arial Unicode MS" panose="020B0604020202020204" pitchFamily="34" charset="-128"/>
                <a:cs typeface="Arial Unicode MS" panose="020B0604020202020204" pitchFamily="34" charset="-128"/>
              </a:rPr>
              <a:t>②</a:t>
            </a:r>
            <a:r>
              <a:rPr lang="en-GB" u="sng" dirty="0" smtClean="0"/>
              <a:t>:</a:t>
            </a:r>
            <a:r>
              <a:rPr lang="en-GB" dirty="0" smtClean="0"/>
              <a:t> </a:t>
            </a:r>
            <a:r>
              <a:rPr lang="en-GB" dirty="0"/>
              <a:t>The fields in the form are “hidden</a:t>
            </a:r>
            <a:r>
              <a:rPr lang="en-GB" dirty="0" smtClean="0"/>
              <a:t>”. Hence</a:t>
            </a:r>
            <a:r>
              <a:rPr lang="en-GB" dirty="0"/>
              <a:t>, after the form is constructed, it is added to the current web page.</a:t>
            </a:r>
          </a:p>
          <a:p>
            <a:pPr marL="0" lvl="0" indent="0">
              <a:spcBef>
                <a:spcPts val="0"/>
              </a:spcBef>
              <a:buNone/>
            </a:pPr>
            <a:endParaRPr dirty="0"/>
          </a:p>
          <a:p>
            <a:pPr marL="0" lvl="0" indent="-69850">
              <a:spcBef>
                <a:spcPts val="0"/>
              </a:spcBef>
              <a:buClr>
                <a:schemeClr val="dk1"/>
              </a:buClr>
              <a:buSzPts val="1100"/>
              <a:buFont typeface="Arial"/>
              <a:buNone/>
            </a:pPr>
            <a:r>
              <a:rPr lang="en-GB" u="sng" dirty="0">
                <a:solidFill>
                  <a:schemeClr val="dk1"/>
                </a:solidFill>
              </a:rPr>
              <a:t>Line </a:t>
            </a:r>
            <a:r>
              <a:rPr lang="en-GB" u="sng" dirty="0" smtClean="0">
                <a:solidFill>
                  <a:schemeClr val="dk1"/>
                </a:solidFill>
                <a:latin typeface="Arial Unicode MS" panose="020B0604020202020204" pitchFamily="34" charset="-128"/>
                <a:ea typeface="Arial Unicode MS" panose="020B0604020202020204" pitchFamily="34" charset="-128"/>
                <a:cs typeface="Arial Unicode MS" panose="020B0604020202020204" pitchFamily="34" charset="-128"/>
              </a:rPr>
              <a:t>③</a:t>
            </a:r>
            <a:r>
              <a:rPr lang="en-GB" u="sng" dirty="0" smtClean="0">
                <a:solidFill>
                  <a:schemeClr val="dk1"/>
                </a:solidFill>
              </a:rPr>
              <a:t>:</a:t>
            </a:r>
            <a:r>
              <a:rPr lang="en-GB" dirty="0" smtClean="0">
                <a:solidFill>
                  <a:schemeClr val="dk1"/>
                </a:solidFill>
              </a:rPr>
              <a:t> </a:t>
            </a:r>
            <a:r>
              <a:rPr lang="en-GB" dirty="0">
                <a:solidFill>
                  <a:schemeClr val="dk1"/>
                </a:solidFill>
              </a:rPr>
              <a:t>Submits the </a:t>
            </a:r>
            <a:r>
              <a:rPr lang="en-GB" dirty="0" smtClean="0">
                <a:solidFill>
                  <a:schemeClr val="dk1"/>
                </a:solidFill>
              </a:rPr>
              <a:t>form automatically.</a:t>
            </a:r>
            <a:endParaRPr lang="en-GB" dirty="0">
              <a:solidFill>
                <a:schemeClr val="dk1"/>
              </a:solidFill>
            </a:endParaRPr>
          </a:p>
          <a:p>
            <a:pPr marL="0" lvl="0" indent="0">
              <a:spcBef>
                <a:spcPts val="0"/>
              </a:spcBef>
              <a:buNone/>
            </a:pPr>
            <a:endParaRPr dirty="0"/>
          </a:p>
          <a:p>
            <a:pPr marL="0" lvl="0" indent="0">
              <a:spcBef>
                <a:spcPts val="0"/>
              </a:spcBef>
              <a:buNone/>
            </a:pPr>
            <a:endParaRPr dirty="0"/>
          </a:p>
        </p:txBody>
      </p:sp>
      <p:sp>
        <p:nvSpPr>
          <p:cNvPr id="157" name="Shape 157"/>
          <p:cNvSpPr txBox="1"/>
          <p:nvPr/>
        </p:nvSpPr>
        <p:spPr>
          <a:xfrm>
            <a:off x="6605422" y="3807935"/>
            <a:ext cx="2538578" cy="762900"/>
          </a:xfrm>
          <a:prstGeom prst="rect">
            <a:avLst/>
          </a:prstGeom>
          <a:noFill/>
          <a:ln>
            <a:noFill/>
          </a:ln>
        </p:spPr>
        <p:txBody>
          <a:bodyPr wrap="square" lIns="91425" tIns="91425" rIns="91425" bIns="91425" anchor="t" anchorCtr="0">
            <a:noAutofit/>
          </a:bodyPr>
          <a:lstStyle/>
          <a:p>
            <a:pPr marL="0" lvl="0" indent="-69850">
              <a:spcBef>
                <a:spcPts val="0"/>
              </a:spcBef>
              <a:buClr>
                <a:schemeClr val="dk1"/>
              </a:buClr>
              <a:buSzPts val="1100"/>
              <a:buFont typeface="Arial"/>
              <a:buNone/>
            </a:pPr>
            <a:r>
              <a:rPr lang="en-GB" u="sng" dirty="0">
                <a:solidFill>
                  <a:schemeClr val="dk1"/>
                </a:solidFill>
              </a:rPr>
              <a:t>Line </a:t>
            </a:r>
            <a:r>
              <a:rPr lang="en-GB" u="sng" dirty="0" smtClean="0">
                <a:solidFill>
                  <a:schemeClr val="dk1"/>
                </a:solidFill>
                <a:latin typeface="Arial Unicode MS" panose="020B0604020202020204" pitchFamily="34" charset="-128"/>
                <a:ea typeface="Arial Unicode MS" panose="020B0604020202020204" pitchFamily="34" charset="-128"/>
                <a:cs typeface="Arial Unicode MS" panose="020B0604020202020204" pitchFamily="34" charset="-128"/>
              </a:rPr>
              <a:t>④</a:t>
            </a:r>
            <a:r>
              <a:rPr lang="en-GB" u="sng" dirty="0" smtClean="0">
                <a:solidFill>
                  <a:schemeClr val="dk1"/>
                </a:solidFill>
              </a:rPr>
              <a:t>: </a:t>
            </a:r>
            <a:r>
              <a:rPr lang="en-GB" dirty="0">
                <a:solidFill>
                  <a:schemeClr val="dk1"/>
                </a:solidFill>
              </a:rPr>
              <a:t>The </a:t>
            </a:r>
            <a:r>
              <a:rPr lang="en-GB" dirty="0" smtClean="0">
                <a:solidFill>
                  <a:schemeClr val="dk1"/>
                </a:solidFill>
              </a:rPr>
              <a:t>JavaScript </a:t>
            </a:r>
            <a:r>
              <a:rPr lang="en-GB" dirty="0">
                <a:solidFill>
                  <a:schemeClr val="dk1"/>
                </a:solidFill>
              </a:rPr>
              <a:t>function “</a:t>
            </a:r>
            <a:r>
              <a:rPr lang="en-GB" dirty="0" err="1">
                <a:solidFill>
                  <a:schemeClr val="dk1"/>
                </a:solidFill>
              </a:rPr>
              <a:t>forge_post</a:t>
            </a:r>
            <a:r>
              <a:rPr lang="en-GB" dirty="0">
                <a:solidFill>
                  <a:schemeClr val="dk1"/>
                </a:solidFill>
              </a:rPr>
              <a:t>()” will be invoked automatically once the page is loaded.</a:t>
            </a:r>
          </a:p>
        </p:txBody>
      </p:sp>
      <p:sp>
        <p:nvSpPr>
          <p:cNvPr id="6" name="Slide Number Placeholder 5"/>
          <p:cNvSpPr>
            <a:spLocks noGrp="1"/>
          </p:cNvSpPr>
          <p:nvPr>
            <p:ph type="sldNum" idx="12"/>
          </p:nvPr>
        </p:nvSpPr>
        <p:spPr/>
        <p:txBody>
          <a:bodyPr/>
          <a:lstStyle/>
          <a:p>
            <a:pPr marL="0" lvl="0" indent="0">
              <a:spcBef>
                <a:spcPts val="0"/>
              </a:spcBef>
              <a:buNone/>
            </a:pPr>
            <a:fld id="{00000000-1234-1234-1234-123412341234}" type="slidenum">
              <a:rPr lang="en-GB" smtClean="0"/>
              <a:pPr marL="0" lvl="0" indent="0">
                <a:spcBef>
                  <a:spcPts val="0"/>
                </a:spcBef>
                <a:buNone/>
              </a:pPr>
              <a:t>23</a:t>
            </a:fld>
            <a:endParaRPr lang="en-GB"/>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61"/>
        <p:cNvGrpSpPr/>
        <p:nvPr/>
      </p:nvGrpSpPr>
      <p:grpSpPr>
        <a:xfrm>
          <a:off x="0" y="0"/>
          <a:ext cx="0" cy="0"/>
          <a:chOff x="0" y="0"/>
          <a:chExt cx="0" cy="0"/>
        </a:xfrm>
      </p:grpSpPr>
      <p:sp>
        <p:nvSpPr>
          <p:cNvPr id="162" name="Shape 162"/>
          <p:cNvSpPr txBox="1">
            <a:spLocks noGrp="1"/>
          </p:cNvSpPr>
          <p:nvPr>
            <p:ph type="title"/>
          </p:nvPr>
        </p:nvSpPr>
        <p:spPr>
          <a:prstGeom prst="rect">
            <a:avLst/>
          </a:prstGeom>
        </p:spPr>
        <p:txBody>
          <a:bodyPr wrap="square" lIns="91425" tIns="91425" rIns="91425" bIns="91425" anchor="t" anchorCtr="0">
            <a:noAutofit/>
          </a:bodyPr>
          <a:lstStyle/>
          <a:p>
            <a:pPr marL="0" lvl="0" indent="0">
              <a:spcBef>
                <a:spcPts val="0"/>
              </a:spcBef>
              <a:buNone/>
            </a:pPr>
            <a:r>
              <a:rPr lang="en-GB"/>
              <a:t>Attack on Elgg’s Edit-Profile Service</a:t>
            </a:r>
          </a:p>
        </p:txBody>
      </p:sp>
      <p:sp>
        <p:nvSpPr>
          <p:cNvPr id="163" name="Shape 163"/>
          <p:cNvSpPr txBox="1">
            <a:spLocks noGrp="1"/>
          </p:cNvSpPr>
          <p:nvPr>
            <p:ph type="body" idx="1"/>
          </p:nvPr>
        </p:nvSpPr>
        <p:spPr>
          <a:xfrm>
            <a:off x="311700" y="1152475"/>
            <a:ext cx="5945167" cy="3416400"/>
          </a:xfrm>
          <a:prstGeom prst="rect">
            <a:avLst/>
          </a:prstGeom>
        </p:spPr>
        <p:txBody>
          <a:bodyPr wrap="square" lIns="91425" tIns="91425" rIns="91425" bIns="91425" anchor="t" anchorCtr="0">
            <a:noAutofit/>
          </a:bodyPr>
          <a:lstStyle/>
          <a:p>
            <a:pPr marL="0" lvl="0" indent="0">
              <a:spcBef>
                <a:spcPts val="0"/>
              </a:spcBef>
              <a:buNone/>
            </a:pPr>
            <a:r>
              <a:rPr lang="en-GB" u="sng" dirty="0">
                <a:solidFill>
                  <a:srgbClr val="000000"/>
                </a:solidFill>
              </a:rPr>
              <a:t>Goal : </a:t>
            </a:r>
            <a:r>
              <a:rPr lang="en-GB" u="sng" dirty="0" smtClean="0">
                <a:solidFill>
                  <a:srgbClr val="000000"/>
                </a:solidFill>
              </a:rPr>
              <a:t> </a:t>
            </a:r>
            <a:r>
              <a:rPr lang="en-GB" dirty="0">
                <a:solidFill>
                  <a:srgbClr val="000000"/>
                </a:solidFill>
              </a:rPr>
              <a:t> </a:t>
            </a:r>
            <a:r>
              <a:rPr lang="en-GB" dirty="0" smtClean="0">
                <a:solidFill>
                  <a:srgbClr val="000000"/>
                </a:solidFill>
              </a:rPr>
              <a:t>Putting </a:t>
            </a:r>
            <a:r>
              <a:rPr lang="en-GB" dirty="0">
                <a:solidFill>
                  <a:srgbClr val="000000"/>
                </a:solidFill>
              </a:rPr>
              <a:t>a statement “SAMY is MY HERO” </a:t>
            </a:r>
            <a:r>
              <a:rPr lang="en-GB" dirty="0" smtClean="0">
                <a:solidFill>
                  <a:srgbClr val="000000"/>
                </a:solidFill>
              </a:rPr>
              <a:t>in the victim’s profile without consent from the victim.</a:t>
            </a:r>
            <a:endParaRPr lang="en-GB" dirty="0">
              <a:solidFill>
                <a:srgbClr val="000000"/>
              </a:solidFill>
            </a:endParaRPr>
          </a:p>
          <a:p>
            <a:pPr marL="0" lvl="0" indent="0">
              <a:spcBef>
                <a:spcPts val="0"/>
              </a:spcBef>
              <a:buNone/>
            </a:pPr>
            <a:endParaRPr lang="en-GB" u="sng" dirty="0" smtClean="0">
              <a:solidFill>
                <a:srgbClr val="000000"/>
              </a:solidFill>
            </a:endParaRPr>
          </a:p>
          <a:p>
            <a:pPr marL="0" lvl="0" indent="0">
              <a:spcBef>
                <a:spcPts val="0"/>
              </a:spcBef>
              <a:buNone/>
            </a:pPr>
            <a:r>
              <a:rPr lang="en-GB" u="sng" dirty="0" smtClean="0">
                <a:solidFill>
                  <a:srgbClr val="000000"/>
                </a:solidFill>
              </a:rPr>
              <a:t>Investigation by the attacker Samy</a:t>
            </a:r>
          </a:p>
          <a:p>
            <a:pPr marL="0" lvl="0" indent="0">
              <a:spcBef>
                <a:spcPts val="0"/>
              </a:spcBef>
              <a:buNone/>
            </a:pPr>
            <a:endParaRPr lang="en-GB" u="sng" dirty="0">
              <a:solidFill>
                <a:srgbClr val="000000"/>
              </a:solidFill>
            </a:endParaRPr>
          </a:p>
          <a:p>
            <a:pPr marL="457200" lvl="0" indent="-342900" rtl="0">
              <a:spcBef>
                <a:spcPts val="0"/>
              </a:spcBef>
              <a:buClr>
                <a:srgbClr val="000000"/>
              </a:buClr>
              <a:buSzPts val="1800"/>
              <a:buChar char="●"/>
            </a:pPr>
            <a:r>
              <a:rPr lang="en-GB" dirty="0" err="1">
                <a:solidFill>
                  <a:srgbClr val="000000"/>
                </a:solidFill>
              </a:rPr>
              <a:t>Samy</a:t>
            </a:r>
            <a:r>
              <a:rPr lang="en-GB" dirty="0">
                <a:solidFill>
                  <a:srgbClr val="000000"/>
                </a:solidFill>
              </a:rPr>
              <a:t> </a:t>
            </a:r>
            <a:r>
              <a:rPr lang="en-GB" dirty="0" smtClean="0">
                <a:solidFill>
                  <a:srgbClr val="000000"/>
                </a:solidFill>
              </a:rPr>
              <a:t>clicks to edit his own profile, types in “</a:t>
            </a:r>
            <a:r>
              <a:rPr lang="en-GB" dirty="0" err="1" smtClean="0">
                <a:solidFill>
                  <a:srgbClr val="000000"/>
                </a:solidFill>
              </a:rPr>
              <a:t>SAMY</a:t>
            </a:r>
            <a:r>
              <a:rPr lang="en-GB" dirty="0" smtClean="0">
                <a:solidFill>
                  <a:srgbClr val="000000"/>
                </a:solidFill>
              </a:rPr>
              <a:t> is MY HERO” in the description field, then clicks Save</a:t>
            </a:r>
          </a:p>
          <a:p>
            <a:pPr marL="457200" lvl="0" indent="-342900" rtl="0">
              <a:spcBef>
                <a:spcPts val="0"/>
              </a:spcBef>
              <a:buClr>
                <a:srgbClr val="000000"/>
              </a:buClr>
              <a:buSzPts val="1800"/>
              <a:buChar char="●"/>
            </a:pPr>
            <a:r>
              <a:rPr lang="en-GB" dirty="0" err="1" smtClean="0">
                <a:solidFill>
                  <a:srgbClr val="000000"/>
                </a:solidFill>
              </a:rPr>
              <a:t>Samy</a:t>
            </a:r>
            <a:r>
              <a:rPr lang="en-GB" dirty="0" smtClean="0">
                <a:solidFill>
                  <a:srgbClr val="000000"/>
                </a:solidFill>
              </a:rPr>
              <a:t> captures an </a:t>
            </a:r>
            <a:r>
              <a:rPr lang="en-GB" dirty="0">
                <a:solidFill>
                  <a:srgbClr val="000000"/>
                </a:solidFill>
              </a:rPr>
              <a:t>edit-profile request </a:t>
            </a:r>
            <a:r>
              <a:rPr lang="en-GB" dirty="0" smtClean="0">
                <a:solidFill>
                  <a:srgbClr val="000000"/>
                </a:solidFill>
              </a:rPr>
              <a:t>of himself using </a:t>
            </a:r>
            <a:r>
              <a:rPr lang="en-GB" dirty="0" err="1">
                <a:solidFill>
                  <a:srgbClr val="000000"/>
                </a:solidFill>
              </a:rPr>
              <a:t>LiveHTTPHeader</a:t>
            </a:r>
            <a:r>
              <a:rPr lang="en-GB" dirty="0">
                <a:solidFill>
                  <a:srgbClr val="000000"/>
                </a:solidFill>
              </a:rPr>
              <a:t> </a:t>
            </a:r>
            <a:r>
              <a:rPr lang="en-GB" dirty="0" smtClean="0">
                <a:solidFill>
                  <a:srgbClr val="000000"/>
                </a:solidFill>
              </a:rPr>
              <a:t>extension</a:t>
            </a:r>
          </a:p>
        </p:txBody>
      </p:sp>
      <p:sp>
        <p:nvSpPr>
          <p:cNvPr id="4" name="Slide Number Placeholder 3"/>
          <p:cNvSpPr>
            <a:spLocks noGrp="1"/>
          </p:cNvSpPr>
          <p:nvPr>
            <p:ph type="sldNum" idx="12"/>
          </p:nvPr>
        </p:nvSpPr>
        <p:spPr/>
        <p:txBody>
          <a:bodyPr/>
          <a:lstStyle/>
          <a:p>
            <a:pPr marL="0" lvl="0" indent="0">
              <a:spcBef>
                <a:spcPts val="0"/>
              </a:spcBef>
              <a:buNone/>
            </a:pPr>
            <a:fld id="{00000000-1234-1234-1234-123412341234}" type="slidenum">
              <a:rPr lang="en-GB" smtClean="0"/>
              <a:pPr marL="0" lvl="0" indent="0">
                <a:spcBef>
                  <a:spcPts val="0"/>
                </a:spcBef>
                <a:buNone/>
              </a:pPr>
              <a:t>24</a:t>
            </a:fld>
            <a:endParaRPr lang="en-GB"/>
          </a:p>
        </p:txBody>
      </p:sp>
      <p:pic>
        <p:nvPicPr>
          <p:cNvPr id="3074" name="Picture 2"/>
          <p:cNvPicPr>
            <a:picLocks noChangeAspect="1" noChangeArrowheads="1"/>
          </p:cNvPicPr>
          <p:nvPr/>
        </p:nvPicPr>
        <p:blipFill>
          <a:blip r:embed="rId3"/>
          <a:srcRect t="30751" r="13675"/>
          <a:stretch>
            <a:fillRect/>
          </a:stretch>
        </p:blipFill>
        <p:spPr bwMode="auto">
          <a:xfrm>
            <a:off x="6284899" y="1007528"/>
            <a:ext cx="2511968" cy="2535765"/>
          </a:xfrm>
          <a:prstGeom prst="rect">
            <a:avLst/>
          </a:prstGeom>
          <a:noFill/>
          <a:ln w="9525">
            <a:noFill/>
            <a:miter lim="800000"/>
            <a:headEnd/>
            <a:tailEnd/>
          </a:ln>
          <a:effectLst>
            <a:outerShdw blurRad="393700" dist="38100" dir="2700000" algn="tl" rotWithShape="0">
              <a:prstClr val="black">
                <a:alpha val="40000"/>
              </a:prstClr>
            </a:outerShdw>
          </a:effectLst>
        </p:spPr>
      </p:pic>
      <p:sp>
        <p:nvSpPr>
          <p:cNvPr id="6" name="Oval 5"/>
          <p:cNvSpPr/>
          <p:nvPr/>
        </p:nvSpPr>
        <p:spPr>
          <a:xfrm>
            <a:off x="6392333" y="2582328"/>
            <a:ext cx="872066" cy="313266"/>
          </a:xfrm>
          <a:prstGeom prst="ellipse">
            <a:avLst/>
          </a:prstGeom>
          <a:noFill/>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pic>
        <p:nvPicPr>
          <p:cNvPr id="3075" name="Picture 3"/>
          <p:cNvPicPr>
            <a:picLocks noChangeAspect="1" noChangeArrowheads="1"/>
          </p:cNvPicPr>
          <p:nvPr/>
        </p:nvPicPr>
        <p:blipFill>
          <a:blip r:embed="rId4"/>
          <a:srcRect r="21444"/>
          <a:stretch>
            <a:fillRect/>
          </a:stretch>
        </p:blipFill>
        <p:spPr bwMode="auto">
          <a:xfrm>
            <a:off x="6228295" y="3543796"/>
            <a:ext cx="2729441" cy="1498104"/>
          </a:xfrm>
          <a:prstGeom prst="rect">
            <a:avLst/>
          </a:prstGeom>
          <a:noFill/>
          <a:ln w="9525">
            <a:noFill/>
            <a:miter lim="800000"/>
            <a:headEnd/>
            <a:tailEnd/>
          </a:ln>
          <a:effectLst>
            <a:outerShdw blurRad="393700" dist="38100" dir="2700000" algn="tl" rotWithShape="0">
              <a:prstClr val="black">
                <a:alpha val="40000"/>
              </a:prstClr>
            </a:outerShdw>
          </a:effectLst>
        </p:spPr>
      </p:pic>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67"/>
        <p:cNvGrpSpPr/>
        <p:nvPr/>
      </p:nvGrpSpPr>
      <p:grpSpPr>
        <a:xfrm>
          <a:off x="0" y="0"/>
          <a:ext cx="0" cy="0"/>
          <a:chOff x="0" y="0"/>
          <a:chExt cx="0" cy="0"/>
        </a:xfrm>
      </p:grpSpPr>
      <p:sp>
        <p:nvSpPr>
          <p:cNvPr id="168" name="Shape 168"/>
          <p:cNvSpPr txBox="1">
            <a:spLocks noGrp="1"/>
          </p:cNvSpPr>
          <p:nvPr>
            <p:ph type="title"/>
          </p:nvPr>
        </p:nvSpPr>
        <p:spPr>
          <a:prstGeom prst="rect">
            <a:avLst/>
          </a:prstGeom>
        </p:spPr>
        <p:txBody>
          <a:bodyPr wrap="square" lIns="91425" tIns="91425" rIns="91425" bIns="91425" anchor="t" anchorCtr="0">
            <a:noAutofit/>
          </a:bodyPr>
          <a:lstStyle/>
          <a:p>
            <a:pPr marL="0" lvl="0" indent="-69850">
              <a:spcBef>
                <a:spcPts val="0"/>
              </a:spcBef>
              <a:buClr>
                <a:schemeClr val="dk1"/>
              </a:buClr>
              <a:buSzPts val="1100"/>
              <a:buFont typeface="Arial"/>
              <a:buNone/>
            </a:pPr>
            <a:r>
              <a:rPr lang="en-GB"/>
              <a:t>Attack on Elgg’s Edit-Profile Service</a:t>
            </a:r>
          </a:p>
        </p:txBody>
      </p:sp>
      <p:pic>
        <p:nvPicPr>
          <p:cNvPr id="169" name="Shape 169"/>
          <p:cNvPicPr preferRelativeResize="0"/>
          <p:nvPr/>
        </p:nvPicPr>
        <p:blipFill>
          <a:blip r:embed="rId3">
            <a:alphaModFix/>
          </a:blip>
          <a:stretch>
            <a:fillRect/>
          </a:stretch>
        </p:blipFill>
        <p:spPr>
          <a:xfrm>
            <a:off x="625586" y="1067814"/>
            <a:ext cx="7533676" cy="2724068"/>
          </a:xfrm>
          <a:prstGeom prst="rect">
            <a:avLst/>
          </a:prstGeom>
          <a:noFill/>
          <a:ln>
            <a:noFill/>
          </a:ln>
        </p:spPr>
      </p:pic>
      <p:sp>
        <p:nvSpPr>
          <p:cNvPr id="170" name="Shape 170"/>
          <p:cNvSpPr txBox="1"/>
          <p:nvPr/>
        </p:nvSpPr>
        <p:spPr>
          <a:xfrm>
            <a:off x="549919" y="3830249"/>
            <a:ext cx="8499156" cy="1176571"/>
          </a:xfrm>
          <a:prstGeom prst="rect">
            <a:avLst/>
          </a:prstGeom>
          <a:noFill/>
          <a:ln>
            <a:noFill/>
          </a:ln>
        </p:spPr>
        <p:txBody>
          <a:bodyPr wrap="square" lIns="91425" tIns="91425" rIns="91425" bIns="91425" anchor="t" anchorCtr="0">
            <a:noAutofit/>
          </a:bodyPr>
          <a:lstStyle/>
          <a:p>
            <a:pPr marL="0" lvl="0" indent="0">
              <a:spcBef>
                <a:spcPts val="0"/>
              </a:spcBef>
              <a:buNone/>
            </a:pPr>
            <a:r>
              <a:rPr lang="en-GB" u="sng" dirty="0"/>
              <a:t>Line </a:t>
            </a:r>
            <a:r>
              <a:rPr lang="en-GB" u="sng" dirty="0" smtClean="0">
                <a:latin typeface="Arial Unicode MS" panose="020B0604020202020204" pitchFamily="34" charset="-128"/>
                <a:ea typeface="Arial Unicode MS" panose="020B0604020202020204" pitchFamily="34" charset="-128"/>
                <a:cs typeface="Arial Unicode MS" panose="020B0604020202020204" pitchFamily="34" charset="-128"/>
              </a:rPr>
              <a:t>①</a:t>
            </a:r>
            <a:r>
              <a:rPr lang="en-GB" u="sng" dirty="0" smtClean="0"/>
              <a:t> </a:t>
            </a:r>
            <a:r>
              <a:rPr lang="en-GB" u="sng" dirty="0"/>
              <a:t>:</a:t>
            </a:r>
            <a:r>
              <a:rPr lang="en-GB" dirty="0"/>
              <a:t> URL of the edit-profile service.</a:t>
            </a:r>
          </a:p>
          <a:p>
            <a:pPr marL="0" lvl="0" indent="0">
              <a:spcBef>
                <a:spcPts val="0"/>
              </a:spcBef>
              <a:buNone/>
            </a:pPr>
            <a:endParaRPr dirty="0"/>
          </a:p>
          <a:p>
            <a:pPr marL="0" lvl="0" indent="0">
              <a:spcBef>
                <a:spcPts val="0"/>
              </a:spcBef>
              <a:buNone/>
            </a:pPr>
            <a:r>
              <a:rPr lang="en-GB" u="sng" dirty="0"/>
              <a:t>Line </a:t>
            </a:r>
            <a:r>
              <a:rPr lang="en-GB" u="sng" dirty="0" smtClean="0">
                <a:latin typeface="Arial Unicode MS" panose="020B0604020202020204" pitchFamily="34" charset="-128"/>
                <a:ea typeface="Arial Unicode MS" panose="020B0604020202020204" pitchFamily="34" charset="-128"/>
                <a:cs typeface="Arial Unicode MS" panose="020B0604020202020204" pitchFamily="34" charset="-128"/>
              </a:rPr>
              <a:t>②</a:t>
            </a:r>
            <a:r>
              <a:rPr lang="en-GB" u="sng" dirty="0" smtClean="0"/>
              <a:t>: </a:t>
            </a:r>
            <a:r>
              <a:rPr lang="en-GB" dirty="0">
                <a:solidFill>
                  <a:schemeClr val="dk1"/>
                </a:solidFill>
              </a:rPr>
              <a:t>Session </a:t>
            </a:r>
            <a:r>
              <a:rPr lang="en-GB" dirty="0" smtClean="0">
                <a:solidFill>
                  <a:schemeClr val="dk1"/>
                </a:solidFill>
              </a:rPr>
              <a:t>cookie (unique </a:t>
            </a:r>
            <a:r>
              <a:rPr lang="en-GB" dirty="0">
                <a:solidFill>
                  <a:schemeClr val="dk1"/>
                </a:solidFill>
              </a:rPr>
              <a:t>for each </a:t>
            </a:r>
            <a:r>
              <a:rPr lang="en-GB" dirty="0" smtClean="0">
                <a:solidFill>
                  <a:schemeClr val="dk1"/>
                </a:solidFill>
              </a:rPr>
              <a:t>user). </a:t>
            </a:r>
            <a:r>
              <a:rPr lang="en-GB" dirty="0">
                <a:solidFill>
                  <a:schemeClr val="dk1"/>
                </a:solidFill>
              </a:rPr>
              <a:t>It is automatically set by browsers.</a:t>
            </a:r>
          </a:p>
          <a:p>
            <a:pPr marL="0" lvl="0" indent="0">
              <a:spcBef>
                <a:spcPts val="0"/>
              </a:spcBef>
              <a:buNone/>
            </a:pPr>
            <a:endParaRPr dirty="0"/>
          </a:p>
          <a:p>
            <a:pPr marL="0" lvl="0" indent="0">
              <a:spcBef>
                <a:spcPts val="0"/>
              </a:spcBef>
              <a:buNone/>
            </a:pPr>
            <a:r>
              <a:rPr lang="en-GB" u="sng" dirty="0"/>
              <a:t>Line </a:t>
            </a:r>
            <a:r>
              <a:rPr lang="en-GB" u="sng" dirty="0" smtClean="0">
                <a:latin typeface="Arial Unicode MS" panose="020B0604020202020204" pitchFamily="34" charset="-128"/>
                <a:ea typeface="Arial Unicode MS" panose="020B0604020202020204" pitchFamily="34" charset="-128"/>
                <a:cs typeface="Arial Unicode MS" panose="020B0604020202020204" pitchFamily="34" charset="-128"/>
              </a:rPr>
              <a:t>③</a:t>
            </a:r>
            <a:r>
              <a:rPr lang="en-GB" u="sng" dirty="0" smtClean="0"/>
              <a:t>:</a:t>
            </a:r>
            <a:r>
              <a:rPr lang="en-GB" dirty="0" smtClean="0"/>
              <a:t> </a:t>
            </a:r>
            <a:r>
              <a:rPr lang="en-GB" dirty="0"/>
              <a:t>CSRF </a:t>
            </a:r>
            <a:r>
              <a:rPr lang="en-GB" dirty="0" smtClean="0"/>
              <a:t>countermeasures, </a:t>
            </a:r>
            <a:r>
              <a:rPr lang="en-GB" dirty="0"/>
              <a:t>which are disabled   </a:t>
            </a:r>
          </a:p>
        </p:txBody>
      </p:sp>
      <p:sp>
        <p:nvSpPr>
          <p:cNvPr id="6" name="Slide Number Placeholder 5"/>
          <p:cNvSpPr>
            <a:spLocks noGrp="1"/>
          </p:cNvSpPr>
          <p:nvPr>
            <p:ph type="sldNum" idx="12"/>
          </p:nvPr>
        </p:nvSpPr>
        <p:spPr/>
        <p:txBody>
          <a:bodyPr/>
          <a:lstStyle/>
          <a:p>
            <a:pPr marL="0" lvl="0" indent="0">
              <a:spcBef>
                <a:spcPts val="0"/>
              </a:spcBef>
              <a:buNone/>
            </a:pPr>
            <a:fld id="{00000000-1234-1234-1234-123412341234}" type="slidenum">
              <a:rPr lang="en-GB" smtClean="0"/>
              <a:pPr marL="0" lvl="0" indent="0">
                <a:spcBef>
                  <a:spcPts val="0"/>
                </a:spcBef>
                <a:buNone/>
              </a:pPr>
              <a:t>25</a:t>
            </a:fld>
            <a:endParaRPr lang="en-GB"/>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sp>
        <p:nvSpPr>
          <p:cNvPr id="176" name="Shape 176"/>
          <p:cNvSpPr txBox="1">
            <a:spLocks noGrp="1"/>
          </p:cNvSpPr>
          <p:nvPr>
            <p:ph type="title"/>
          </p:nvPr>
        </p:nvSpPr>
        <p:spPr>
          <a:prstGeom prst="rect">
            <a:avLst/>
          </a:prstGeom>
        </p:spPr>
        <p:txBody>
          <a:bodyPr wrap="square" lIns="91425" tIns="91425" rIns="91425" bIns="91425" anchor="t" anchorCtr="0">
            <a:noAutofit/>
          </a:bodyPr>
          <a:lstStyle/>
          <a:p>
            <a:pPr marL="0" lvl="0" indent="-69850">
              <a:spcBef>
                <a:spcPts val="0"/>
              </a:spcBef>
              <a:buClr>
                <a:schemeClr val="dk1"/>
              </a:buClr>
              <a:buSzPts val="1100"/>
              <a:buFont typeface="Arial"/>
              <a:buNone/>
            </a:pPr>
            <a:r>
              <a:rPr lang="en-GB"/>
              <a:t>Attack on Elgg’s Edit-Profile Service</a:t>
            </a:r>
          </a:p>
        </p:txBody>
      </p:sp>
      <p:sp>
        <p:nvSpPr>
          <p:cNvPr id="177" name="Shape 177"/>
          <p:cNvSpPr txBox="1">
            <a:spLocks noGrp="1"/>
          </p:cNvSpPr>
          <p:nvPr>
            <p:ph type="body" idx="1"/>
          </p:nvPr>
        </p:nvSpPr>
        <p:spPr>
          <a:xfrm>
            <a:off x="311700" y="3024467"/>
            <a:ext cx="8520600" cy="2076250"/>
          </a:xfrm>
          <a:prstGeom prst="rect">
            <a:avLst/>
          </a:prstGeom>
        </p:spPr>
        <p:txBody>
          <a:bodyPr wrap="square" lIns="91425" tIns="91425" rIns="91425" bIns="91425" anchor="t" anchorCtr="0">
            <a:noAutofit/>
          </a:bodyPr>
          <a:lstStyle/>
          <a:p>
            <a:pPr marL="0" lvl="0" indent="0">
              <a:spcBef>
                <a:spcPts val="0"/>
              </a:spcBef>
              <a:spcAft>
                <a:spcPts val="600"/>
              </a:spcAft>
              <a:buNone/>
            </a:pPr>
            <a:r>
              <a:rPr lang="en-GB" sz="2000" u="sng" dirty="0">
                <a:solidFill>
                  <a:srgbClr val="000000"/>
                </a:solidFill>
              </a:rPr>
              <a:t>Line </a:t>
            </a:r>
            <a:r>
              <a:rPr lang="en-GB" sz="2000" u="sng" dirty="0" smtClean="0">
                <a:solidFill>
                  <a:srgbClr val="000000"/>
                </a:solidFill>
                <a:latin typeface="Arial Unicode MS" panose="020B0604020202020204" pitchFamily="34" charset="-128"/>
                <a:ea typeface="Arial Unicode MS" panose="020B0604020202020204" pitchFamily="34" charset="-128"/>
                <a:cs typeface="Arial Unicode MS" panose="020B0604020202020204" pitchFamily="34" charset="-128"/>
              </a:rPr>
              <a:t>④</a:t>
            </a:r>
            <a:r>
              <a:rPr lang="en-GB" sz="2000" u="sng" dirty="0" smtClean="0">
                <a:solidFill>
                  <a:srgbClr val="000000"/>
                </a:solidFill>
              </a:rPr>
              <a:t>:</a:t>
            </a:r>
            <a:r>
              <a:rPr lang="en-GB" sz="2000" dirty="0" smtClean="0">
                <a:solidFill>
                  <a:srgbClr val="000000"/>
                </a:solidFill>
              </a:rPr>
              <a:t> </a:t>
            </a:r>
            <a:r>
              <a:rPr lang="en-GB" sz="2000" dirty="0">
                <a:solidFill>
                  <a:srgbClr val="000000"/>
                </a:solidFill>
              </a:rPr>
              <a:t>Description field </a:t>
            </a:r>
            <a:r>
              <a:rPr lang="en-GB" sz="2000" dirty="0" smtClean="0">
                <a:solidFill>
                  <a:srgbClr val="000000"/>
                </a:solidFill>
              </a:rPr>
              <a:t>with text </a:t>
            </a:r>
            <a:r>
              <a:rPr lang="en-GB" sz="2000" dirty="0">
                <a:solidFill>
                  <a:srgbClr val="000000"/>
                </a:solidFill>
              </a:rPr>
              <a:t>“SAMY is MY HERO</a:t>
            </a:r>
            <a:r>
              <a:rPr lang="en-GB" sz="2000" dirty="0" smtClean="0">
                <a:solidFill>
                  <a:srgbClr val="000000"/>
                </a:solidFill>
              </a:rPr>
              <a:t>”</a:t>
            </a:r>
            <a:endParaRPr lang="en-GB" sz="2000" dirty="0">
              <a:solidFill>
                <a:srgbClr val="000000"/>
              </a:solidFill>
            </a:endParaRPr>
          </a:p>
          <a:p>
            <a:pPr marL="0" lvl="0" indent="0">
              <a:spcBef>
                <a:spcPts val="0"/>
              </a:spcBef>
              <a:spcAft>
                <a:spcPts val="600"/>
              </a:spcAft>
              <a:buNone/>
            </a:pPr>
            <a:r>
              <a:rPr lang="en-GB" sz="2000" u="sng" dirty="0">
                <a:solidFill>
                  <a:srgbClr val="000000"/>
                </a:solidFill>
              </a:rPr>
              <a:t>Line </a:t>
            </a:r>
            <a:r>
              <a:rPr lang="en-GB" sz="2000" u="sng" dirty="0" smtClean="0">
                <a:solidFill>
                  <a:srgbClr val="000000"/>
                </a:solidFill>
                <a:latin typeface="Arial Unicode MS" panose="020B0604020202020204" pitchFamily="34" charset="-128"/>
                <a:ea typeface="Arial Unicode MS" panose="020B0604020202020204" pitchFamily="34" charset="-128"/>
                <a:cs typeface="Arial Unicode MS" panose="020B0604020202020204" pitchFamily="34" charset="-128"/>
              </a:rPr>
              <a:t>⑤</a:t>
            </a:r>
            <a:r>
              <a:rPr lang="en-GB" sz="2000" u="sng" dirty="0" smtClean="0">
                <a:solidFill>
                  <a:srgbClr val="000000"/>
                </a:solidFill>
              </a:rPr>
              <a:t>:</a:t>
            </a:r>
            <a:r>
              <a:rPr lang="en-GB" sz="2000" dirty="0" smtClean="0">
                <a:solidFill>
                  <a:srgbClr val="000000"/>
                </a:solidFill>
              </a:rPr>
              <a:t> </a:t>
            </a:r>
            <a:r>
              <a:rPr lang="en-GB" sz="2000" dirty="0">
                <a:solidFill>
                  <a:srgbClr val="000000"/>
                </a:solidFill>
              </a:rPr>
              <a:t>Access level of each field : 2 </a:t>
            </a:r>
            <a:r>
              <a:rPr lang="en-GB" sz="2000" dirty="0" smtClean="0">
                <a:solidFill>
                  <a:srgbClr val="000000"/>
                </a:solidFill>
              </a:rPr>
              <a:t>means viewable by everyone</a:t>
            </a:r>
            <a:endParaRPr lang="en-GB" sz="2000" dirty="0">
              <a:solidFill>
                <a:srgbClr val="000000"/>
              </a:solidFill>
            </a:endParaRPr>
          </a:p>
          <a:p>
            <a:pPr marL="0" lvl="0" indent="0">
              <a:spcBef>
                <a:spcPts val="0"/>
              </a:spcBef>
              <a:spcAft>
                <a:spcPts val="600"/>
              </a:spcAft>
              <a:buNone/>
            </a:pPr>
            <a:r>
              <a:rPr lang="en-GB" sz="2000" u="sng" dirty="0">
                <a:solidFill>
                  <a:srgbClr val="000000"/>
                </a:solidFill>
              </a:rPr>
              <a:t>Line </a:t>
            </a:r>
            <a:r>
              <a:rPr lang="en-GB" sz="2000" u="sng" dirty="0" smtClean="0">
                <a:solidFill>
                  <a:srgbClr val="000000"/>
                </a:solidFill>
                <a:latin typeface="Arial Unicode MS" panose="020B0604020202020204" pitchFamily="34" charset="-128"/>
                <a:ea typeface="Arial Unicode MS" panose="020B0604020202020204" pitchFamily="34" charset="-128"/>
                <a:cs typeface="Arial Unicode MS" panose="020B0604020202020204" pitchFamily="34" charset="-128"/>
              </a:rPr>
              <a:t>⑥</a:t>
            </a:r>
            <a:r>
              <a:rPr lang="en-GB" sz="2000" u="sng" dirty="0" smtClean="0">
                <a:solidFill>
                  <a:srgbClr val="000000"/>
                </a:solidFill>
              </a:rPr>
              <a:t>: </a:t>
            </a:r>
            <a:r>
              <a:rPr lang="en-GB" sz="2000" dirty="0" smtClean="0">
                <a:solidFill>
                  <a:srgbClr val="000000"/>
                </a:solidFill>
              </a:rPr>
              <a:t>To be replaced with user </a:t>
            </a:r>
            <a:r>
              <a:rPr lang="en-GB" sz="2000" dirty="0">
                <a:solidFill>
                  <a:srgbClr val="000000"/>
                </a:solidFill>
              </a:rPr>
              <a:t>Id (GUID) of the </a:t>
            </a:r>
            <a:r>
              <a:rPr lang="en-GB" sz="2000" dirty="0" smtClean="0">
                <a:solidFill>
                  <a:srgbClr val="000000"/>
                </a:solidFill>
              </a:rPr>
              <a:t>victim (Alice). </a:t>
            </a:r>
            <a:r>
              <a:rPr lang="en-GB" sz="2000" dirty="0">
                <a:solidFill>
                  <a:srgbClr val="000000"/>
                </a:solidFill>
              </a:rPr>
              <a:t>This can be obtained by visiting victim’s profile page </a:t>
            </a:r>
            <a:r>
              <a:rPr lang="en-GB" sz="2000" dirty="0" smtClean="0">
                <a:solidFill>
                  <a:srgbClr val="000000"/>
                </a:solidFill>
              </a:rPr>
              <a:t>source, looking for the following:</a:t>
            </a:r>
          </a:p>
          <a:p>
            <a:pPr marL="0" lvl="0" indent="0">
              <a:spcBef>
                <a:spcPts val="0"/>
              </a:spcBef>
              <a:spcAft>
                <a:spcPts val="600"/>
              </a:spcAft>
              <a:buNone/>
            </a:pPr>
            <a:r>
              <a:rPr lang="en-GB" sz="1800" dirty="0">
                <a:solidFill>
                  <a:srgbClr val="000000"/>
                </a:solidFill>
              </a:rPr>
              <a:t> </a:t>
            </a:r>
            <a:r>
              <a:rPr lang="en-GB" sz="1800" dirty="0" smtClean="0">
                <a:solidFill>
                  <a:srgbClr val="000000"/>
                </a:solidFill>
              </a:rPr>
              <a:t>     </a:t>
            </a:r>
            <a:r>
              <a:rPr lang="en-GB" sz="1800" dirty="0" err="1" smtClean="0">
                <a:solidFill>
                  <a:srgbClr val="000000"/>
                </a:solidFill>
                <a:latin typeface="Courier New" panose="02070309020205020404" pitchFamily="49" charset="0"/>
                <a:cs typeface="Courier New" panose="02070309020205020404" pitchFamily="49" charset="0"/>
              </a:rPr>
              <a:t>Elgg.page_owner</a:t>
            </a:r>
            <a:r>
              <a:rPr lang="en-GB" sz="1800" dirty="0" smtClean="0">
                <a:solidFill>
                  <a:srgbClr val="000000"/>
                </a:solidFill>
                <a:latin typeface="Courier New" panose="02070309020205020404" pitchFamily="49" charset="0"/>
                <a:cs typeface="Courier New" panose="02070309020205020404" pitchFamily="49" charset="0"/>
              </a:rPr>
              <a:t>={“</a:t>
            </a:r>
            <a:r>
              <a:rPr lang="en-GB" sz="1800" dirty="0">
                <a:solidFill>
                  <a:srgbClr val="000000"/>
                </a:solidFill>
                <a:latin typeface="Courier New" panose="02070309020205020404" pitchFamily="49" charset="0"/>
                <a:cs typeface="Courier New" panose="02070309020205020404" pitchFamily="49" charset="0"/>
              </a:rPr>
              <a:t>guid”:39,”type”:”user</a:t>
            </a:r>
            <a:r>
              <a:rPr lang="en-GB" sz="1800" dirty="0" smtClean="0">
                <a:solidFill>
                  <a:srgbClr val="000000"/>
                </a:solidFill>
                <a:latin typeface="Courier New" panose="02070309020205020404" pitchFamily="49" charset="0"/>
                <a:cs typeface="Courier New" panose="02070309020205020404" pitchFamily="49" charset="0"/>
              </a:rPr>
              <a:t>”,...}</a:t>
            </a:r>
            <a:endParaRPr lang="en-GB" sz="1800" dirty="0">
              <a:solidFill>
                <a:srgbClr val="000000"/>
              </a:solidFill>
              <a:latin typeface="Courier New" panose="02070309020205020404" pitchFamily="49" charset="0"/>
              <a:cs typeface="Courier New" panose="02070309020205020404" pitchFamily="49" charset="0"/>
            </a:endParaRPr>
          </a:p>
        </p:txBody>
      </p:sp>
      <p:pic>
        <p:nvPicPr>
          <p:cNvPr id="5" name="Picture 4" descr="Screen Clipping"/>
          <p:cNvPicPr>
            <a:picLocks noChangeAspect="1"/>
          </p:cNvPicPr>
          <p:nvPr/>
        </p:nvPicPr>
        <p:blipFill>
          <a:blip r:embed="rId3">
            <a:extLst>
              <a:ext uri="{28A0092B-C50C-407E-A947-70E740481C1C}">
                <a14:useLocalDpi xmlns:a14="http://schemas.microsoft.com/office/drawing/2010/main" xmlns="" val="0"/>
              </a:ext>
            </a:extLst>
          </a:blip>
          <a:stretch>
            <a:fillRect/>
          </a:stretch>
        </p:blipFill>
        <p:spPr>
          <a:xfrm>
            <a:off x="394827" y="1174733"/>
            <a:ext cx="7497823" cy="1741117"/>
          </a:xfrm>
          <a:prstGeom prst="rect">
            <a:avLst/>
          </a:prstGeom>
        </p:spPr>
      </p:pic>
      <p:sp>
        <p:nvSpPr>
          <p:cNvPr id="6" name="Slide Number Placeholder 5"/>
          <p:cNvSpPr>
            <a:spLocks noGrp="1"/>
          </p:cNvSpPr>
          <p:nvPr>
            <p:ph type="sldNum" idx="12"/>
          </p:nvPr>
        </p:nvSpPr>
        <p:spPr/>
        <p:txBody>
          <a:bodyPr/>
          <a:lstStyle/>
          <a:p>
            <a:pPr marL="0" lvl="0" indent="0">
              <a:spcBef>
                <a:spcPts val="0"/>
              </a:spcBef>
              <a:buNone/>
            </a:pPr>
            <a:fld id="{00000000-1234-1234-1234-123412341234}" type="slidenum">
              <a:rPr lang="en-GB" smtClean="0"/>
              <a:pPr marL="0" lvl="0" indent="0">
                <a:spcBef>
                  <a:spcPts val="0"/>
                </a:spcBef>
                <a:buNone/>
              </a:pPr>
              <a:t>26</a:t>
            </a:fld>
            <a:endParaRPr lang="en-GB"/>
          </a:p>
        </p:txBody>
      </p:sp>
      <p:sp>
        <p:nvSpPr>
          <p:cNvPr id="7" name="Oval 6"/>
          <p:cNvSpPr/>
          <p:nvPr/>
        </p:nvSpPr>
        <p:spPr>
          <a:xfrm>
            <a:off x="364481" y="2698439"/>
            <a:ext cx="1112627" cy="274960"/>
          </a:xfrm>
          <a:prstGeom prst="ellipse">
            <a:avLst/>
          </a:prstGeom>
          <a:noFill/>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8" name="Right Arrow 7"/>
          <p:cNvSpPr/>
          <p:nvPr/>
        </p:nvSpPr>
        <p:spPr>
          <a:xfrm rot="10800000">
            <a:off x="1566629" y="2755989"/>
            <a:ext cx="306932" cy="22380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p:nvSpPr>
        <p:spPr>
          <a:xfrm>
            <a:off x="1988660" y="2730411"/>
            <a:ext cx="2308645" cy="276999"/>
          </a:xfrm>
          <a:prstGeom prst="rect">
            <a:avLst/>
          </a:prstGeom>
          <a:noFill/>
        </p:spPr>
        <p:txBody>
          <a:bodyPr wrap="none" rtlCol="0">
            <a:spAutoFit/>
          </a:bodyPr>
          <a:lstStyle/>
          <a:p>
            <a:r>
              <a:rPr lang="en-US" sz="1200" dirty="0" smtClean="0"/>
              <a:t>Replace this with the victim’s id</a:t>
            </a:r>
            <a:endParaRPr lang="en-US" sz="1200" dirty="0"/>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81"/>
        <p:cNvGrpSpPr/>
        <p:nvPr/>
      </p:nvGrpSpPr>
      <p:grpSpPr>
        <a:xfrm>
          <a:off x="0" y="0"/>
          <a:ext cx="0" cy="0"/>
          <a:chOff x="0" y="0"/>
          <a:chExt cx="0" cy="0"/>
        </a:xfrm>
      </p:grpSpPr>
      <p:sp>
        <p:nvSpPr>
          <p:cNvPr id="182" name="Shape 182"/>
          <p:cNvSpPr txBox="1">
            <a:spLocks noGrp="1"/>
          </p:cNvSpPr>
          <p:nvPr>
            <p:ph type="title"/>
          </p:nvPr>
        </p:nvSpPr>
        <p:spPr>
          <a:xfrm>
            <a:off x="5729382" y="265993"/>
            <a:ext cx="3179645" cy="572700"/>
          </a:xfrm>
          <a:prstGeom prst="rect">
            <a:avLst/>
          </a:prstGeom>
        </p:spPr>
        <p:txBody>
          <a:bodyPr wrap="square" lIns="91425" tIns="91425" rIns="91425" bIns="91425" anchor="t" anchorCtr="0">
            <a:noAutofit/>
          </a:bodyPr>
          <a:lstStyle/>
          <a:p>
            <a:pPr marL="114300" lvl="0">
              <a:buClr>
                <a:srgbClr val="000000"/>
              </a:buClr>
              <a:buSzPts val="1800"/>
            </a:pPr>
            <a:r>
              <a:rPr lang="en-GB" sz="2800" dirty="0">
                <a:solidFill>
                  <a:srgbClr val="000000"/>
                </a:solidFill>
              </a:rPr>
              <a:t>Craft the </a:t>
            </a:r>
            <a:r>
              <a:rPr lang="en-GB" sz="2800" dirty="0" smtClean="0">
                <a:solidFill>
                  <a:srgbClr val="000000"/>
                </a:solidFill>
              </a:rPr>
              <a:t>Malicious Web Page</a:t>
            </a:r>
            <a:endParaRPr lang="en-GB" sz="2800" dirty="0">
              <a:solidFill>
                <a:srgbClr val="000000"/>
              </a:solidFill>
            </a:endParaRPr>
          </a:p>
        </p:txBody>
      </p:sp>
      <p:pic>
        <p:nvPicPr>
          <p:cNvPr id="184" name="Shape 184"/>
          <p:cNvPicPr preferRelativeResize="0"/>
          <p:nvPr/>
        </p:nvPicPr>
        <p:blipFill>
          <a:blip r:embed="rId3">
            <a:alphaModFix/>
          </a:blip>
          <a:stretch>
            <a:fillRect/>
          </a:stretch>
        </p:blipFill>
        <p:spPr>
          <a:xfrm>
            <a:off x="100605" y="95311"/>
            <a:ext cx="5775854" cy="4905114"/>
          </a:xfrm>
          <a:prstGeom prst="rect">
            <a:avLst/>
          </a:prstGeom>
          <a:noFill/>
          <a:ln>
            <a:noFill/>
          </a:ln>
        </p:spPr>
      </p:pic>
      <p:sp>
        <p:nvSpPr>
          <p:cNvPr id="185" name="Shape 185"/>
          <p:cNvSpPr txBox="1"/>
          <p:nvPr/>
        </p:nvSpPr>
        <p:spPr>
          <a:xfrm>
            <a:off x="5806119" y="1131205"/>
            <a:ext cx="2955841" cy="3879900"/>
          </a:xfrm>
          <a:prstGeom prst="rect">
            <a:avLst/>
          </a:prstGeom>
          <a:noFill/>
          <a:ln>
            <a:noFill/>
          </a:ln>
        </p:spPr>
        <p:txBody>
          <a:bodyPr wrap="square" lIns="91425" tIns="91425" rIns="91425" bIns="91425" anchor="t" anchorCtr="0">
            <a:noAutofit/>
          </a:bodyPr>
          <a:lstStyle/>
          <a:p>
            <a:pPr marL="457200" lvl="0" indent="-342900">
              <a:spcBef>
                <a:spcPts val="0"/>
              </a:spcBef>
              <a:buSzPts val="1800"/>
              <a:buChar char="●"/>
            </a:pPr>
            <a:r>
              <a:rPr lang="en-GB" sz="1600" dirty="0"/>
              <a:t>The JavaScript function creates a hidden form with the description entry as our text.</a:t>
            </a:r>
          </a:p>
          <a:p>
            <a:pPr marL="0" lvl="0" indent="0">
              <a:spcBef>
                <a:spcPts val="0"/>
              </a:spcBef>
              <a:buNone/>
            </a:pPr>
            <a:endParaRPr sz="1600" dirty="0"/>
          </a:p>
          <a:p>
            <a:pPr marL="457200" lvl="0" indent="-342900">
              <a:spcBef>
                <a:spcPts val="0"/>
              </a:spcBef>
              <a:buSzPts val="1800"/>
              <a:buChar char="●"/>
            </a:pPr>
            <a:r>
              <a:rPr lang="en-GB" sz="1600" dirty="0"/>
              <a:t>When the victim visits this page, the form will be automatically submitted (POST request) from the victim’s browser to the edit-profile service at “</a:t>
            </a:r>
            <a:r>
              <a:rPr lang="en-GB" sz="1600" u="sng" dirty="0">
                <a:solidFill>
                  <a:schemeClr val="hlink"/>
                </a:solidFill>
                <a:hlinkClick r:id="rId4"/>
              </a:rPr>
              <a:t>http://www.csrflabelgg.com/action/profile/edit</a:t>
            </a:r>
            <a:r>
              <a:rPr lang="en-GB" sz="1600" dirty="0"/>
              <a:t>” causing the message to be added to the victim’s profile.</a:t>
            </a:r>
          </a:p>
        </p:txBody>
      </p:sp>
      <p:sp>
        <p:nvSpPr>
          <p:cNvPr id="5" name="Slide Number Placeholder 4"/>
          <p:cNvSpPr>
            <a:spLocks noGrp="1"/>
          </p:cNvSpPr>
          <p:nvPr>
            <p:ph type="sldNum" idx="12"/>
          </p:nvPr>
        </p:nvSpPr>
        <p:spPr/>
        <p:txBody>
          <a:bodyPr/>
          <a:lstStyle/>
          <a:p>
            <a:pPr marL="0" lvl="0" indent="0">
              <a:spcBef>
                <a:spcPts val="0"/>
              </a:spcBef>
              <a:buNone/>
            </a:pPr>
            <a:fld id="{00000000-1234-1234-1234-123412341234}" type="slidenum">
              <a:rPr lang="en-GB" smtClean="0"/>
              <a:pPr marL="0" lvl="0" indent="0">
                <a:spcBef>
                  <a:spcPts val="0"/>
                </a:spcBef>
                <a:buNone/>
              </a:pPr>
              <a:t>27</a:t>
            </a:fld>
            <a:endParaRPr lang="en-GB"/>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Launching the attack</a:t>
            </a:r>
            <a:endParaRPr lang="en-US" dirty="0"/>
          </a:p>
        </p:txBody>
      </p:sp>
      <p:sp>
        <p:nvSpPr>
          <p:cNvPr id="3" name="Text Placeholder 2"/>
          <p:cNvSpPr>
            <a:spLocks noGrp="1"/>
          </p:cNvSpPr>
          <p:nvPr>
            <p:ph type="body" idx="1"/>
          </p:nvPr>
        </p:nvSpPr>
        <p:spPr/>
        <p:txBody>
          <a:bodyPr/>
          <a:lstStyle/>
          <a:p>
            <a:r>
              <a:rPr lang="en-US" dirty="0" smtClean="0"/>
              <a:t>Put the malicious website on /</a:t>
            </a:r>
            <a:r>
              <a:rPr lang="en-US" dirty="0" err="1" smtClean="0"/>
              <a:t>var</a:t>
            </a:r>
            <a:r>
              <a:rPr lang="en-US" dirty="0" smtClean="0"/>
              <a:t>/www/</a:t>
            </a:r>
            <a:r>
              <a:rPr lang="en-US" dirty="0" err="1" smtClean="0"/>
              <a:t>CSRF</a:t>
            </a:r>
            <a:r>
              <a:rPr lang="en-US" dirty="0" smtClean="0"/>
              <a:t>/Attacker folder</a:t>
            </a:r>
          </a:p>
          <a:p>
            <a:r>
              <a:rPr lang="en-US" dirty="0" smtClean="0"/>
              <a:t>Alice logs in </a:t>
            </a:r>
            <a:r>
              <a:rPr lang="en-US" dirty="0" err="1" smtClean="0"/>
              <a:t>Elgg</a:t>
            </a:r>
            <a:r>
              <a:rPr lang="en-US" dirty="0" smtClean="0"/>
              <a:t> at </a:t>
            </a:r>
            <a:r>
              <a:rPr lang="en-US" dirty="0" smtClean="0">
                <a:hlinkClick r:id="rId2"/>
              </a:rPr>
              <a:t>http://www.csrflabelgg.com</a:t>
            </a:r>
            <a:r>
              <a:rPr lang="en-US" dirty="0" smtClean="0"/>
              <a:t>  and visits the Attacker’s website </a:t>
            </a:r>
            <a:r>
              <a:rPr lang="en-US" dirty="0" smtClean="0">
                <a:hlinkClick r:id="rId3"/>
              </a:rPr>
              <a:t>http://www.csrflabattacker.com/</a:t>
            </a:r>
            <a:r>
              <a:rPr lang="en-US" dirty="0" smtClean="0"/>
              <a:t> </a:t>
            </a:r>
          </a:p>
        </p:txBody>
      </p:sp>
      <p:sp>
        <p:nvSpPr>
          <p:cNvPr id="4" name="Slide Number Placeholder 3"/>
          <p:cNvSpPr>
            <a:spLocks noGrp="1"/>
          </p:cNvSpPr>
          <p:nvPr>
            <p:ph type="sldNum" idx="12"/>
          </p:nvPr>
        </p:nvSpPr>
        <p:spPr/>
        <p:txBody>
          <a:bodyPr/>
          <a:lstStyle/>
          <a:p>
            <a:pPr marL="0" lvl="0" indent="0">
              <a:spcBef>
                <a:spcPts val="0"/>
              </a:spcBef>
              <a:buNone/>
            </a:pPr>
            <a:fld id="{00000000-1234-1234-1234-123412341234}" type="slidenum">
              <a:rPr lang="en-GB" smtClean="0"/>
              <a:pPr marL="0" lvl="0" indent="0">
                <a:spcBef>
                  <a:spcPts val="0"/>
                </a:spcBef>
                <a:buNone/>
              </a:pPr>
              <a:t>28</a:t>
            </a:fld>
            <a:endParaRPr lang="en-GB"/>
          </a:p>
        </p:txBody>
      </p:sp>
      <p:pic>
        <p:nvPicPr>
          <p:cNvPr id="70658" name="Picture 2"/>
          <p:cNvPicPr>
            <a:picLocks noChangeAspect="1" noChangeArrowheads="1"/>
          </p:cNvPicPr>
          <p:nvPr/>
        </p:nvPicPr>
        <p:blipFill>
          <a:blip r:embed="rId4"/>
          <a:srcRect/>
          <a:stretch>
            <a:fillRect/>
          </a:stretch>
        </p:blipFill>
        <p:spPr bwMode="auto">
          <a:xfrm>
            <a:off x="5070764" y="2420754"/>
            <a:ext cx="3023122" cy="2460487"/>
          </a:xfrm>
          <a:prstGeom prst="rect">
            <a:avLst/>
          </a:prstGeom>
          <a:noFill/>
          <a:ln w="9525">
            <a:noFill/>
            <a:miter lim="800000"/>
            <a:headEnd/>
            <a:tailEnd/>
          </a:ln>
          <a:effectLst/>
        </p:spPr>
      </p:pic>
      <p:pic>
        <p:nvPicPr>
          <p:cNvPr id="70659" name="Picture 3"/>
          <p:cNvPicPr>
            <a:picLocks noChangeAspect="1" noChangeArrowheads="1"/>
          </p:cNvPicPr>
          <p:nvPr/>
        </p:nvPicPr>
        <p:blipFill>
          <a:blip r:embed="rId5"/>
          <a:srcRect/>
          <a:stretch>
            <a:fillRect/>
          </a:stretch>
        </p:blipFill>
        <p:spPr bwMode="auto">
          <a:xfrm>
            <a:off x="761045" y="2710307"/>
            <a:ext cx="3568147" cy="1944820"/>
          </a:xfrm>
          <a:prstGeom prst="rect">
            <a:avLst/>
          </a:prstGeom>
          <a:noFill/>
          <a:ln w="9525">
            <a:noFill/>
            <a:miter lim="800000"/>
            <a:headEnd/>
            <a:tailEnd/>
          </a:ln>
          <a:effectLst/>
        </p:spPr>
      </p:pic>
      <p:sp>
        <p:nvSpPr>
          <p:cNvPr id="7" name="Oval 6"/>
          <p:cNvSpPr/>
          <p:nvPr/>
        </p:nvSpPr>
        <p:spPr>
          <a:xfrm>
            <a:off x="639441" y="4092420"/>
            <a:ext cx="1189359" cy="255776"/>
          </a:xfrm>
          <a:prstGeom prst="ellipse">
            <a:avLst/>
          </a:prstGeom>
          <a:noFill/>
          <a:ln>
            <a:solidFill>
              <a:srgbClr val="FF0000"/>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8" name="Oval 7"/>
          <p:cNvSpPr/>
          <p:nvPr/>
        </p:nvSpPr>
        <p:spPr>
          <a:xfrm>
            <a:off x="6349645" y="3600050"/>
            <a:ext cx="1189359" cy="332509"/>
          </a:xfrm>
          <a:prstGeom prst="ellipse">
            <a:avLst/>
          </a:prstGeom>
          <a:noFill/>
          <a:ln>
            <a:solidFill>
              <a:srgbClr val="FF0000"/>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Fundamental Causes of CSRF</a:t>
            </a:r>
            <a:endParaRPr lang="en-US" dirty="0"/>
          </a:p>
        </p:txBody>
      </p:sp>
      <p:sp>
        <p:nvSpPr>
          <p:cNvPr id="3" name="Text Placeholder 2"/>
          <p:cNvSpPr>
            <a:spLocks noGrp="1"/>
          </p:cNvSpPr>
          <p:nvPr>
            <p:ph type="body" idx="1"/>
          </p:nvPr>
        </p:nvSpPr>
        <p:spPr/>
        <p:txBody>
          <a:bodyPr/>
          <a:lstStyle/>
          <a:p>
            <a:pPr marL="231775" indent="-231775"/>
            <a:r>
              <a:rPr lang="en-US" dirty="0" smtClean="0"/>
              <a:t>The server cannot distinguish whether a request is cross-site or same-site</a:t>
            </a:r>
          </a:p>
          <a:p>
            <a:pPr marL="574675" lvl="1" indent="-231775"/>
            <a:r>
              <a:rPr lang="en-US" dirty="0" smtClean="0"/>
              <a:t>Same-site request: coming from the server’s own page. </a:t>
            </a:r>
            <a:r>
              <a:rPr lang="en-US" dirty="0" smtClean="0">
                <a:solidFill>
                  <a:srgbClr val="00B050"/>
                </a:solidFill>
              </a:rPr>
              <a:t>Trusted</a:t>
            </a:r>
            <a:r>
              <a:rPr lang="en-US" dirty="0" smtClean="0"/>
              <a:t>.</a:t>
            </a:r>
          </a:p>
          <a:p>
            <a:pPr marL="574675" lvl="1" indent="-231775"/>
            <a:r>
              <a:rPr lang="en-US" dirty="0" smtClean="0"/>
              <a:t>Cross-site request: coming from other site’s pages. </a:t>
            </a:r>
            <a:r>
              <a:rPr lang="en-US" dirty="0" smtClean="0">
                <a:solidFill>
                  <a:srgbClr val="C00000"/>
                </a:solidFill>
              </a:rPr>
              <a:t>Untrusted</a:t>
            </a:r>
            <a:r>
              <a:rPr lang="en-US" dirty="0" smtClean="0"/>
              <a:t>.</a:t>
            </a:r>
          </a:p>
          <a:p>
            <a:pPr marL="574675" lvl="1" indent="-231775"/>
            <a:r>
              <a:rPr lang="en-US" dirty="0" smtClean="0"/>
              <a:t>We should not treat these two types of requests the same.</a:t>
            </a:r>
          </a:p>
          <a:p>
            <a:pPr marL="231775" indent="-231775"/>
            <a:r>
              <a:rPr lang="en-US" dirty="0" smtClean="0"/>
              <a:t>Does the browser know the difference?</a:t>
            </a:r>
          </a:p>
          <a:p>
            <a:pPr marL="574675" lvl="1" indent="-231775"/>
            <a:r>
              <a:rPr lang="en-US" dirty="0" smtClean="0"/>
              <a:t>Of course. The browser knows from which page a request is generated.</a:t>
            </a:r>
          </a:p>
          <a:p>
            <a:pPr marL="574675" lvl="1" indent="-231775"/>
            <a:r>
              <a:rPr lang="en-US" dirty="0" smtClean="0"/>
              <a:t>Can browser help?</a:t>
            </a:r>
          </a:p>
          <a:p>
            <a:pPr marL="231775" indent="-231775"/>
            <a:r>
              <a:rPr lang="en-US" dirty="0" smtClean="0"/>
              <a:t>How to help the server?</a:t>
            </a:r>
          </a:p>
          <a:p>
            <a:pPr marL="574675" lvl="1" indent="-231775"/>
            <a:r>
              <a:rPr lang="en-US" dirty="0" smtClean="0"/>
              <a:t>Referer header, i.e referrer  (browser’s help)</a:t>
            </a:r>
          </a:p>
          <a:p>
            <a:pPr marL="574675" lvl="1" indent="-231775"/>
            <a:r>
              <a:rPr lang="en-US" dirty="0" smtClean="0"/>
              <a:t>Same-site cookie (browser’s help)</a:t>
            </a:r>
          </a:p>
          <a:p>
            <a:pPr marL="574675" lvl="1" indent="-231775"/>
            <a:r>
              <a:rPr lang="en-US" dirty="0" smtClean="0"/>
              <a:t>Secret token (the server helps itself to defend against CSRF)</a:t>
            </a:r>
          </a:p>
        </p:txBody>
      </p:sp>
      <p:sp>
        <p:nvSpPr>
          <p:cNvPr id="4" name="Slide Number Placeholder 3"/>
          <p:cNvSpPr>
            <a:spLocks noGrp="1"/>
          </p:cNvSpPr>
          <p:nvPr>
            <p:ph type="sldNum" idx="12"/>
          </p:nvPr>
        </p:nvSpPr>
        <p:spPr/>
        <p:txBody>
          <a:bodyPr/>
          <a:lstStyle/>
          <a:p>
            <a:pPr marL="0" lvl="0" indent="0">
              <a:spcBef>
                <a:spcPts val="0"/>
              </a:spcBef>
              <a:buNone/>
            </a:pPr>
            <a:fld id="{00000000-1234-1234-1234-123412341234}" type="slidenum">
              <a:rPr lang="en-GB" smtClean="0"/>
              <a:pPr marL="0" lvl="0" indent="0">
                <a:spcBef>
                  <a:spcPts val="0"/>
                </a:spcBef>
                <a:buNone/>
              </a:pPr>
              <a:t>29</a:t>
            </a:fld>
            <a:endParaRPr lang="en-GB"/>
          </a:p>
        </p:txBody>
      </p:sp>
    </p:spTree>
    <p:extLst>
      <p:ext uri="{BB962C8B-B14F-4D97-AF65-F5344CB8AC3E}">
        <p14:creationId xmlns:p14="http://schemas.microsoft.com/office/powerpoint/2010/main" xmlns="" val="34665223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dissolv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dissolv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dissolv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dissolv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dissolv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dissolv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dissolve">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9" presetClass="entr" presetSubtype="0"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dissolve">
                                      <p:cBhvr>
                                        <p:cTn id="42" dur="500"/>
                                        <p:tgtEl>
                                          <p:spTgt spid="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9" presetClass="entr" presetSubtype="0" fill="hold" grpId="0"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dissolve">
                                      <p:cBhvr>
                                        <p:cTn id="47" dur="500"/>
                                        <p:tgtEl>
                                          <p:spTgt spid="3">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9" presetClass="entr" presetSubtype="0" fill="hold" grpId="0" nodeType="clickEffect">
                                  <p:stCondLst>
                                    <p:cond delay="0"/>
                                  </p:stCondLst>
                                  <p:childTnLst>
                                    <p:set>
                                      <p:cBhvr>
                                        <p:cTn id="51" dur="1" fill="hold">
                                          <p:stCondLst>
                                            <p:cond delay="0"/>
                                          </p:stCondLst>
                                        </p:cTn>
                                        <p:tgtEl>
                                          <p:spTgt spid="3">
                                            <p:txEl>
                                              <p:pRg st="9" end="9"/>
                                            </p:txEl>
                                          </p:spTgt>
                                        </p:tgtEl>
                                        <p:attrNameLst>
                                          <p:attrName>style.visibility</p:attrName>
                                        </p:attrNameLst>
                                      </p:cBhvr>
                                      <p:to>
                                        <p:strVal val="visible"/>
                                      </p:to>
                                    </p:set>
                                    <p:animEffect transition="in" filter="dissolve">
                                      <p:cBhvr>
                                        <p:cTn id="52" dur="500"/>
                                        <p:tgtEl>
                                          <p:spTgt spid="3">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9" presetClass="entr" presetSubtype="0" fill="hold" grpId="0" nodeType="clickEffect">
                                  <p:stCondLst>
                                    <p:cond delay="0"/>
                                  </p:stCondLst>
                                  <p:childTnLst>
                                    <p:set>
                                      <p:cBhvr>
                                        <p:cTn id="56" dur="1" fill="hold">
                                          <p:stCondLst>
                                            <p:cond delay="0"/>
                                          </p:stCondLst>
                                        </p:cTn>
                                        <p:tgtEl>
                                          <p:spTgt spid="3">
                                            <p:txEl>
                                              <p:pRg st="10" end="10"/>
                                            </p:txEl>
                                          </p:spTgt>
                                        </p:tgtEl>
                                        <p:attrNameLst>
                                          <p:attrName>style.visibility</p:attrName>
                                        </p:attrNameLst>
                                      </p:cBhvr>
                                      <p:to>
                                        <p:strVal val="visible"/>
                                      </p:to>
                                    </p:set>
                                    <p:animEffect transition="in" filter="dissolve">
                                      <p:cBhvr>
                                        <p:cTn id="57" dur="500"/>
                                        <p:tgtEl>
                                          <p:spTgt spid="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89"/>
        <p:cNvGrpSpPr/>
        <p:nvPr/>
      </p:nvGrpSpPr>
      <p:grpSpPr>
        <a:xfrm>
          <a:off x="0" y="0"/>
          <a:ext cx="0" cy="0"/>
          <a:chOff x="0" y="0"/>
          <a:chExt cx="0" cy="0"/>
        </a:xfrm>
      </p:grpSpPr>
      <p:sp>
        <p:nvSpPr>
          <p:cNvPr id="190" name="Shape 190"/>
          <p:cNvSpPr txBox="1">
            <a:spLocks noGrp="1"/>
          </p:cNvSpPr>
          <p:nvPr>
            <p:ph type="title"/>
          </p:nvPr>
        </p:nvSpPr>
        <p:spPr>
          <a:prstGeom prst="rect">
            <a:avLst/>
          </a:prstGeom>
        </p:spPr>
        <p:txBody>
          <a:bodyPr wrap="square" lIns="91425" tIns="91425" rIns="91425" bIns="91425" anchor="t" anchorCtr="0">
            <a:noAutofit/>
          </a:bodyPr>
          <a:lstStyle/>
          <a:p>
            <a:pPr marL="0" lvl="0" indent="0">
              <a:spcBef>
                <a:spcPts val="0"/>
              </a:spcBef>
              <a:buNone/>
            </a:pPr>
            <a:r>
              <a:rPr lang="en-GB" dirty="0" smtClean="0"/>
              <a:t>Countermeasures: </a:t>
            </a:r>
            <a:r>
              <a:rPr lang="en-GB" dirty="0" err="1" smtClean="0"/>
              <a:t>Referer</a:t>
            </a:r>
            <a:r>
              <a:rPr lang="en-GB" dirty="0" smtClean="0"/>
              <a:t> Header</a:t>
            </a:r>
            <a:endParaRPr lang="en-GB" dirty="0"/>
          </a:p>
        </p:txBody>
      </p:sp>
      <p:sp>
        <p:nvSpPr>
          <p:cNvPr id="191" name="Shape 191"/>
          <p:cNvSpPr txBox="1">
            <a:spLocks noGrp="1"/>
          </p:cNvSpPr>
          <p:nvPr>
            <p:ph type="body" idx="1"/>
          </p:nvPr>
        </p:nvSpPr>
        <p:spPr>
          <a:xfrm>
            <a:off x="311700" y="1082625"/>
            <a:ext cx="8520600" cy="3416400"/>
          </a:xfrm>
          <a:prstGeom prst="rect">
            <a:avLst/>
          </a:prstGeom>
        </p:spPr>
        <p:txBody>
          <a:bodyPr wrap="square" lIns="91425" tIns="91425" rIns="91425" bIns="91425" anchor="t" anchorCtr="0">
            <a:noAutofit/>
          </a:bodyPr>
          <a:lstStyle/>
          <a:p>
            <a:pPr marL="457200" lvl="0" indent="-342900">
              <a:spcBef>
                <a:spcPts val="0"/>
              </a:spcBef>
              <a:spcAft>
                <a:spcPts val="600"/>
              </a:spcAft>
              <a:buClr>
                <a:srgbClr val="000000"/>
              </a:buClr>
              <a:buSzPts val="1800"/>
              <a:buChar char="●"/>
            </a:pPr>
            <a:r>
              <a:rPr lang="en-GB" dirty="0" smtClean="0">
                <a:solidFill>
                  <a:srgbClr val="000000"/>
                </a:solidFill>
              </a:rPr>
              <a:t>HTTP </a:t>
            </a:r>
            <a:r>
              <a:rPr lang="en-GB" dirty="0">
                <a:solidFill>
                  <a:srgbClr val="000000"/>
                </a:solidFill>
              </a:rPr>
              <a:t>header field identifying the address of the web page from where the request is generated.</a:t>
            </a:r>
          </a:p>
          <a:p>
            <a:pPr marL="457200" lvl="0" indent="-342900">
              <a:spcBef>
                <a:spcPts val="0"/>
              </a:spcBef>
              <a:spcAft>
                <a:spcPts val="600"/>
              </a:spcAft>
              <a:buClr>
                <a:srgbClr val="000000"/>
              </a:buClr>
              <a:buSzPts val="1800"/>
              <a:buChar char="●"/>
            </a:pPr>
            <a:r>
              <a:rPr lang="en-GB" dirty="0">
                <a:solidFill>
                  <a:srgbClr val="000000"/>
                </a:solidFill>
              </a:rPr>
              <a:t>A server can check whether the request is originated from its own pages or not.</a:t>
            </a:r>
          </a:p>
          <a:p>
            <a:pPr marL="457200" lvl="0" indent="-342900">
              <a:spcBef>
                <a:spcPts val="0"/>
              </a:spcBef>
              <a:spcAft>
                <a:spcPts val="600"/>
              </a:spcAft>
              <a:buClr>
                <a:srgbClr val="000000"/>
              </a:buClr>
              <a:buSzPts val="1800"/>
              <a:buChar char="●"/>
            </a:pPr>
            <a:r>
              <a:rPr lang="en-GB" dirty="0">
                <a:solidFill>
                  <a:srgbClr val="000000"/>
                </a:solidFill>
              </a:rPr>
              <a:t>This field reveals part of browsing history causing privacy concern and hence, this field is mostly removed from the header</a:t>
            </a:r>
            <a:r>
              <a:rPr lang="en-GB" dirty="0" smtClean="0">
                <a:solidFill>
                  <a:srgbClr val="000000"/>
                </a:solidFill>
              </a:rPr>
              <a:t>.</a:t>
            </a:r>
          </a:p>
          <a:p>
            <a:pPr marL="457200" lvl="0" indent="-342900">
              <a:spcBef>
                <a:spcPts val="0"/>
              </a:spcBef>
              <a:spcAft>
                <a:spcPts val="600"/>
              </a:spcAft>
              <a:buClr>
                <a:srgbClr val="000000"/>
              </a:buClr>
              <a:buSzPts val="1800"/>
              <a:buChar char="●"/>
            </a:pPr>
            <a:r>
              <a:rPr lang="en-GB" dirty="0" smtClean="0">
                <a:solidFill>
                  <a:srgbClr val="000000"/>
                </a:solidFill>
              </a:rPr>
              <a:t>The server cannot use this unreliable source.</a:t>
            </a:r>
            <a:endParaRPr lang="en-GB" dirty="0">
              <a:solidFill>
                <a:srgbClr val="000000"/>
              </a:solidFill>
            </a:endParaRPr>
          </a:p>
        </p:txBody>
      </p:sp>
      <p:sp>
        <p:nvSpPr>
          <p:cNvPr id="4" name="Slide Number Placeholder 3"/>
          <p:cNvSpPr>
            <a:spLocks noGrp="1"/>
          </p:cNvSpPr>
          <p:nvPr>
            <p:ph type="sldNum" idx="12"/>
          </p:nvPr>
        </p:nvSpPr>
        <p:spPr/>
        <p:txBody>
          <a:bodyPr/>
          <a:lstStyle/>
          <a:p>
            <a:pPr marL="0" lvl="0" indent="0">
              <a:spcBef>
                <a:spcPts val="0"/>
              </a:spcBef>
              <a:buNone/>
            </a:pPr>
            <a:fld id="{00000000-1234-1234-1234-123412341234}" type="slidenum">
              <a:rPr lang="en-GB" smtClean="0"/>
              <a:pPr marL="0" lvl="0" indent="0">
                <a:spcBef>
                  <a:spcPts val="0"/>
                </a:spcBef>
                <a:buNone/>
              </a:pPr>
              <a:t>30</a:t>
            </a:fld>
            <a:endParaRPr lang="en-GB"/>
          </a:p>
        </p:txBody>
      </p:sp>
      <p:sp>
        <p:nvSpPr>
          <p:cNvPr id="8" name="Rectangle 7"/>
          <p:cNvSpPr/>
          <p:nvPr/>
        </p:nvSpPr>
        <p:spPr>
          <a:xfrm>
            <a:off x="1188942" y="3578551"/>
            <a:ext cx="2417093" cy="1362008"/>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en-US"/>
          </a:p>
        </p:txBody>
      </p:sp>
      <p:pic>
        <p:nvPicPr>
          <p:cNvPr id="9" name="Picture 3"/>
          <p:cNvPicPr>
            <a:picLocks noChangeAspect="1" noChangeArrowheads="1"/>
          </p:cNvPicPr>
          <p:nvPr/>
        </p:nvPicPr>
        <p:blipFill>
          <a:blip r:embed="rId3"/>
          <a:srcRect/>
          <a:stretch>
            <a:fillRect/>
          </a:stretch>
        </p:blipFill>
        <p:spPr bwMode="auto">
          <a:xfrm>
            <a:off x="2148112" y="3975086"/>
            <a:ext cx="1258799" cy="866624"/>
          </a:xfrm>
          <a:prstGeom prst="rect">
            <a:avLst/>
          </a:prstGeom>
          <a:noFill/>
          <a:ln w="9525">
            <a:noFill/>
            <a:miter lim="800000"/>
            <a:headEnd/>
            <a:tailEnd/>
          </a:ln>
          <a:effectLst/>
        </p:spPr>
      </p:pic>
      <p:pic>
        <p:nvPicPr>
          <p:cNvPr id="10" name="Picture 5" descr="A Eulogy to Clip Art, in Clip Art - The Atlantic"/>
          <p:cNvPicPr>
            <a:picLocks noChangeAspect="1" noChangeArrowheads="1"/>
          </p:cNvPicPr>
          <p:nvPr/>
        </p:nvPicPr>
        <p:blipFill>
          <a:blip r:embed="rId4"/>
          <a:srcRect/>
          <a:stretch>
            <a:fillRect/>
          </a:stretch>
        </p:blipFill>
        <p:spPr bwMode="auto">
          <a:xfrm>
            <a:off x="6353583" y="3458652"/>
            <a:ext cx="1690632" cy="1109292"/>
          </a:xfrm>
          <a:prstGeom prst="rect">
            <a:avLst/>
          </a:prstGeom>
          <a:noFill/>
        </p:spPr>
      </p:pic>
      <p:sp>
        <p:nvSpPr>
          <p:cNvPr id="11" name="TextBox 10"/>
          <p:cNvSpPr txBox="1"/>
          <p:nvPr/>
        </p:nvSpPr>
        <p:spPr>
          <a:xfrm>
            <a:off x="6602966" y="4528182"/>
            <a:ext cx="910827" cy="307777"/>
          </a:xfrm>
          <a:prstGeom prst="rect">
            <a:avLst/>
          </a:prstGeom>
          <a:noFill/>
        </p:spPr>
        <p:txBody>
          <a:bodyPr wrap="none" rtlCol="0">
            <a:spAutoFit/>
          </a:bodyPr>
          <a:lstStyle/>
          <a:p>
            <a:r>
              <a:rPr lang="en-US" dirty="0" smtClean="0"/>
              <a:t>elgg.com</a:t>
            </a:r>
            <a:endParaRPr lang="en-US" dirty="0"/>
          </a:p>
        </p:txBody>
      </p:sp>
      <p:sp>
        <p:nvSpPr>
          <p:cNvPr id="12" name="TextBox 11"/>
          <p:cNvSpPr txBox="1"/>
          <p:nvPr/>
        </p:nvSpPr>
        <p:spPr>
          <a:xfrm>
            <a:off x="2263201" y="4486570"/>
            <a:ext cx="710451" cy="261610"/>
          </a:xfrm>
          <a:prstGeom prst="rect">
            <a:avLst/>
          </a:prstGeom>
          <a:noFill/>
        </p:spPr>
        <p:txBody>
          <a:bodyPr wrap="none" rtlCol="0">
            <a:spAutoFit/>
          </a:bodyPr>
          <a:lstStyle/>
          <a:p>
            <a:r>
              <a:rPr lang="en-US" sz="1100" dirty="0" smtClean="0"/>
              <a:t>ellg.com</a:t>
            </a:r>
            <a:endParaRPr lang="en-US" sz="1100" dirty="0"/>
          </a:p>
        </p:txBody>
      </p:sp>
      <p:cxnSp>
        <p:nvCxnSpPr>
          <p:cNvPr id="13" name="Straight Arrow Connector 12"/>
          <p:cNvCxnSpPr>
            <a:stCxn id="9" idx="3"/>
          </p:cNvCxnSpPr>
          <p:nvPr/>
        </p:nvCxnSpPr>
        <p:spPr>
          <a:xfrm flipV="1">
            <a:off x="3406911" y="4277360"/>
            <a:ext cx="2932929" cy="131038"/>
          </a:xfrm>
          <a:prstGeom prst="straightConnector1">
            <a:avLst/>
          </a:prstGeom>
          <a:ln>
            <a:tailEnd type="arrow"/>
          </a:ln>
        </p:spPr>
        <p:style>
          <a:lnRef idx="3">
            <a:schemeClr val="accent1"/>
          </a:lnRef>
          <a:fillRef idx="0">
            <a:schemeClr val="accent1"/>
          </a:fillRef>
          <a:effectRef idx="2">
            <a:schemeClr val="accent1"/>
          </a:effectRef>
          <a:fontRef idx="minor">
            <a:schemeClr val="tx1"/>
          </a:fontRef>
        </p:style>
      </p:cxnSp>
      <p:pic>
        <p:nvPicPr>
          <p:cNvPr id="15" name="Picture 2"/>
          <p:cNvPicPr>
            <a:picLocks noChangeAspect="1" noChangeArrowheads="1"/>
          </p:cNvPicPr>
          <p:nvPr/>
        </p:nvPicPr>
        <p:blipFill>
          <a:blip r:embed="rId5"/>
          <a:srcRect/>
          <a:stretch>
            <a:fillRect/>
          </a:stretch>
        </p:blipFill>
        <p:spPr bwMode="auto">
          <a:xfrm>
            <a:off x="1421413" y="3714764"/>
            <a:ext cx="1218556" cy="835735"/>
          </a:xfrm>
          <a:prstGeom prst="rect">
            <a:avLst/>
          </a:prstGeom>
          <a:noFill/>
          <a:ln w="9525">
            <a:noFill/>
            <a:miter lim="800000"/>
            <a:headEnd/>
            <a:tailEnd/>
          </a:ln>
          <a:effectLst/>
        </p:spPr>
      </p:pic>
      <p:sp>
        <p:nvSpPr>
          <p:cNvPr id="16" name="TextBox 15"/>
          <p:cNvSpPr txBox="1"/>
          <p:nvPr/>
        </p:nvSpPr>
        <p:spPr>
          <a:xfrm>
            <a:off x="1534239" y="4038963"/>
            <a:ext cx="989373" cy="261610"/>
          </a:xfrm>
          <a:prstGeom prst="rect">
            <a:avLst/>
          </a:prstGeom>
          <a:noFill/>
        </p:spPr>
        <p:txBody>
          <a:bodyPr wrap="none" rtlCol="0">
            <a:spAutoFit/>
          </a:bodyPr>
          <a:lstStyle/>
          <a:p>
            <a:r>
              <a:rPr lang="en-US" sz="1100" dirty="0" smtClean="0"/>
              <a:t>attacker.com</a:t>
            </a:r>
            <a:endParaRPr lang="en-US" sz="1100" dirty="0"/>
          </a:p>
        </p:txBody>
      </p:sp>
      <p:sp>
        <p:nvSpPr>
          <p:cNvPr id="17" name="TextBox 16"/>
          <p:cNvSpPr txBox="1"/>
          <p:nvPr/>
        </p:nvSpPr>
        <p:spPr>
          <a:xfrm>
            <a:off x="1214431" y="4595246"/>
            <a:ext cx="841897" cy="307777"/>
          </a:xfrm>
          <a:prstGeom prst="rect">
            <a:avLst/>
          </a:prstGeom>
          <a:noFill/>
        </p:spPr>
        <p:txBody>
          <a:bodyPr wrap="none" rtlCol="0">
            <a:spAutoFit/>
          </a:bodyPr>
          <a:lstStyle/>
          <a:p>
            <a:r>
              <a:rPr lang="en-US" dirty="0" smtClean="0"/>
              <a:t>Browser</a:t>
            </a:r>
          </a:p>
        </p:txBody>
      </p:sp>
      <p:cxnSp>
        <p:nvCxnSpPr>
          <p:cNvPr id="18" name="Straight Arrow Connector 17"/>
          <p:cNvCxnSpPr>
            <a:endCxn id="10" idx="1"/>
          </p:cNvCxnSpPr>
          <p:nvPr/>
        </p:nvCxnSpPr>
        <p:spPr>
          <a:xfrm>
            <a:off x="2690192" y="3856383"/>
            <a:ext cx="3663391" cy="156915"/>
          </a:xfrm>
          <a:prstGeom prst="straightConnector1">
            <a:avLst/>
          </a:prstGeom>
          <a:ln>
            <a:tailEnd type="arrow"/>
          </a:ln>
        </p:spPr>
        <p:style>
          <a:lnRef idx="3">
            <a:schemeClr val="accent1"/>
          </a:lnRef>
          <a:fillRef idx="0">
            <a:schemeClr val="accent1"/>
          </a:fillRef>
          <a:effectRef idx="2">
            <a:schemeClr val="accent1"/>
          </a:effectRef>
          <a:fontRef idx="minor">
            <a:schemeClr val="tx1"/>
          </a:fontRef>
        </p:style>
      </p:cxnSp>
      <p:sp>
        <p:nvSpPr>
          <p:cNvPr id="6" name="TextBox 5"/>
          <p:cNvSpPr txBox="1"/>
          <p:nvPr/>
        </p:nvSpPr>
        <p:spPr>
          <a:xfrm rot="21448763">
            <a:off x="3772240" y="4335125"/>
            <a:ext cx="2456122" cy="253916"/>
          </a:xfrm>
          <a:prstGeom prst="rect">
            <a:avLst/>
          </a:prstGeom>
          <a:noFill/>
          <a:ln>
            <a:noFill/>
          </a:ln>
        </p:spPr>
        <p:txBody>
          <a:bodyPr wrap="none" rtlCol="0">
            <a:spAutoFit/>
          </a:bodyPr>
          <a:lstStyle/>
          <a:p>
            <a:r>
              <a:rPr lang="en-US" sz="1050" dirty="0" err="1" smtClean="0"/>
              <a:t>Referer</a:t>
            </a:r>
            <a:r>
              <a:rPr lang="en-US" sz="1050" dirty="0" smtClean="0"/>
              <a:t>: http://elgg.com/addfriend.php</a:t>
            </a:r>
            <a:endParaRPr lang="en-US" sz="1050" dirty="0"/>
          </a:p>
        </p:txBody>
      </p:sp>
      <p:sp>
        <p:nvSpPr>
          <p:cNvPr id="7" name="TextBox 6"/>
          <p:cNvSpPr txBox="1"/>
          <p:nvPr/>
        </p:nvSpPr>
        <p:spPr>
          <a:xfrm rot="198246">
            <a:off x="3579601" y="3722715"/>
            <a:ext cx="2787912" cy="253916"/>
          </a:xfrm>
          <a:prstGeom prst="rect">
            <a:avLst/>
          </a:prstGeom>
          <a:noFill/>
          <a:ln>
            <a:noFill/>
          </a:ln>
        </p:spPr>
        <p:txBody>
          <a:bodyPr wrap="square" rtlCol="0">
            <a:spAutoFit/>
          </a:bodyPr>
          <a:lstStyle/>
          <a:p>
            <a:r>
              <a:rPr lang="en-US" sz="1050" dirty="0" err="1" smtClean="0"/>
              <a:t>Referer</a:t>
            </a:r>
            <a:r>
              <a:rPr lang="en-US" sz="1050" dirty="0" smtClean="0"/>
              <a:t>: http://attacker.com/badpage.html</a:t>
            </a:r>
            <a:endParaRPr lang="en-US" sz="1050" dirty="0"/>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95"/>
        <p:cNvGrpSpPr/>
        <p:nvPr/>
      </p:nvGrpSpPr>
      <p:grpSpPr>
        <a:xfrm>
          <a:off x="0" y="0"/>
          <a:ext cx="0" cy="0"/>
          <a:chOff x="0" y="0"/>
          <a:chExt cx="0" cy="0"/>
        </a:xfrm>
      </p:grpSpPr>
      <p:sp>
        <p:nvSpPr>
          <p:cNvPr id="196" name="Shape 196"/>
          <p:cNvSpPr txBox="1">
            <a:spLocks noGrp="1"/>
          </p:cNvSpPr>
          <p:nvPr>
            <p:ph type="title"/>
          </p:nvPr>
        </p:nvSpPr>
        <p:spPr>
          <a:prstGeom prst="rect">
            <a:avLst/>
          </a:prstGeom>
        </p:spPr>
        <p:txBody>
          <a:bodyPr wrap="square" lIns="91425" tIns="91425" rIns="91425" bIns="91425" anchor="t" anchorCtr="0">
            <a:noAutofit/>
          </a:bodyPr>
          <a:lstStyle/>
          <a:p>
            <a:pPr lvl="0" indent="-69850">
              <a:buClr>
                <a:schemeClr val="dk1"/>
              </a:buClr>
              <a:buSzPts val="1100"/>
            </a:pPr>
            <a:r>
              <a:rPr lang="en-GB" dirty="0"/>
              <a:t>Countermeasures: Same-Site </a:t>
            </a:r>
            <a:r>
              <a:rPr lang="en-GB" dirty="0" smtClean="0"/>
              <a:t>Cookies</a:t>
            </a:r>
            <a:endParaRPr lang="en-GB" dirty="0"/>
          </a:p>
        </p:txBody>
      </p:sp>
      <p:sp>
        <p:nvSpPr>
          <p:cNvPr id="197" name="Shape 197"/>
          <p:cNvSpPr txBox="1">
            <a:spLocks noGrp="1"/>
          </p:cNvSpPr>
          <p:nvPr>
            <p:ph type="body" idx="1"/>
          </p:nvPr>
        </p:nvSpPr>
        <p:spPr>
          <a:xfrm>
            <a:off x="311700" y="1012775"/>
            <a:ext cx="8520600" cy="3897300"/>
          </a:xfrm>
          <a:prstGeom prst="rect">
            <a:avLst/>
          </a:prstGeom>
        </p:spPr>
        <p:txBody>
          <a:bodyPr wrap="square" lIns="91425" tIns="91425" rIns="91425" bIns="91425" anchor="t" anchorCtr="0">
            <a:noAutofit/>
          </a:bodyPr>
          <a:lstStyle/>
          <a:p>
            <a:pPr marL="457200" lvl="0" indent="-342900">
              <a:spcBef>
                <a:spcPts val="0"/>
              </a:spcBef>
              <a:spcAft>
                <a:spcPts val="600"/>
              </a:spcAft>
              <a:buClr>
                <a:srgbClr val="000000"/>
              </a:buClr>
              <a:buSzPts val="1800"/>
              <a:buChar char="●"/>
            </a:pPr>
            <a:r>
              <a:rPr lang="en-GB" sz="2000" dirty="0" smtClean="0">
                <a:solidFill>
                  <a:srgbClr val="000000"/>
                </a:solidFill>
              </a:rPr>
              <a:t>A </a:t>
            </a:r>
            <a:r>
              <a:rPr lang="en-GB" sz="2000" dirty="0">
                <a:solidFill>
                  <a:srgbClr val="000000"/>
                </a:solidFill>
              </a:rPr>
              <a:t>special type of cookie in browsers like Chrome and </a:t>
            </a:r>
            <a:r>
              <a:rPr lang="en-GB" sz="2000" dirty="0" smtClean="0">
                <a:solidFill>
                  <a:srgbClr val="000000"/>
                </a:solidFill>
              </a:rPr>
              <a:t>Opera, </a:t>
            </a:r>
            <a:r>
              <a:rPr lang="en-GB" sz="2000" dirty="0">
                <a:solidFill>
                  <a:srgbClr val="000000"/>
                </a:solidFill>
              </a:rPr>
              <a:t>which </a:t>
            </a:r>
            <a:r>
              <a:rPr lang="en-GB" sz="2000" dirty="0" smtClean="0">
                <a:solidFill>
                  <a:srgbClr val="000000"/>
                </a:solidFill>
              </a:rPr>
              <a:t>provide </a:t>
            </a:r>
            <a:r>
              <a:rPr lang="en-GB" sz="2000" dirty="0">
                <a:solidFill>
                  <a:srgbClr val="000000"/>
                </a:solidFill>
              </a:rPr>
              <a:t>a special attribute to cookies called </a:t>
            </a:r>
            <a:r>
              <a:rPr lang="en-GB" sz="2000" dirty="0" err="1">
                <a:solidFill>
                  <a:srgbClr val="000000"/>
                </a:solidFill>
                <a:latin typeface="Courier New" panose="02070309020205020404" pitchFamily="49" charset="0"/>
                <a:cs typeface="Courier New" panose="02070309020205020404" pitchFamily="49" charset="0"/>
              </a:rPr>
              <a:t>SameSite</a:t>
            </a:r>
            <a:r>
              <a:rPr lang="en-GB" sz="2000" i="1" dirty="0">
                <a:solidFill>
                  <a:srgbClr val="000000"/>
                </a:solidFill>
              </a:rPr>
              <a:t>.</a:t>
            </a:r>
          </a:p>
          <a:p>
            <a:pPr marL="457200" lvl="0" indent="-342900">
              <a:spcBef>
                <a:spcPts val="0"/>
              </a:spcBef>
              <a:spcAft>
                <a:spcPts val="600"/>
              </a:spcAft>
              <a:buClr>
                <a:srgbClr val="000000"/>
              </a:buClr>
              <a:buSzPts val="1800"/>
              <a:buChar char="●"/>
            </a:pPr>
            <a:r>
              <a:rPr lang="en-GB" sz="2000" dirty="0">
                <a:solidFill>
                  <a:srgbClr val="000000"/>
                </a:solidFill>
              </a:rPr>
              <a:t>This attribute is set by the </a:t>
            </a:r>
            <a:r>
              <a:rPr lang="en-GB" sz="2000" dirty="0" smtClean="0">
                <a:solidFill>
                  <a:srgbClr val="000000"/>
                </a:solidFill>
              </a:rPr>
              <a:t>server </a:t>
            </a:r>
            <a:r>
              <a:rPr lang="en-GB" sz="2000" dirty="0">
                <a:solidFill>
                  <a:srgbClr val="000000"/>
                </a:solidFill>
              </a:rPr>
              <a:t>and </a:t>
            </a:r>
            <a:r>
              <a:rPr lang="en-GB" sz="2000">
                <a:solidFill>
                  <a:srgbClr val="000000"/>
                </a:solidFill>
              </a:rPr>
              <a:t>it </a:t>
            </a:r>
            <a:r>
              <a:rPr lang="en-GB" sz="2000" smtClean="0">
                <a:solidFill>
                  <a:srgbClr val="000000"/>
                </a:solidFill>
              </a:rPr>
              <a:t>tells </a:t>
            </a:r>
            <a:r>
              <a:rPr lang="en-GB" sz="2000" dirty="0" smtClean="0">
                <a:solidFill>
                  <a:srgbClr val="000000"/>
                </a:solidFill>
              </a:rPr>
              <a:t>the browser </a:t>
            </a:r>
            <a:r>
              <a:rPr lang="en-GB" sz="2000" dirty="0">
                <a:solidFill>
                  <a:srgbClr val="000000"/>
                </a:solidFill>
              </a:rPr>
              <a:t>whether a cookie should be attached to a cross-site request or not.</a:t>
            </a:r>
          </a:p>
          <a:p>
            <a:pPr marL="457200" lvl="0" indent="-342900">
              <a:spcBef>
                <a:spcPts val="0"/>
              </a:spcBef>
              <a:spcAft>
                <a:spcPts val="600"/>
              </a:spcAft>
              <a:buClr>
                <a:srgbClr val="000000"/>
              </a:buClr>
              <a:buSzPts val="1800"/>
              <a:buChar char="●"/>
            </a:pPr>
            <a:r>
              <a:rPr lang="en-GB" sz="2000" dirty="0" smtClean="0">
                <a:solidFill>
                  <a:srgbClr val="000000"/>
                </a:solidFill>
              </a:rPr>
              <a:t>Cookies with this attribute </a:t>
            </a:r>
            <a:r>
              <a:rPr lang="en-GB" sz="2000" dirty="0">
                <a:solidFill>
                  <a:srgbClr val="000000"/>
                </a:solidFill>
              </a:rPr>
              <a:t>are always sent along with same-site requests, but </a:t>
            </a:r>
            <a:r>
              <a:rPr lang="en-GB" sz="2000" dirty="0" smtClean="0">
                <a:solidFill>
                  <a:srgbClr val="000000"/>
                </a:solidFill>
              </a:rPr>
              <a:t>with cross-site requests, it depends </a:t>
            </a:r>
            <a:r>
              <a:rPr lang="en-GB" sz="2000" dirty="0">
                <a:solidFill>
                  <a:srgbClr val="000000"/>
                </a:solidFill>
              </a:rPr>
              <a:t>on the value of this </a:t>
            </a:r>
            <a:r>
              <a:rPr lang="en-GB" sz="2000" dirty="0" smtClean="0">
                <a:solidFill>
                  <a:srgbClr val="000000"/>
                </a:solidFill>
              </a:rPr>
              <a:t>attribute:</a:t>
            </a:r>
          </a:p>
          <a:p>
            <a:pPr marL="800100" lvl="1" indent="-342900">
              <a:lnSpc>
                <a:spcPct val="100000"/>
              </a:lnSpc>
              <a:buClr>
                <a:srgbClr val="000000"/>
              </a:buClr>
              <a:buSzPts val="1800"/>
              <a:buChar char="●"/>
            </a:pPr>
            <a:r>
              <a:rPr lang="en-GB" dirty="0" smtClean="0">
                <a:solidFill>
                  <a:srgbClr val="000000"/>
                </a:solidFill>
              </a:rPr>
              <a:t>Strict </a:t>
            </a:r>
            <a:r>
              <a:rPr lang="en-GB" dirty="0">
                <a:solidFill>
                  <a:srgbClr val="000000"/>
                </a:solidFill>
              </a:rPr>
              <a:t>(Not sent along with cross-site </a:t>
            </a:r>
            <a:r>
              <a:rPr lang="en-GB" dirty="0" smtClean="0">
                <a:solidFill>
                  <a:srgbClr val="000000"/>
                </a:solidFill>
              </a:rPr>
              <a:t>requests)</a:t>
            </a:r>
          </a:p>
          <a:p>
            <a:pPr marL="800100" lvl="1" indent="-342900">
              <a:lnSpc>
                <a:spcPct val="100000"/>
              </a:lnSpc>
              <a:buClr>
                <a:srgbClr val="000000"/>
              </a:buClr>
              <a:buSzPts val="1800"/>
              <a:buChar char="●"/>
            </a:pPr>
            <a:r>
              <a:rPr lang="en-GB" dirty="0" smtClean="0">
                <a:solidFill>
                  <a:srgbClr val="000000"/>
                </a:solidFill>
              </a:rPr>
              <a:t>Lax </a:t>
            </a:r>
            <a:r>
              <a:rPr lang="en-GB" dirty="0">
                <a:solidFill>
                  <a:srgbClr val="000000"/>
                </a:solidFill>
              </a:rPr>
              <a:t>(Sent with cross-site </a:t>
            </a:r>
            <a:r>
              <a:rPr lang="en-GB" dirty="0" smtClean="0">
                <a:solidFill>
                  <a:srgbClr val="000000"/>
                </a:solidFill>
              </a:rPr>
              <a:t>requests </a:t>
            </a:r>
            <a:r>
              <a:rPr lang="en-GB" dirty="0" err="1" smtClean="0">
                <a:solidFill>
                  <a:srgbClr val="000000"/>
                </a:solidFill>
              </a:rPr>
              <a:t>iff</a:t>
            </a:r>
            <a:r>
              <a:rPr lang="en-GB" dirty="0" smtClean="0">
                <a:solidFill>
                  <a:srgbClr val="000000"/>
                </a:solidFill>
              </a:rPr>
              <a:t> it’s a top-level navigation) </a:t>
            </a:r>
            <a:endParaRPr lang="en-GB" dirty="0">
              <a:solidFill>
                <a:srgbClr val="000000"/>
              </a:solidFill>
            </a:endParaRPr>
          </a:p>
        </p:txBody>
      </p:sp>
      <p:sp>
        <p:nvSpPr>
          <p:cNvPr id="5" name="Slide Number Placeholder 4"/>
          <p:cNvSpPr>
            <a:spLocks noGrp="1"/>
          </p:cNvSpPr>
          <p:nvPr>
            <p:ph type="sldNum" idx="12"/>
          </p:nvPr>
        </p:nvSpPr>
        <p:spPr/>
        <p:txBody>
          <a:bodyPr/>
          <a:lstStyle/>
          <a:p>
            <a:pPr marL="0" lvl="0" indent="0">
              <a:spcBef>
                <a:spcPts val="0"/>
              </a:spcBef>
              <a:buNone/>
            </a:pPr>
            <a:fld id="{00000000-1234-1234-1234-123412341234}" type="slidenum">
              <a:rPr lang="en-GB" smtClean="0"/>
              <a:pPr marL="0" lvl="0" indent="0">
                <a:spcBef>
                  <a:spcPts val="0"/>
                </a:spcBef>
                <a:buNone/>
              </a:pPr>
              <a:t>31</a:t>
            </a:fld>
            <a:endParaRPr lang="en-GB"/>
          </a:p>
        </p:txBody>
      </p:sp>
      <p:sp>
        <p:nvSpPr>
          <p:cNvPr id="6" name="Rectangle 5"/>
          <p:cNvSpPr/>
          <p:nvPr/>
        </p:nvSpPr>
        <p:spPr>
          <a:xfrm>
            <a:off x="1188942" y="3667451"/>
            <a:ext cx="2417093" cy="1362008"/>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en-US"/>
          </a:p>
        </p:txBody>
      </p:sp>
      <p:pic>
        <p:nvPicPr>
          <p:cNvPr id="7" name="Picture 3"/>
          <p:cNvPicPr>
            <a:picLocks noChangeAspect="1" noChangeArrowheads="1"/>
          </p:cNvPicPr>
          <p:nvPr/>
        </p:nvPicPr>
        <p:blipFill>
          <a:blip r:embed="rId3"/>
          <a:srcRect/>
          <a:stretch>
            <a:fillRect/>
          </a:stretch>
        </p:blipFill>
        <p:spPr bwMode="auto">
          <a:xfrm>
            <a:off x="2148112" y="4063986"/>
            <a:ext cx="1258799" cy="866624"/>
          </a:xfrm>
          <a:prstGeom prst="rect">
            <a:avLst/>
          </a:prstGeom>
          <a:noFill/>
          <a:ln w="9525">
            <a:noFill/>
            <a:miter lim="800000"/>
            <a:headEnd/>
            <a:tailEnd/>
          </a:ln>
          <a:effectLst/>
        </p:spPr>
      </p:pic>
      <p:pic>
        <p:nvPicPr>
          <p:cNvPr id="8" name="Picture 5" descr="A Eulogy to Clip Art, in Clip Art - The Atlantic"/>
          <p:cNvPicPr>
            <a:picLocks noChangeAspect="1" noChangeArrowheads="1"/>
          </p:cNvPicPr>
          <p:nvPr/>
        </p:nvPicPr>
        <p:blipFill>
          <a:blip r:embed="rId4"/>
          <a:srcRect/>
          <a:stretch>
            <a:fillRect/>
          </a:stretch>
        </p:blipFill>
        <p:spPr bwMode="auto">
          <a:xfrm>
            <a:off x="6353583" y="3547552"/>
            <a:ext cx="1690632" cy="1109292"/>
          </a:xfrm>
          <a:prstGeom prst="rect">
            <a:avLst/>
          </a:prstGeom>
          <a:noFill/>
        </p:spPr>
      </p:pic>
      <p:sp>
        <p:nvSpPr>
          <p:cNvPr id="9" name="TextBox 8"/>
          <p:cNvSpPr txBox="1"/>
          <p:nvPr/>
        </p:nvSpPr>
        <p:spPr>
          <a:xfrm>
            <a:off x="6602966" y="4617082"/>
            <a:ext cx="910827" cy="307777"/>
          </a:xfrm>
          <a:prstGeom prst="rect">
            <a:avLst/>
          </a:prstGeom>
          <a:noFill/>
        </p:spPr>
        <p:txBody>
          <a:bodyPr wrap="none" rtlCol="0">
            <a:spAutoFit/>
          </a:bodyPr>
          <a:lstStyle/>
          <a:p>
            <a:r>
              <a:rPr lang="en-US" dirty="0" smtClean="0"/>
              <a:t>elgg.com</a:t>
            </a:r>
            <a:endParaRPr lang="en-US" dirty="0"/>
          </a:p>
        </p:txBody>
      </p:sp>
      <p:sp>
        <p:nvSpPr>
          <p:cNvPr id="10" name="TextBox 9"/>
          <p:cNvSpPr txBox="1"/>
          <p:nvPr/>
        </p:nvSpPr>
        <p:spPr>
          <a:xfrm>
            <a:off x="2263201" y="4575470"/>
            <a:ext cx="710451" cy="261610"/>
          </a:xfrm>
          <a:prstGeom prst="rect">
            <a:avLst/>
          </a:prstGeom>
          <a:noFill/>
        </p:spPr>
        <p:txBody>
          <a:bodyPr wrap="none" rtlCol="0">
            <a:spAutoFit/>
          </a:bodyPr>
          <a:lstStyle/>
          <a:p>
            <a:r>
              <a:rPr lang="en-US" sz="1100" dirty="0" smtClean="0"/>
              <a:t>ellg.com</a:t>
            </a:r>
            <a:endParaRPr lang="en-US" sz="1100" dirty="0"/>
          </a:p>
        </p:txBody>
      </p:sp>
      <p:cxnSp>
        <p:nvCxnSpPr>
          <p:cNvPr id="11" name="Straight Arrow Connector 10"/>
          <p:cNvCxnSpPr>
            <a:stCxn id="7" idx="3"/>
          </p:cNvCxnSpPr>
          <p:nvPr/>
        </p:nvCxnSpPr>
        <p:spPr>
          <a:xfrm flipV="1">
            <a:off x="3406911" y="4366260"/>
            <a:ext cx="2932929" cy="131038"/>
          </a:xfrm>
          <a:prstGeom prst="straightConnector1">
            <a:avLst/>
          </a:prstGeom>
          <a:ln>
            <a:tailEnd type="arrow"/>
          </a:ln>
        </p:spPr>
        <p:style>
          <a:lnRef idx="3">
            <a:schemeClr val="accent1"/>
          </a:lnRef>
          <a:fillRef idx="0">
            <a:schemeClr val="accent1"/>
          </a:fillRef>
          <a:effectRef idx="2">
            <a:schemeClr val="accent1"/>
          </a:effectRef>
          <a:fontRef idx="minor">
            <a:schemeClr val="tx1"/>
          </a:fontRef>
        </p:style>
      </p:cxnSp>
      <p:pic>
        <p:nvPicPr>
          <p:cNvPr id="12" name="Picture 2"/>
          <p:cNvPicPr>
            <a:picLocks noChangeAspect="1" noChangeArrowheads="1"/>
          </p:cNvPicPr>
          <p:nvPr/>
        </p:nvPicPr>
        <p:blipFill>
          <a:blip r:embed="rId5"/>
          <a:srcRect/>
          <a:stretch>
            <a:fillRect/>
          </a:stretch>
        </p:blipFill>
        <p:spPr bwMode="auto">
          <a:xfrm>
            <a:off x="1421413" y="3803664"/>
            <a:ext cx="1218556" cy="835735"/>
          </a:xfrm>
          <a:prstGeom prst="rect">
            <a:avLst/>
          </a:prstGeom>
          <a:noFill/>
          <a:ln w="9525">
            <a:noFill/>
            <a:miter lim="800000"/>
            <a:headEnd/>
            <a:tailEnd/>
          </a:ln>
          <a:effectLst/>
        </p:spPr>
      </p:pic>
      <p:sp>
        <p:nvSpPr>
          <p:cNvPr id="13" name="TextBox 12"/>
          <p:cNvSpPr txBox="1"/>
          <p:nvPr/>
        </p:nvSpPr>
        <p:spPr>
          <a:xfrm>
            <a:off x="1534239" y="4127863"/>
            <a:ext cx="989373" cy="261610"/>
          </a:xfrm>
          <a:prstGeom prst="rect">
            <a:avLst/>
          </a:prstGeom>
          <a:noFill/>
        </p:spPr>
        <p:txBody>
          <a:bodyPr wrap="none" rtlCol="0">
            <a:spAutoFit/>
          </a:bodyPr>
          <a:lstStyle/>
          <a:p>
            <a:r>
              <a:rPr lang="en-US" sz="1100" dirty="0" smtClean="0"/>
              <a:t>attacker.com</a:t>
            </a:r>
            <a:endParaRPr lang="en-US" sz="1100" dirty="0"/>
          </a:p>
        </p:txBody>
      </p:sp>
      <p:sp>
        <p:nvSpPr>
          <p:cNvPr id="14" name="TextBox 13"/>
          <p:cNvSpPr txBox="1"/>
          <p:nvPr/>
        </p:nvSpPr>
        <p:spPr>
          <a:xfrm>
            <a:off x="1214431" y="4684146"/>
            <a:ext cx="841897" cy="307777"/>
          </a:xfrm>
          <a:prstGeom prst="rect">
            <a:avLst/>
          </a:prstGeom>
          <a:noFill/>
        </p:spPr>
        <p:txBody>
          <a:bodyPr wrap="none" rtlCol="0">
            <a:spAutoFit/>
          </a:bodyPr>
          <a:lstStyle/>
          <a:p>
            <a:r>
              <a:rPr lang="en-US" dirty="0" smtClean="0"/>
              <a:t>Browser</a:t>
            </a:r>
          </a:p>
        </p:txBody>
      </p:sp>
      <p:cxnSp>
        <p:nvCxnSpPr>
          <p:cNvPr id="15" name="Straight Arrow Connector 14"/>
          <p:cNvCxnSpPr>
            <a:endCxn id="8" idx="1"/>
          </p:cNvCxnSpPr>
          <p:nvPr/>
        </p:nvCxnSpPr>
        <p:spPr>
          <a:xfrm>
            <a:off x="2690192" y="3945283"/>
            <a:ext cx="3663391" cy="156915"/>
          </a:xfrm>
          <a:prstGeom prst="straightConnector1">
            <a:avLst/>
          </a:prstGeom>
          <a:ln>
            <a:tailEnd type="arrow"/>
          </a:ln>
        </p:spPr>
        <p:style>
          <a:lnRef idx="3">
            <a:schemeClr val="accent1"/>
          </a:lnRef>
          <a:fillRef idx="0">
            <a:schemeClr val="accent1"/>
          </a:fillRef>
          <a:effectRef idx="2">
            <a:schemeClr val="accent1"/>
          </a:effectRef>
          <a:fontRef idx="minor">
            <a:schemeClr val="tx1"/>
          </a:fontRef>
        </p:style>
      </p:cxnSp>
      <p:sp>
        <p:nvSpPr>
          <p:cNvPr id="16" name="TextBox 15"/>
          <p:cNvSpPr txBox="1"/>
          <p:nvPr/>
        </p:nvSpPr>
        <p:spPr>
          <a:xfrm rot="21448763">
            <a:off x="4033534" y="4424025"/>
            <a:ext cx="1933543" cy="253916"/>
          </a:xfrm>
          <a:prstGeom prst="rect">
            <a:avLst/>
          </a:prstGeom>
          <a:noFill/>
          <a:ln>
            <a:noFill/>
          </a:ln>
        </p:spPr>
        <p:txBody>
          <a:bodyPr wrap="none" rtlCol="0">
            <a:spAutoFit/>
          </a:bodyPr>
          <a:lstStyle/>
          <a:p>
            <a:r>
              <a:rPr lang="en-US" sz="1050" dirty="0" smtClean="0"/>
              <a:t>HTTP </a:t>
            </a:r>
            <a:r>
              <a:rPr lang="en-US" sz="1050" dirty="0" err="1" smtClean="0"/>
              <a:t>req</a:t>
            </a:r>
            <a:r>
              <a:rPr lang="en-US" sz="1050" dirty="0" smtClean="0"/>
              <a:t> + </a:t>
            </a:r>
            <a:r>
              <a:rPr lang="en-US" sz="1050" dirty="0" err="1" smtClean="0"/>
              <a:t>SameSite</a:t>
            </a:r>
            <a:r>
              <a:rPr lang="en-US" sz="1050" dirty="0" smtClean="0"/>
              <a:t> cookie</a:t>
            </a:r>
            <a:endParaRPr lang="en-US" sz="1050" dirty="0"/>
          </a:p>
        </p:txBody>
      </p:sp>
      <p:sp>
        <p:nvSpPr>
          <p:cNvPr id="17" name="TextBox 16"/>
          <p:cNvSpPr txBox="1"/>
          <p:nvPr/>
        </p:nvSpPr>
        <p:spPr>
          <a:xfrm rot="198246">
            <a:off x="3579601" y="3722099"/>
            <a:ext cx="2787912" cy="253916"/>
          </a:xfrm>
          <a:prstGeom prst="rect">
            <a:avLst/>
          </a:prstGeom>
          <a:noFill/>
          <a:ln>
            <a:noFill/>
          </a:ln>
        </p:spPr>
        <p:txBody>
          <a:bodyPr wrap="square" rtlCol="0">
            <a:spAutoFit/>
          </a:bodyPr>
          <a:lstStyle/>
          <a:p>
            <a:pPr algn="ctr"/>
            <a:r>
              <a:rPr lang="en-US" sz="1050" dirty="0" smtClean="0"/>
              <a:t>HTTP </a:t>
            </a:r>
            <a:r>
              <a:rPr lang="en-US" sz="1050" dirty="0" err="1" smtClean="0"/>
              <a:t>req</a:t>
            </a:r>
            <a:r>
              <a:rPr lang="en-US" sz="1050" dirty="0" smtClean="0"/>
              <a:t> + optional cookie</a:t>
            </a:r>
            <a:endParaRPr lang="en-US" sz="1050" dirty="0"/>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2" name="Shape 202"/>
          <p:cNvSpPr txBox="1">
            <a:spLocks noGrp="1"/>
          </p:cNvSpPr>
          <p:nvPr>
            <p:ph type="title"/>
          </p:nvPr>
        </p:nvSpPr>
        <p:spPr>
          <a:prstGeom prst="rect">
            <a:avLst/>
          </a:prstGeom>
        </p:spPr>
        <p:txBody>
          <a:bodyPr wrap="square" lIns="91425" tIns="91425" rIns="91425" bIns="91425" anchor="t" anchorCtr="0">
            <a:noAutofit/>
          </a:bodyPr>
          <a:lstStyle/>
          <a:p>
            <a:pPr marL="0" lvl="0" indent="-69850">
              <a:spcBef>
                <a:spcPts val="0"/>
              </a:spcBef>
              <a:buClr>
                <a:schemeClr val="dk1"/>
              </a:buClr>
              <a:buSzPts val="1100"/>
              <a:buFont typeface="Arial"/>
              <a:buNone/>
            </a:pPr>
            <a:r>
              <a:rPr lang="en-GB" dirty="0" smtClean="0"/>
              <a:t>Countermeasures: Secret Token</a:t>
            </a:r>
            <a:endParaRPr lang="en-GB" dirty="0"/>
          </a:p>
          <a:p>
            <a:pPr marL="0" lvl="0" indent="0">
              <a:spcBef>
                <a:spcPts val="0"/>
              </a:spcBef>
              <a:buNone/>
            </a:pPr>
            <a:endParaRPr dirty="0"/>
          </a:p>
        </p:txBody>
      </p:sp>
      <p:sp>
        <p:nvSpPr>
          <p:cNvPr id="203" name="Shape 203"/>
          <p:cNvSpPr txBox="1">
            <a:spLocks noGrp="1"/>
          </p:cNvSpPr>
          <p:nvPr>
            <p:ph type="body" idx="1"/>
          </p:nvPr>
        </p:nvSpPr>
        <p:spPr>
          <a:xfrm>
            <a:off x="311700" y="993187"/>
            <a:ext cx="8520600" cy="3897300"/>
          </a:xfrm>
          <a:prstGeom prst="rect">
            <a:avLst/>
          </a:prstGeom>
        </p:spPr>
        <p:txBody>
          <a:bodyPr wrap="square" lIns="91425" tIns="91425" rIns="91425" bIns="91425" anchor="t" anchorCtr="0">
            <a:noAutofit/>
          </a:bodyPr>
          <a:lstStyle/>
          <a:p>
            <a:pPr marL="457200" lvl="0" indent="-342900">
              <a:spcBef>
                <a:spcPts val="0"/>
              </a:spcBef>
              <a:spcAft>
                <a:spcPts val="600"/>
              </a:spcAft>
              <a:buClr>
                <a:srgbClr val="000000"/>
              </a:buClr>
              <a:buSzPts val="1800"/>
              <a:buChar char="●"/>
            </a:pPr>
            <a:r>
              <a:rPr lang="en-GB" sz="2000" dirty="0" smtClean="0">
                <a:solidFill>
                  <a:srgbClr val="000000"/>
                </a:solidFill>
              </a:rPr>
              <a:t>The server embeds </a:t>
            </a:r>
            <a:r>
              <a:rPr lang="en-GB" sz="2000" dirty="0">
                <a:solidFill>
                  <a:srgbClr val="000000"/>
                </a:solidFill>
              </a:rPr>
              <a:t>a random secret value inside each web page. </a:t>
            </a:r>
            <a:endParaRPr lang="en-GB" sz="2000" dirty="0" smtClean="0">
              <a:solidFill>
                <a:srgbClr val="000000"/>
              </a:solidFill>
            </a:endParaRPr>
          </a:p>
          <a:p>
            <a:pPr marL="457200" lvl="0" indent="-342900">
              <a:spcBef>
                <a:spcPts val="0"/>
              </a:spcBef>
              <a:spcAft>
                <a:spcPts val="600"/>
              </a:spcAft>
              <a:buClr>
                <a:srgbClr val="000000"/>
              </a:buClr>
              <a:buSzPts val="1800"/>
              <a:buChar char="●"/>
            </a:pPr>
            <a:r>
              <a:rPr lang="en-GB" sz="2000" dirty="0" smtClean="0">
                <a:solidFill>
                  <a:srgbClr val="000000"/>
                </a:solidFill>
              </a:rPr>
              <a:t>When </a:t>
            </a:r>
            <a:r>
              <a:rPr lang="en-GB" sz="2000" dirty="0">
                <a:solidFill>
                  <a:srgbClr val="000000"/>
                </a:solidFill>
              </a:rPr>
              <a:t>a request is initiated from this page, the secret value is included with the request. </a:t>
            </a:r>
            <a:endParaRPr lang="en-GB" sz="2000" dirty="0" smtClean="0">
              <a:solidFill>
                <a:srgbClr val="000000"/>
              </a:solidFill>
            </a:endParaRPr>
          </a:p>
          <a:p>
            <a:pPr marL="457200" lvl="0" indent="-342900">
              <a:spcBef>
                <a:spcPts val="0"/>
              </a:spcBef>
              <a:spcAft>
                <a:spcPts val="600"/>
              </a:spcAft>
              <a:buClr>
                <a:srgbClr val="000000"/>
              </a:buClr>
              <a:buSzPts val="1800"/>
              <a:buChar char="●"/>
            </a:pPr>
            <a:r>
              <a:rPr lang="en-GB" sz="2000" dirty="0" smtClean="0">
                <a:solidFill>
                  <a:srgbClr val="000000"/>
                </a:solidFill>
              </a:rPr>
              <a:t>The server checks this value to see whether a request is cross-site or not.</a:t>
            </a:r>
          </a:p>
          <a:p>
            <a:pPr marL="457200" lvl="0" indent="-342900">
              <a:spcAft>
                <a:spcPts val="600"/>
              </a:spcAft>
              <a:buClr>
                <a:srgbClr val="000000"/>
              </a:buClr>
            </a:pPr>
            <a:r>
              <a:rPr lang="en-GB" sz="2000" dirty="0">
                <a:solidFill>
                  <a:srgbClr val="000000"/>
                </a:solidFill>
              </a:rPr>
              <a:t>Pages from a different origin will not be able to access the secret value</a:t>
            </a:r>
            <a:r>
              <a:rPr lang="en-GB" sz="2000" dirty="0" smtClean="0">
                <a:solidFill>
                  <a:srgbClr val="000000"/>
                </a:solidFill>
              </a:rPr>
              <a:t>. This is guaranteed by browsers (the same origin policy)</a:t>
            </a:r>
          </a:p>
          <a:p>
            <a:pPr marL="457200" lvl="0" indent="-342900">
              <a:spcAft>
                <a:spcPts val="600"/>
              </a:spcAft>
              <a:buClr>
                <a:srgbClr val="000000"/>
              </a:buClr>
            </a:pPr>
            <a:r>
              <a:rPr lang="en-GB" sz="2000" dirty="0" smtClean="0">
                <a:solidFill>
                  <a:srgbClr val="000000"/>
                </a:solidFill>
              </a:rPr>
              <a:t>The secret is randomly generated and is different for different users. So, there is no way for attackers to guess or find out this secret.</a:t>
            </a:r>
          </a:p>
          <a:p>
            <a:pPr marL="457200" lvl="0" indent="-342900">
              <a:spcBef>
                <a:spcPts val="0"/>
              </a:spcBef>
              <a:spcAft>
                <a:spcPts val="600"/>
              </a:spcAft>
              <a:buClr>
                <a:srgbClr val="000000"/>
              </a:buClr>
              <a:buSzPts val="1800"/>
              <a:buChar char="●"/>
            </a:pPr>
            <a:endParaRPr lang="en-GB" sz="2000" dirty="0">
              <a:solidFill>
                <a:srgbClr val="000000"/>
              </a:solidFill>
            </a:endParaRPr>
          </a:p>
        </p:txBody>
      </p:sp>
      <p:sp>
        <p:nvSpPr>
          <p:cNvPr id="4" name="Slide Number Placeholder 3"/>
          <p:cNvSpPr>
            <a:spLocks noGrp="1"/>
          </p:cNvSpPr>
          <p:nvPr>
            <p:ph type="sldNum" idx="12"/>
          </p:nvPr>
        </p:nvSpPr>
        <p:spPr/>
        <p:txBody>
          <a:bodyPr/>
          <a:lstStyle/>
          <a:p>
            <a:pPr marL="0" lvl="0" indent="0">
              <a:spcBef>
                <a:spcPts val="0"/>
              </a:spcBef>
              <a:buNone/>
            </a:pPr>
            <a:fld id="{00000000-1234-1234-1234-123412341234}" type="slidenum">
              <a:rPr lang="en-GB" smtClean="0"/>
              <a:pPr marL="0" lvl="0" indent="0">
                <a:spcBef>
                  <a:spcPts val="0"/>
                </a:spcBef>
                <a:buNone/>
              </a:pPr>
              <a:t>32</a:t>
            </a:fld>
            <a:endParaRPr lang="en-GB"/>
          </a:p>
        </p:txBody>
      </p:sp>
      <p:sp>
        <p:nvSpPr>
          <p:cNvPr id="5" name="Rectangle 4"/>
          <p:cNvSpPr/>
          <p:nvPr/>
        </p:nvSpPr>
        <p:spPr>
          <a:xfrm>
            <a:off x="1188942" y="3667451"/>
            <a:ext cx="2417093" cy="1362008"/>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en-US"/>
          </a:p>
        </p:txBody>
      </p:sp>
      <p:pic>
        <p:nvPicPr>
          <p:cNvPr id="6" name="Picture 3"/>
          <p:cNvPicPr>
            <a:picLocks noChangeAspect="1" noChangeArrowheads="1"/>
          </p:cNvPicPr>
          <p:nvPr/>
        </p:nvPicPr>
        <p:blipFill>
          <a:blip r:embed="rId3"/>
          <a:srcRect/>
          <a:stretch>
            <a:fillRect/>
          </a:stretch>
        </p:blipFill>
        <p:spPr bwMode="auto">
          <a:xfrm>
            <a:off x="2148112" y="4063986"/>
            <a:ext cx="1258799" cy="866624"/>
          </a:xfrm>
          <a:prstGeom prst="rect">
            <a:avLst/>
          </a:prstGeom>
          <a:noFill/>
          <a:ln w="9525">
            <a:noFill/>
            <a:miter lim="800000"/>
            <a:headEnd/>
            <a:tailEnd/>
          </a:ln>
          <a:effectLst/>
        </p:spPr>
      </p:pic>
      <p:pic>
        <p:nvPicPr>
          <p:cNvPr id="7" name="Picture 5" descr="A Eulogy to Clip Art, in Clip Art - The Atlantic"/>
          <p:cNvPicPr>
            <a:picLocks noChangeAspect="1" noChangeArrowheads="1"/>
          </p:cNvPicPr>
          <p:nvPr/>
        </p:nvPicPr>
        <p:blipFill>
          <a:blip r:embed="rId4"/>
          <a:srcRect/>
          <a:stretch>
            <a:fillRect/>
          </a:stretch>
        </p:blipFill>
        <p:spPr bwMode="auto">
          <a:xfrm>
            <a:off x="6353583" y="3547552"/>
            <a:ext cx="1690632" cy="1109292"/>
          </a:xfrm>
          <a:prstGeom prst="rect">
            <a:avLst/>
          </a:prstGeom>
          <a:noFill/>
        </p:spPr>
      </p:pic>
      <p:sp>
        <p:nvSpPr>
          <p:cNvPr id="8" name="TextBox 7"/>
          <p:cNvSpPr txBox="1"/>
          <p:nvPr/>
        </p:nvSpPr>
        <p:spPr>
          <a:xfrm>
            <a:off x="6602966" y="4617082"/>
            <a:ext cx="910827" cy="307777"/>
          </a:xfrm>
          <a:prstGeom prst="rect">
            <a:avLst/>
          </a:prstGeom>
          <a:noFill/>
        </p:spPr>
        <p:txBody>
          <a:bodyPr wrap="none" rtlCol="0">
            <a:spAutoFit/>
          </a:bodyPr>
          <a:lstStyle/>
          <a:p>
            <a:r>
              <a:rPr lang="en-US" dirty="0" smtClean="0"/>
              <a:t>elgg.com</a:t>
            </a:r>
            <a:endParaRPr lang="en-US" dirty="0"/>
          </a:p>
        </p:txBody>
      </p:sp>
      <p:sp>
        <p:nvSpPr>
          <p:cNvPr id="9" name="TextBox 8"/>
          <p:cNvSpPr txBox="1"/>
          <p:nvPr/>
        </p:nvSpPr>
        <p:spPr>
          <a:xfrm>
            <a:off x="2263201" y="4575470"/>
            <a:ext cx="710451" cy="261610"/>
          </a:xfrm>
          <a:prstGeom prst="rect">
            <a:avLst/>
          </a:prstGeom>
          <a:noFill/>
        </p:spPr>
        <p:txBody>
          <a:bodyPr wrap="none" rtlCol="0">
            <a:spAutoFit/>
          </a:bodyPr>
          <a:lstStyle/>
          <a:p>
            <a:r>
              <a:rPr lang="en-US" sz="1100" dirty="0" smtClean="0"/>
              <a:t>ellg.com</a:t>
            </a:r>
            <a:endParaRPr lang="en-US" sz="1100" dirty="0"/>
          </a:p>
        </p:txBody>
      </p:sp>
      <p:cxnSp>
        <p:nvCxnSpPr>
          <p:cNvPr id="10" name="Straight Arrow Connector 9"/>
          <p:cNvCxnSpPr/>
          <p:nvPr/>
        </p:nvCxnSpPr>
        <p:spPr>
          <a:xfrm flipV="1">
            <a:off x="3408218" y="4476084"/>
            <a:ext cx="2960610" cy="262172"/>
          </a:xfrm>
          <a:prstGeom prst="straightConnector1">
            <a:avLst/>
          </a:prstGeom>
          <a:ln>
            <a:tailEnd type="arrow"/>
          </a:ln>
        </p:spPr>
        <p:style>
          <a:lnRef idx="3">
            <a:schemeClr val="accent1"/>
          </a:lnRef>
          <a:fillRef idx="0">
            <a:schemeClr val="accent1"/>
          </a:fillRef>
          <a:effectRef idx="2">
            <a:schemeClr val="accent1"/>
          </a:effectRef>
          <a:fontRef idx="minor">
            <a:schemeClr val="tx1"/>
          </a:fontRef>
        </p:style>
      </p:cxnSp>
      <p:pic>
        <p:nvPicPr>
          <p:cNvPr id="11" name="Picture 2"/>
          <p:cNvPicPr>
            <a:picLocks noChangeAspect="1" noChangeArrowheads="1"/>
          </p:cNvPicPr>
          <p:nvPr/>
        </p:nvPicPr>
        <p:blipFill>
          <a:blip r:embed="rId5"/>
          <a:srcRect/>
          <a:stretch>
            <a:fillRect/>
          </a:stretch>
        </p:blipFill>
        <p:spPr bwMode="auto">
          <a:xfrm>
            <a:off x="1421413" y="3803664"/>
            <a:ext cx="1218556" cy="835735"/>
          </a:xfrm>
          <a:prstGeom prst="rect">
            <a:avLst/>
          </a:prstGeom>
          <a:noFill/>
          <a:ln w="9525">
            <a:noFill/>
            <a:miter lim="800000"/>
            <a:headEnd/>
            <a:tailEnd/>
          </a:ln>
          <a:effectLst/>
        </p:spPr>
      </p:pic>
      <p:sp>
        <p:nvSpPr>
          <p:cNvPr id="12" name="TextBox 11"/>
          <p:cNvSpPr txBox="1"/>
          <p:nvPr/>
        </p:nvSpPr>
        <p:spPr>
          <a:xfrm>
            <a:off x="1534239" y="4127863"/>
            <a:ext cx="989373" cy="261610"/>
          </a:xfrm>
          <a:prstGeom prst="rect">
            <a:avLst/>
          </a:prstGeom>
          <a:noFill/>
        </p:spPr>
        <p:txBody>
          <a:bodyPr wrap="none" rtlCol="0">
            <a:spAutoFit/>
          </a:bodyPr>
          <a:lstStyle/>
          <a:p>
            <a:r>
              <a:rPr lang="en-US" sz="1100" dirty="0" smtClean="0"/>
              <a:t>attacker.com</a:t>
            </a:r>
            <a:endParaRPr lang="en-US" sz="1100" dirty="0"/>
          </a:p>
        </p:txBody>
      </p:sp>
      <p:sp>
        <p:nvSpPr>
          <p:cNvPr id="13" name="TextBox 12"/>
          <p:cNvSpPr txBox="1"/>
          <p:nvPr/>
        </p:nvSpPr>
        <p:spPr>
          <a:xfrm>
            <a:off x="1214431" y="4684146"/>
            <a:ext cx="841897" cy="307777"/>
          </a:xfrm>
          <a:prstGeom prst="rect">
            <a:avLst/>
          </a:prstGeom>
          <a:noFill/>
        </p:spPr>
        <p:txBody>
          <a:bodyPr wrap="none" rtlCol="0">
            <a:spAutoFit/>
          </a:bodyPr>
          <a:lstStyle/>
          <a:p>
            <a:r>
              <a:rPr lang="en-US" dirty="0" smtClean="0"/>
              <a:t>Browser</a:t>
            </a:r>
          </a:p>
        </p:txBody>
      </p:sp>
      <p:cxnSp>
        <p:nvCxnSpPr>
          <p:cNvPr id="14" name="Straight Arrow Connector 13"/>
          <p:cNvCxnSpPr>
            <a:endCxn id="7" idx="1"/>
          </p:cNvCxnSpPr>
          <p:nvPr/>
        </p:nvCxnSpPr>
        <p:spPr>
          <a:xfrm>
            <a:off x="2690192" y="3945283"/>
            <a:ext cx="3663391" cy="156915"/>
          </a:xfrm>
          <a:prstGeom prst="straightConnector1">
            <a:avLst/>
          </a:prstGeom>
          <a:ln>
            <a:tailEnd type="arrow"/>
          </a:ln>
        </p:spPr>
        <p:style>
          <a:lnRef idx="3">
            <a:schemeClr val="accent1"/>
          </a:lnRef>
          <a:fillRef idx="0">
            <a:schemeClr val="accent1"/>
          </a:fillRef>
          <a:effectRef idx="2">
            <a:schemeClr val="accent1"/>
          </a:effectRef>
          <a:fontRef idx="minor">
            <a:schemeClr val="tx1"/>
          </a:fontRef>
        </p:style>
      </p:cxnSp>
      <p:sp>
        <p:nvSpPr>
          <p:cNvPr id="15" name="TextBox 14"/>
          <p:cNvSpPr txBox="1"/>
          <p:nvPr/>
        </p:nvSpPr>
        <p:spPr>
          <a:xfrm rot="21315792">
            <a:off x="4216602" y="4607822"/>
            <a:ext cx="1670650" cy="253916"/>
          </a:xfrm>
          <a:prstGeom prst="rect">
            <a:avLst/>
          </a:prstGeom>
          <a:noFill/>
          <a:ln>
            <a:noFill/>
          </a:ln>
        </p:spPr>
        <p:txBody>
          <a:bodyPr wrap="none" rtlCol="0">
            <a:spAutoFit/>
          </a:bodyPr>
          <a:lstStyle/>
          <a:p>
            <a:r>
              <a:rPr lang="en-US" sz="1050" dirty="0" smtClean="0"/>
              <a:t>HTTP </a:t>
            </a:r>
            <a:r>
              <a:rPr lang="en-US" sz="1050" dirty="0" err="1" smtClean="0"/>
              <a:t>req</a:t>
            </a:r>
            <a:r>
              <a:rPr lang="en-US" sz="1050" dirty="0" smtClean="0"/>
              <a:t> + </a:t>
            </a:r>
            <a:r>
              <a:rPr lang="en-US" sz="1050" dirty="0" smtClean="0">
                <a:solidFill>
                  <a:srgbClr val="FF0000"/>
                </a:solidFill>
              </a:rPr>
              <a:t>Secret value</a:t>
            </a:r>
            <a:endParaRPr lang="en-US" sz="1050" dirty="0">
              <a:solidFill>
                <a:srgbClr val="FF0000"/>
              </a:solidFill>
            </a:endParaRPr>
          </a:p>
        </p:txBody>
      </p:sp>
      <p:sp>
        <p:nvSpPr>
          <p:cNvPr id="16" name="TextBox 15"/>
          <p:cNvSpPr txBox="1"/>
          <p:nvPr/>
        </p:nvSpPr>
        <p:spPr>
          <a:xfrm rot="198246">
            <a:off x="3445327" y="3779645"/>
            <a:ext cx="2787912" cy="253916"/>
          </a:xfrm>
          <a:prstGeom prst="rect">
            <a:avLst/>
          </a:prstGeom>
          <a:noFill/>
          <a:ln>
            <a:noFill/>
          </a:ln>
        </p:spPr>
        <p:txBody>
          <a:bodyPr wrap="square" rtlCol="0">
            <a:spAutoFit/>
          </a:bodyPr>
          <a:lstStyle/>
          <a:p>
            <a:pPr algn="ctr"/>
            <a:r>
              <a:rPr lang="en-US" sz="1050" dirty="0" smtClean="0"/>
              <a:t>HTTP </a:t>
            </a:r>
            <a:r>
              <a:rPr lang="en-US" sz="1050" dirty="0" err="1" smtClean="0"/>
              <a:t>req</a:t>
            </a:r>
            <a:endParaRPr lang="en-US" sz="1050" dirty="0"/>
          </a:p>
        </p:txBody>
      </p:sp>
      <p:cxnSp>
        <p:nvCxnSpPr>
          <p:cNvPr id="19" name="Straight Arrow Connector 18"/>
          <p:cNvCxnSpPr>
            <a:endCxn id="6" idx="3"/>
          </p:cNvCxnSpPr>
          <p:nvPr/>
        </p:nvCxnSpPr>
        <p:spPr>
          <a:xfrm rot="10800000" flipV="1">
            <a:off x="3406912" y="4258674"/>
            <a:ext cx="2968313" cy="238624"/>
          </a:xfrm>
          <a:prstGeom prst="straightConnector1">
            <a:avLst/>
          </a:prstGeom>
          <a:ln>
            <a:tailEnd type="arrow"/>
          </a:ln>
        </p:spPr>
        <p:style>
          <a:lnRef idx="3">
            <a:schemeClr val="accent1"/>
          </a:lnRef>
          <a:fillRef idx="0">
            <a:schemeClr val="accent1"/>
          </a:fillRef>
          <a:effectRef idx="2">
            <a:schemeClr val="accent1"/>
          </a:effectRef>
          <a:fontRef idx="minor">
            <a:schemeClr val="tx1"/>
          </a:fontRef>
        </p:style>
      </p:cxnSp>
      <p:sp>
        <p:nvSpPr>
          <p:cNvPr id="24" name="TextBox 23"/>
          <p:cNvSpPr txBox="1"/>
          <p:nvPr/>
        </p:nvSpPr>
        <p:spPr>
          <a:xfrm rot="21315792">
            <a:off x="4431026" y="4153811"/>
            <a:ext cx="934871" cy="253916"/>
          </a:xfrm>
          <a:prstGeom prst="rect">
            <a:avLst/>
          </a:prstGeom>
          <a:noFill/>
          <a:ln>
            <a:noFill/>
          </a:ln>
        </p:spPr>
        <p:txBody>
          <a:bodyPr wrap="none" rtlCol="0">
            <a:spAutoFit/>
          </a:bodyPr>
          <a:lstStyle/>
          <a:p>
            <a:r>
              <a:rPr lang="en-US" sz="1050" dirty="0" smtClean="0">
                <a:solidFill>
                  <a:srgbClr val="FF0000"/>
                </a:solidFill>
              </a:rPr>
              <a:t>Secret value</a:t>
            </a:r>
            <a:endParaRPr lang="en-US" sz="1050" dirty="0">
              <a:solidFill>
                <a:srgbClr val="FF0000"/>
              </a:solidFill>
            </a:endParaRPr>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207"/>
        <p:cNvGrpSpPr/>
        <p:nvPr/>
      </p:nvGrpSpPr>
      <p:grpSpPr>
        <a:xfrm>
          <a:off x="0" y="0"/>
          <a:ext cx="0" cy="0"/>
          <a:chOff x="0" y="0"/>
          <a:chExt cx="0" cy="0"/>
        </a:xfrm>
      </p:grpSpPr>
      <p:sp>
        <p:nvSpPr>
          <p:cNvPr id="208" name="Shape 208"/>
          <p:cNvSpPr txBox="1">
            <a:spLocks noGrp="1"/>
          </p:cNvSpPr>
          <p:nvPr>
            <p:ph type="title"/>
          </p:nvPr>
        </p:nvSpPr>
        <p:spPr>
          <a:prstGeom prst="rect">
            <a:avLst/>
          </a:prstGeom>
        </p:spPr>
        <p:txBody>
          <a:bodyPr wrap="square" lIns="91425" tIns="91425" rIns="91425" bIns="91425" anchor="t" anchorCtr="0">
            <a:noAutofit/>
          </a:bodyPr>
          <a:lstStyle/>
          <a:p>
            <a:pPr marL="0" lvl="0" indent="0">
              <a:spcBef>
                <a:spcPts val="0"/>
              </a:spcBef>
              <a:buNone/>
            </a:pPr>
            <a:r>
              <a:rPr lang="en-GB"/>
              <a:t>Elgg’s Countermeasure</a:t>
            </a:r>
          </a:p>
        </p:txBody>
      </p:sp>
      <p:sp>
        <p:nvSpPr>
          <p:cNvPr id="209" name="Shape 209"/>
          <p:cNvSpPr txBox="1">
            <a:spLocks noGrp="1"/>
          </p:cNvSpPr>
          <p:nvPr>
            <p:ph type="body" idx="1"/>
          </p:nvPr>
        </p:nvSpPr>
        <p:spPr>
          <a:xfrm>
            <a:off x="311700" y="1135541"/>
            <a:ext cx="8520600" cy="1242600"/>
          </a:xfrm>
          <a:prstGeom prst="rect">
            <a:avLst/>
          </a:prstGeom>
        </p:spPr>
        <p:txBody>
          <a:bodyPr wrap="square" lIns="91425" tIns="91425" rIns="91425" bIns="91425" anchor="t" anchorCtr="0">
            <a:noAutofit/>
          </a:bodyPr>
          <a:lstStyle/>
          <a:p>
            <a:pPr marL="457200" lvl="0" indent="-342900" rtl="0">
              <a:spcBef>
                <a:spcPts val="0"/>
              </a:spcBef>
              <a:spcAft>
                <a:spcPts val="0"/>
              </a:spcAft>
              <a:buClr>
                <a:srgbClr val="000000"/>
              </a:buClr>
              <a:buSzPts val="1800"/>
              <a:buChar char="●"/>
            </a:pPr>
            <a:r>
              <a:rPr lang="en-GB" dirty="0">
                <a:solidFill>
                  <a:srgbClr val="000000"/>
                </a:solidFill>
              </a:rPr>
              <a:t>Uses secret-token approach : </a:t>
            </a:r>
            <a:r>
              <a:rPr lang="en-GB" sz="1800" dirty="0">
                <a:solidFill>
                  <a:srgbClr val="000000"/>
                </a:solidFill>
                <a:latin typeface="Courier New" pitchFamily="49" charset="0"/>
                <a:cs typeface="Courier New" pitchFamily="49" charset="0"/>
              </a:rPr>
              <a:t>_</a:t>
            </a:r>
            <a:r>
              <a:rPr lang="en-GB" sz="1800" dirty="0" err="1" smtClean="0">
                <a:solidFill>
                  <a:srgbClr val="000000"/>
                </a:solidFill>
                <a:latin typeface="Courier New" pitchFamily="49" charset="0"/>
                <a:cs typeface="Courier New" pitchFamily="49" charset="0"/>
              </a:rPr>
              <a:t>elgg_t</a:t>
            </a:r>
            <a:r>
              <a:rPr lang="vi-VN" sz="1800" dirty="0" smtClean="0">
                <a:solidFill>
                  <a:srgbClr val="000000"/>
                </a:solidFill>
                <a:latin typeface="Courier New" pitchFamily="49" charset="0"/>
                <a:cs typeface="Courier New" pitchFamily="49" charset="0"/>
              </a:rPr>
              <a:t>s</a:t>
            </a:r>
            <a:r>
              <a:rPr lang="en-GB" sz="1800" dirty="0" smtClean="0">
                <a:solidFill>
                  <a:srgbClr val="000000"/>
                </a:solidFill>
                <a:latin typeface="Courier New" pitchFamily="49" charset="0"/>
                <a:cs typeface="Courier New" pitchFamily="49" charset="0"/>
              </a:rPr>
              <a:t> </a:t>
            </a:r>
            <a:r>
              <a:rPr lang="en-GB" dirty="0">
                <a:solidFill>
                  <a:srgbClr val="000000"/>
                </a:solidFill>
              </a:rPr>
              <a:t>and </a:t>
            </a:r>
            <a:r>
              <a:rPr lang="en-GB" sz="1800" dirty="0">
                <a:solidFill>
                  <a:srgbClr val="000000"/>
                </a:solidFill>
                <a:latin typeface="Courier New" pitchFamily="49" charset="0"/>
                <a:cs typeface="Courier New" pitchFamily="49" charset="0"/>
              </a:rPr>
              <a:t>_elgg_token</a:t>
            </a:r>
            <a:r>
              <a:rPr lang="en-GB" dirty="0" smtClean="0">
                <a:solidFill>
                  <a:srgbClr val="000000"/>
                </a:solidFill>
              </a:rPr>
              <a:t>.</a:t>
            </a:r>
          </a:p>
          <a:p>
            <a:pPr marL="457200" lvl="0" indent="-342900">
              <a:spcBef>
                <a:spcPts val="0"/>
              </a:spcBef>
              <a:buClr>
                <a:srgbClr val="000000"/>
              </a:buClr>
              <a:buSzPts val="1800"/>
              <a:buChar char="●"/>
            </a:pPr>
            <a:endParaRPr lang="en-GB" dirty="0" smtClean="0">
              <a:solidFill>
                <a:srgbClr val="000000"/>
              </a:solidFill>
            </a:endParaRPr>
          </a:p>
          <a:p>
            <a:pPr marL="457200" lvl="0" indent="-342900">
              <a:spcBef>
                <a:spcPts val="0"/>
              </a:spcBef>
              <a:buClr>
                <a:srgbClr val="000000"/>
              </a:buClr>
              <a:buSzPts val="1800"/>
              <a:buChar char="●"/>
            </a:pPr>
            <a:r>
              <a:rPr lang="en-GB" dirty="0" smtClean="0">
                <a:solidFill>
                  <a:srgbClr val="000000"/>
                </a:solidFill>
              </a:rPr>
              <a:t>The </a:t>
            </a:r>
            <a:r>
              <a:rPr lang="en-GB" dirty="0">
                <a:solidFill>
                  <a:srgbClr val="000000"/>
                </a:solidFill>
              </a:rPr>
              <a:t>values are stored inside two JavaScript variables and also in all the forms where user action is required</a:t>
            </a:r>
            <a:r>
              <a:rPr lang="en-GB" dirty="0" smtClean="0">
                <a:solidFill>
                  <a:srgbClr val="000000"/>
                </a:solidFill>
              </a:rPr>
              <a:t>.</a:t>
            </a:r>
          </a:p>
          <a:p>
            <a:pPr marL="800100" lvl="1" indent="-342900">
              <a:buClr>
                <a:srgbClr val="000000"/>
              </a:buClr>
              <a:buSzPts val="1800"/>
              <a:buNone/>
            </a:pPr>
            <a:r>
              <a:rPr lang="en-US" sz="1600" dirty="0" smtClean="0">
                <a:solidFill>
                  <a:srgbClr val="000000"/>
                </a:solidFill>
                <a:latin typeface="Courier New" pitchFamily="49" charset="0"/>
                <a:cs typeface="Courier New" pitchFamily="49" charset="0"/>
              </a:rPr>
              <a:t>elgg.security.token.__elgg_ts</a:t>
            </a:r>
          </a:p>
          <a:p>
            <a:pPr marL="800100" lvl="1" indent="-342900">
              <a:buClr>
                <a:srgbClr val="000000"/>
              </a:buClr>
              <a:buSzPts val="1800"/>
              <a:buNone/>
            </a:pPr>
            <a:r>
              <a:rPr lang="en-US" sz="1600" dirty="0" smtClean="0">
                <a:solidFill>
                  <a:srgbClr val="000000"/>
                </a:solidFill>
                <a:latin typeface="Courier New" pitchFamily="49" charset="0"/>
                <a:cs typeface="Courier New" pitchFamily="49" charset="0"/>
              </a:rPr>
              <a:t>elgg.security.token.__elgg_token</a:t>
            </a:r>
            <a:endParaRPr lang="en-GB" sz="1600" dirty="0" smtClean="0">
              <a:solidFill>
                <a:srgbClr val="000000"/>
              </a:solidFill>
              <a:latin typeface="Courier New" pitchFamily="49" charset="0"/>
              <a:cs typeface="Courier New" pitchFamily="49" charset="0"/>
            </a:endParaRPr>
          </a:p>
          <a:p>
            <a:pPr marL="457200" lvl="0" indent="-342900">
              <a:spcBef>
                <a:spcPts val="0"/>
              </a:spcBef>
              <a:buClr>
                <a:srgbClr val="000000"/>
              </a:buClr>
              <a:buSzPts val="1800"/>
              <a:buNone/>
            </a:pPr>
            <a:endParaRPr lang="en-GB" dirty="0">
              <a:solidFill>
                <a:srgbClr val="000000"/>
              </a:solidFill>
            </a:endParaRPr>
          </a:p>
          <a:p>
            <a:pPr marL="0" lvl="0" indent="0">
              <a:spcBef>
                <a:spcPts val="0"/>
              </a:spcBef>
              <a:buNone/>
            </a:pPr>
            <a:endParaRPr dirty="0"/>
          </a:p>
        </p:txBody>
      </p:sp>
      <p:sp>
        <p:nvSpPr>
          <p:cNvPr id="6" name="Slide Number Placeholder 5"/>
          <p:cNvSpPr>
            <a:spLocks noGrp="1"/>
          </p:cNvSpPr>
          <p:nvPr>
            <p:ph type="sldNum" idx="12"/>
          </p:nvPr>
        </p:nvSpPr>
        <p:spPr/>
        <p:txBody>
          <a:bodyPr/>
          <a:lstStyle/>
          <a:p>
            <a:pPr marL="0" lvl="0" indent="0">
              <a:spcBef>
                <a:spcPts val="0"/>
              </a:spcBef>
              <a:buNone/>
            </a:pPr>
            <a:fld id="{00000000-1234-1234-1234-123412341234}" type="slidenum">
              <a:rPr lang="en-GB" smtClean="0"/>
              <a:pPr marL="0" lvl="0" indent="0">
                <a:spcBef>
                  <a:spcPts val="0"/>
                </a:spcBef>
                <a:buNone/>
              </a:pPr>
              <a:t>33</a:t>
            </a:fld>
            <a:endParaRPr lang="en-GB"/>
          </a:p>
        </p:txBody>
      </p:sp>
      <p:sp>
        <p:nvSpPr>
          <p:cNvPr id="7" name="Rectangle 6"/>
          <p:cNvSpPr/>
          <p:nvPr/>
        </p:nvSpPr>
        <p:spPr>
          <a:xfrm>
            <a:off x="464234" y="2976839"/>
            <a:ext cx="8609428" cy="2031325"/>
          </a:xfrm>
          <a:prstGeom prst="rect">
            <a:avLst/>
          </a:prstGeom>
        </p:spPr>
        <p:txBody>
          <a:bodyPr wrap="square">
            <a:spAutoFit/>
          </a:bodyPr>
          <a:lstStyle/>
          <a:p>
            <a:r>
              <a:rPr lang="en-US" dirty="0" smtClean="0">
                <a:latin typeface="Courier New" pitchFamily="49" charset="0"/>
                <a:cs typeface="Courier New" pitchFamily="49" charset="0"/>
              </a:rPr>
              <a:t>var elgg = {</a:t>
            </a:r>
          </a:p>
          <a:p>
            <a:r>
              <a:rPr lang="en-US" dirty="0" smtClean="0">
                <a:latin typeface="Courier New" pitchFamily="49" charset="0"/>
                <a:cs typeface="Courier New" pitchFamily="49" charset="0"/>
              </a:rPr>
              <a:t>"config":{"lastcache":1549469429,"viewtype":"default","simplecache_enabled":1},</a:t>
            </a:r>
          </a:p>
          <a:p>
            <a:r>
              <a:rPr lang="en-US" dirty="0" smtClean="0">
                <a:latin typeface="Courier New" pitchFamily="49" charset="0"/>
                <a:cs typeface="Courier New" pitchFamily="49" charset="0"/>
              </a:rPr>
              <a:t>"security":{</a:t>
            </a:r>
          </a:p>
          <a:p>
            <a:r>
              <a:rPr lang="en-US" dirty="0" smtClean="0">
                <a:latin typeface="Courier New" pitchFamily="49" charset="0"/>
                <a:cs typeface="Courier New" pitchFamily="49" charset="0"/>
              </a:rPr>
              <a:t>	"token":{</a:t>
            </a:r>
          </a:p>
          <a:p>
            <a:r>
              <a:rPr lang="en-US" dirty="0" smtClean="0">
                <a:latin typeface="Courier New" pitchFamily="49" charset="0"/>
                <a:cs typeface="Courier New" pitchFamily="49" charset="0"/>
              </a:rPr>
              <a:t>	"__elgg_ts":1733490106,</a:t>
            </a:r>
          </a:p>
          <a:p>
            <a:r>
              <a:rPr lang="en-US" dirty="0" smtClean="0">
                <a:latin typeface="Courier New" pitchFamily="49" charset="0"/>
                <a:cs typeface="Courier New" pitchFamily="49" charset="0"/>
              </a:rPr>
              <a:t>	"__elgg_token":"tsVeNoB4XKtojLtSbh81zw“</a:t>
            </a:r>
          </a:p>
          <a:p>
            <a:r>
              <a:rPr lang="en-US" dirty="0" smtClean="0">
                <a:latin typeface="Courier New" pitchFamily="49" charset="0"/>
                <a:cs typeface="Courier New" pitchFamily="49" charset="0"/>
              </a:rPr>
              <a:t>	}</a:t>
            </a:r>
          </a:p>
          <a:p>
            <a:r>
              <a:rPr lang="en-US" dirty="0" smtClean="0">
                <a:latin typeface="Courier New" pitchFamily="49" charset="0"/>
                <a:cs typeface="Courier New" pitchFamily="49" charset="0"/>
              </a:rPr>
              <a:t>}</a:t>
            </a:r>
          </a:p>
          <a:p>
            <a:r>
              <a:rPr lang="en-US" dirty="0" smtClean="0">
                <a:latin typeface="Courier New" pitchFamily="49" charset="0"/>
                <a:cs typeface="Courier New" pitchFamily="49" charset="0"/>
              </a:rPr>
              <a:t>…</a:t>
            </a:r>
            <a:endParaRPr lang="en-US" dirty="0">
              <a:latin typeface="Courier New" pitchFamily="49" charset="0"/>
              <a:cs typeface="Courier New" pitchFamily="49" charset="0"/>
            </a:endParaRPr>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207"/>
        <p:cNvGrpSpPr/>
        <p:nvPr/>
      </p:nvGrpSpPr>
      <p:grpSpPr>
        <a:xfrm>
          <a:off x="0" y="0"/>
          <a:ext cx="0" cy="0"/>
          <a:chOff x="0" y="0"/>
          <a:chExt cx="0" cy="0"/>
        </a:xfrm>
      </p:grpSpPr>
      <p:sp>
        <p:nvSpPr>
          <p:cNvPr id="208" name="Shape 208"/>
          <p:cNvSpPr txBox="1">
            <a:spLocks noGrp="1"/>
          </p:cNvSpPr>
          <p:nvPr>
            <p:ph type="title"/>
          </p:nvPr>
        </p:nvSpPr>
        <p:spPr>
          <a:prstGeom prst="rect">
            <a:avLst/>
          </a:prstGeom>
        </p:spPr>
        <p:txBody>
          <a:bodyPr wrap="square" lIns="91425" tIns="91425" rIns="91425" bIns="91425" anchor="t" anchorCtr="0">
            <a:noAutofit/>
          </a:bodyPr>
          <a:lstStyle/>
          <a:p>
            <a:pPr marL="0" lvl="0" indent="0">
              <a:spcBef>
                <a:spcPts val="0"/>
              </a:spcBef>
              <a:buNone/>
            </a:pPr>
            <a:r>
              <a:rPr lang="en-GB"/>
              <a:t>Elgg’s Countermeasure</a:t>
            </a:r>
          </a:p>
        </p:txBody>
      </p:sp>
      <p:pic>
        <p:nvPicPr>
          <p:cNvPr id="210" name="Shape 210"/>
          <p:cNvPicPr preferRelativeResize="0"/>
          <p:nvPr/>
        </p:nvPicPr>
        <p:blipFill>
          <a:blip r:embed="rId3">
            <a:alphaModFix/>
          </a:blip>
          <a:stretch>
            <a:fillRect/>
          </a:stretch>
        </p:blipFill>
        <p:spPr>
          <a:xfrm>
            <a:off x="541634" y="1301878"/>
            <a:ext cx="7879798" cy="620257"/>
          </a:xfrm>
          <a:prstGeom prst="rect">
            <a:avLst/>
          </a:prstGeom>
          <a:noFill/>
          <a:ln>
            <a:noFill/>
          </a:ln>
        </p:spPr>
      </p:pic>
      <p:sp>
        <p:nvSpPr>
          <p:cNvPr id="211" name="Shape 211"/>
          <p:cNvSpPr txBox="1"/>
          <p:nvPr/>
        </p:nvSpPr>
        <p:spPr>
          <a:xfrm>
            <a:off x="370125" y="2122554"/>
            <a:ext cx="8520600" cy="1552787"/>
          </a:xfrm>
          <a:prstGeom prst="rect">
            <a:avLst/>
          </a:prstGeom>
          <a:noFill/>
          <a:ln>
            <a:noFill/>
          </a:ln>
        </p:spPr>
        <p:txBody>
          <a:bodyPr wrap="square" lIns="91425" tIns="91425" rIns="91425" bIns="91425" anchor="t" anchorCtr="0">
            <a:noAutofit/>
          </a:bodyPr>
          <a:lstStyle/>
          <a:p>
            <a:pPr marL="457200" lvl="0" indent="-342900" rtl="0">
              <a:spcBef>
                <a:spcPts val="0"/>
              </a:spcBef>
              <a:spcAft>
                <a:spcPts val="0"/>
              </a:spcAft>
              <a:buSzPts val="1800"/>
              <a:buChar char="●"/>
            </a:pPr>
            <a:r>
              <a:rPr lang="en-GB" sz="1800" dirty="0"/>
              <a:t>The two hidden parameters are added to the form so that when the form is submitted via an HTTP request, these two values are included in the request.</a:t>
            </a:r>
          </a:p>
          <a:p>
            <a:pPr marL="457200" lvl="0" indent="-342900">
              <a:buSzPts val="1800"/>
              <a:buChar char="●"/>
            </a:pPr>
            <a:r>
              <a:rPr lang="en-GB" sz="1800" dirty="0"/>
              <a:t>These two hidden values are generated by the server </a:t>
            </a:r>
            <a:r>
              <a:rPr lang="en-GB" sz="1800" dirty="0" smtClean="0"/>
              <a:t>and </a:t>
            </a:r>
            <a:r>
              <a:rPr lang="en-GB" sz="1800" dirty="0"/>
              <a:t>added as a hidden field in each page.</a:t>
            </a:r>
          </a:p>
          <a:p>
            <a:pPr marL="0" lvl="0" indent="0">
              <a:spcBef>
                <a:spcPts val="0"/>
              </a:spcBef>
              <a:buNone/>
            </a:pPr>
            <a:endParaRPr dirty="0"/>
          </a:p>
        </p:txBody>
      </p:sp>
      <p:sp>
        <p:nvSpPr>
          <p:cNvPr id="6" name="Slide Number Placeholder 5"/>
          <p:cNvSpPr>
            <a:spLocks noGrp="1"/>
          </p:cNvSpPr>
          <p:nvPr>
            <p:ph type="sldNum" idx="12"/>
          </p:nvPr>
        </p:nvSpPr>
        <p:spPr/>
        <p:txBody>
          <a:bodyPr/>
          <a:lstStyle/>
          <a:p>
            <a:pPr marL="0" lvl="0" indent="0">
              <a:spcBef>
                <a:spcPts val="0"/>
              </a:spcBef>
              <a:buNone/>
            </a:pPr>
            <a:fld id="{00000000-1234-1234-1234-123412341234}" type="slidenum">
              <a:rPr lang="en-GB" smtClean="0"/>
              <a:pPr marL="0" lvl="0" indent="0">
                <a:spcBef>
                  <a:spcPts val="0"/>
                </a:spcBef>
                <a:buNone/>
              </a:pPr>
              <a:t>34</a:t>
            </a:fld>
            <a:endParaRPr lang="en-GB"/>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215"/>
        <p:cNvGrpSpPr/>
        <p:nvPr/>
      </p:nvGrpSpPr>
      <p:grpSpPr>
        <a:xfrm>
          <a:off x="0" y="0"/>
          <a:ext cx="0" cy="0"/>
          <a:chOff x="0" y="0"/>
          <a:chExt cx="0" cy="0"/>
        </a:xfrm>
      </p:grpSpPr>
      <p:sp>
        <p:nvSpPr>
          <p:cNvPr id="216" name="Shape 216"/>
          <p:cNvSpPr txBox="1">
            <a:spLocks noGrp="1"/>
          </p:cNvSpPr>
          <p:nvPr>
            <p:ph type="title"/>
          </p:nvPr>
        </p:nvSpPr>
        <p:spPr>
          <a:prstGeom prst="rect">
            <a:avLst/>
          </a:prstGeom>
        </p:spPr>
        <p:txBody>
          <a:bodyPr wrap="square" lIns="91425" tIns="91425" rIns="91425" bIns="91425" anchor="t" anchorCtr="0">
            <a:noAutofit/>
          </a:bodyPr>
          <a:lstStyle/>
          <a:p>
            <a:pPr marL="0" lvl="0" indent="-69850">
              <a:spcBef>
                <a:spcPts val="0"/>
              </a:spcBef>
              <a:buClr>
                <a:schemeClr val="dk1"/>
              </a:buClr>
              <a:buSzPts val="1100"/>
              <a:buFont typeface="Arial"/>
              <a:buNone/>
            </a:pPr>
            <a:r>
              <a:rPr lang="en-GB"/>
              <a:t>Elgg’s Countermeasure</a:t>
            </a:r>
          </a:p>
        </p:txBody>
      </p:sp>
      <p:pic>
        <p:nvPicPr>
          <p:cNvPr id="219" name="Shape 219"/>
          <p:cNvPicPr preferRelativeResize="0"/>
          <p:nvPr/>
        </p:nvPicPr>
        <p:blipFill>
          <a:blip r:embed="rId3">
            <a:alphaModFix/>
          </a:blip>
          <a:stretch>
            <a:fillRect/>
          </a:stretch>
        </p:blipFill>
        <p:spPr>
          <a:xfrm>
            <a:off x="421175" y="1507918"/>
            <a:ext cx="4018000" cy="572700"/>
          </a:xfrm>
          <a:prstGeom prst="rect">
            <a:avLst/>
          </a:prstGeom>
          <a:noFill/>
          <a:ln>
            <a:noFill/>
          </a:ln>
        </p:spPr>
      </p:pic>
      <p:sp>
        <p:nvSpPr>
          <p:cNvPr id="220" name="Shape 220"/>
          <p:cNvSpPr txBox="1"/>
          <p:nvPr/>
        </p:nvSpPr>
        <p:spPr>
          <a:xfrm>
            <a:off x="6364270" y="1295757"/>
            <a:ext cx="2310300" cy="868200"/>
          </a:xfrm>
          <a:prstGeom prst="rect">
            <a:avLst/>
          </a:prstGeom>
          <a:noFill/>
          <a:ln>
            <a:noFill/>
          </a:ln>
        </p:spPr>
        <p:txBody>
          <a:bodyPr wrap="square" lIns="91425" tIns="91425" rIns="91425" bIns="91425" anchor="t" anchorCtr="0">
            <a:noAutofit/>
          </a:bodyPr>
          <a:lstStyle/>
          <a:p>
            <a:pPr marL="0" lvl="0" indent="0" rtl="0">
              <a:spcBef>
                <a:spcPts val="0"/>
              </a:spcBef>
              <a:buNone/>
            </a:pPr>
            <a:r>
              <a:rPr lang="en-GB" sz="1800" i="1" dirty="0"/>
              <a:t>JavaScript variables to access using JavaScript code.</a:t>
            </a:r>
          </a:p>
        </p:txBody>
      </p:sp>
      <p:sp>
        <p:nvSpPr>
          <p:cNvPr id="221" name="Shape 221"/>
          <p:cNvSpPr txBox="1"/>
          <p:nvPr/>
        </p:nvSpPr>
        <p:spPr>
          <a:xfrm>
            <a:off x="421175" y="2304751"/>
            <a:ext cx="8520600" cy="1557000"/>
          </a:xfrm>
          <a:prstGeom prst="rect">
            <a:avLst/>
          </a:prstGeom>
          <a:noFill/>
          <a:ln>
            <a:noFill/>
          </a:ln>
        </p:spPr>
        <p:txBody>
          <a:bodyPr wrap="square" lIns="91425" tIns="91425" rIns="91425" bIns="91425" anchor="t" anchorCtr="0">
            <a:noAutofit/>
          </a:bodyPr>
          <a:lstStyle/>
          <a:p>
            <a:pPr lvl="0"/>
            <a:r>
              <a:rPr lang="en-US" sz="1800" dirty="0" smtClean="0"/>
              <a:t>The values in </a:t>
            </a:r>
            <a:r>
              <a:rPr lang="en-US" sz="1600" dirty="0" smtClean="0">
                <a:latin typeface="Courier New" pitchFamily="49" charset="0"/>
                <a:cs typeface="Courier New" pitchFamily="49" charset="0"/>
              </a:rPr>
              <a:t>__</a:t>
            </a:r>
            <a:r>
              <a:rPr lang="en-US" sz="1600" dirty="0" err="1" smtClean="0">
                <a:latin typeface="Courier New" pitchFamily="49" charset="0"/>
                <a:cs typeface="Courier New" pitchFamily="49" charset="0"/>
              </a:rPr>
              <a:t>elgg_ts</a:t>
            </a:r>
            <a:r>
              <a:rPr lang="en-US" sz="1600" dirty="0" smtClean="0"/>
              <a:t> </a:t>
            </a:r>
            <a:r>
              <a:rPr lang="en-US" sz="1800" dirty="0" smtClean="0"/>
              <a:t>and </a:t>
            </a:r>
            <a:r>
              <a:rPr lang="en-US" sz="1600" dirty="0" smtClean="0">
                <a:latin typeface="Courier New" pitchFamily="49" charset="0"/>
                <a:cs typeface="Courier New" pitchFamily="49" charset="0"/>
              </a:rPr>
              <a:t>__</a:t>
            </a:r>
            <a:r>
              <a:rPr lang="en-US" sz="1600" dirty="0" err="1" smtClean="0">
                <a:latin typeface="Courier New" pitchFamily="49" charset="0"/>
                <a:cs typeface="Courier New" pitchFamily="49" charset="0"/>
              </a:rPr>
              <a:t>elgg_token</a:t>
            </a:r>
            <a:r>
              <a:rPr lang="en-US" sz="1600" dirty="0" smtClean="0"/>
              <a:t> </a:t>
            </a:r>
            <a:r>
              <a:rPr lang="en-US" sz="1800" dirty="0" smtClean="0"/>
              <a:t>are generated by </a:t>
            </a:r>
            <a:r>
              <a:rPr lang="en-US" sz="1600" dirty="0" smtClean="0">
                <a:latin typeface="Courier New" pitchFamily="49" charset="0"/>
                <a:cs typeface="Courier New" pitchFamily="49" charset="0"/>
              </a:rPr>
              <a:t>/</a:t>
            </a:r>
            <a:r>
              <a:rPr lang="en-US" sz="1600" dirty="0" err="1" smtClean="0">
                <a:latin typeface="Courier New" pitchFamily="49" charset="0"/>
                <a:cs typeface="Courier New" pitchFamily="49" charset="0"/>
              </a:rPr>
              <a:t>var</a:t>
            </a:r>
            <a:r>
              <a:rPr lang="en-US" sz="1600" dirty="0" smtClean="0">
                <a:latin typeface="Courier New" pitchFamily="49" charset="0"/>
                <a:cs typeface="Courier New" pitchFamily="49" charset="0"/>
              </a:rPr>
              <a:t>/www/</a:t>
            </a:r>
            <a:r>
              <a:rPr lang="en-US" sz="1600" dirty="0" err="1" smtClean="0">
                <a:latin typeface="Courier New" pitchFamily="49" charset="0"/>
                <a:cs typeface="Courier New" pitchFamily="49" charset="0"/>
              </a:rPr>
              <a:t>CSRF</a:t>
            </a:r>
            <a:r>
              <a:rPr lang="en-US" sz="1600" dirty="0" smtClean="0">
                <a:latin typeface="Courier New" pitchFamily="49" charset="0"/>
                <a:cs typeface="Courier New" pitchFamily="49" charset="0"/>
              </a:rPr>
              <a:t>/ </a:t>
            </a:r>
            <a:r>
              <a:rPr lang="en-US" sz="1600" dirty="0" err="1" smtClean="0">
                <a:latin typeface="Courier New" pitchFamily="49" charset="0"/>
                <a:cs typeface="Courier New" pitchFamily="49" charset="0"/>
              </a:rPr>
              <a:t>Elgg</a:t>
            </a:r>
            <a:r>
              <a:rPr lang="en-US" sz="1600" dirty="0" smtClean="0">
                <a:latin typeface="Courier New" pitchFamily="49" charset="0"/>
                <a:cs typeface="Courier New" pitchFamily="49" charset="0"/>
              </a:rPr>
              <a:t>/vendor/</a:t>
            </a:r>
            <a:r>
              <a:rPr lang="en-US" sz="1600" dirty="0" err="1" smtClean="0">
                <a:latin typeface="Courier New" pitchFamily="49" charset="0"/>
                <a:cs typeface="Courier New" pitchFamily="49" charset="0"/>
              </a:rPr>
              <a:t>elgg</a:t>
            </a:r>
            <a:r>
              <a:rPr lang="en-US" sz="1600" dirty="0" smtClean="0">
                <a:latin typeface="Courier New" pitchFamily="49" charset="0"/>
                <a:cs typeface="Courier New" pitchFamily="49" charset="0"/>
              </a:rPr>
              <a:t>/</a:t>
            </a:r>
            <a:r>
              <a:rPr lang="en-US" sz="1600" dirty="0" err="1" smtClean="0">
                <a:latin typeface="Courier New" pitchFamily="49" charset="0"/>
                <a:cs typeface="Courier New" pitchFamily="49" charset="0"/>
              </a:rPr>
              <a:t>elgg</a:t>
            </a:r>
            <a:r>
              <a:rPr lang="en-US" sz="1600" dirty="0" smtClean="0">
                <a:latin typeface="Courier New" pitchFamily="49" charset="0"/>
                <a:cs typeface="Courier New" pitchFamily="49" charset="0"/>
              </a:rPr>
              <a:t>/engine/classes/</a:t>
            </a:r>
            <a:r>
              <a:rPr lang="en-US" sz="1600" dirty="0" err="1" smtClean="0">
                <a:latin typeface="Courier New" pitchFamily="49" charset="0"/>
                <a:cs typeface="Courier New" pitchFamily="49" charset="0"/>
              </a:rPr>
              <a:t>Elgg</a:t>
            </a:r>
            <a:r>
              <a:rPr lang="en-US" sz="1600" dirty="0" smtClean="0">
                <a:latin typeface="Courier New" pitchFamily="49" charset="0"/>
                <a:cs typeface="Courier New" pitchFamily="49" charset="0"/>
              </a:rPr>
              <a:t>/ActionsService.php</a:t>
            </a:r>
            <a:r>
              <a:rPr lang="en-US" sz="1600" dirty="0" smtClean="0"/>
              <a:t> </a:t>
            </a:r>
          </a:p>
          <a:p>
            <a:pPr lvl="0"/>
            <a:r>
              <a:rPr lang="en-US" sz="1800" dirty="0" smtClean="0"/>
              <a:t/>
            </a:r>
            <a:br>
              <a:rPr lang="en-US" sz="1800" dirty="0" smtClean="0"/>
            </a:br>
            <a:r>
              <a:rPr lang="en-US" sz="1800" dirty="0" smtClean="0"/>
              <a:t> </a:t>
            </a:r>
            <a:r>
              <a:rPr lang="en-GB" sz="1800" dirty="0" err="1" smtClean="0"/>
              <a:t>Elgg’s</a:t>
            </a:r>
            <a:r>
              <a:rPr lang="en-GB" sz="1800" dirty="0" smtClean="0"/>
              <a:t> </a:t>
            </a:r>
            <a:r>
              <a:rPr lang="en-GB" sz="1800" dirty="0"/>
              <a:t>security token is a MD5 digest of four pieces of information : </a:t>
            </a:r>
          </a:p>
          <a:p>
            <a:pPr marL="457200" lvl="0" indent="-342900">
              <a:spcBef>
                <a:spcPts val="0"/>
              </a:spcBef>
              <a:spcAft>
                <a:spcPts val="0"/>
              </a:spcAft>
              <a:buSzPts val="1800"/>
              <a:buChar char="●"/>
            </a:pPr>
            <a:r>
              <a:rPr lang="en-GB" sz="1800" dirty="0"/>
              <a:t>Site secret value</a:t>
            </a:r>
          </a:p>
          <a:p>
            <a:pPr marL="457200" lvl="0" indent="-342900">
              <a:spcBef>
                <a:spcPts val="0"/>
              </a:spcBef>
              <a:spcAft>
                <a:spcPts val="0"/>
              </a:spcAft>
              <a:buSzPts val="1800"/>
              <a:buChar char="●"/>
            </a:pPr>
            <a:r>
              <a:rPr lang="en-GB" sz="1800" dirty="0"/>
              <a:t>Timestamp</a:t>
            </a:r>
          </a:p>
          <a:p>
            <a:pPr marL="457200" lvl="0" indent="-342900">
              <a:spcBef>
                <a:spcPts val="0"/>
              </a:spcBef>
              <a:spcAft>
                <a:spcPts val="0"/>
              </a:spcAft>
              <a:buSzPts val="1800"/>
              <a:buChar char="●"/>
            </a:pPr>
            <a:r>
              <a:rPr lang="en-GB" sz="1800" dirty="0"/>
              <a:t>User session ID </a:t>
            </a:r>
          </a:p>
          <a:p>
            <a:pPr marL="457200" lvl="0" indent="-342900">
              <a:spcBef>
                <a:spcPts val="0"/>
              </a:spcBef>
              <a:buSzPts val="1800"/>
              <a:buChar char="●"/>
            </a:pPr>
            <a:r>
              <a:rPr lang="en-GB" sz="1800" dirty="0" smtClean="0"/>
              <a:t>Randomly </a:t>
            </a:r>
            <a:r>
              <a:rPr lang="en-GB" sz="1800" dirty="0"/>
              <a:t>generated session string</a:t>
            </a:r>
          </a:p>
        </p:txBody>
      </p:sp>
      <p:cxnSp>
        <p:nvCxnSpPr>
          <p:cNvPr id="222" name="Shape 222"/>
          <p:cNvCxnSpPr/>
          <p:nvPr/>
        </p:nvCxnSpPr>
        <p:spPr>
          <a:xfrm rot="10800000" flipH="1">
            <a:off x="4321330" y="1729858"/>
            <a:ext cx="1837200" cy="1200"/>
          </a:xfrm>
          <a:prstGeom prst="straightConnector1">
            <a:avLst/>
          </a:prstGeom>
          <a:noFill/>
          <a:ln w="9525" cap="flat" cmpd="sng">
            <a:solidFill>
              <a:schemeClr val="dk2"/>
            </a:solidFill>
            <a:prstDash val="solid"/>
            <a:round/>
            <a:headEnd type="none" w="lg" len="lg"/>
            <a:tailEnd type="triangle" w="lg" len="lg"/>
          </a:ln>
        </p:spPr>
      </p:cxnSp>
      <p:sp>
        <p:nvSpPr>
          <p:cNvPr id="7" name="Slide Number Placeholder 6"/>
          <p:cNvSpPr>
            <a:spLocks noGrp="1"/>
          </p:cNvSpPr>
          <p:nvPr>
            <p:ph type="sldNum" idx="12"/>
          </p:nvPr>
        </p:nvSpPr>
        <p:spPr/>
        <p:txBody>
          <a:bodyPr/>
          <a:lstStyle/>
          <a:p>
            <a:pPr marL="0" lvl="0" indent="0">
              <a:spcBef>
                <a:spcPts val="0"/>
              </a:spcBef>
              <a:buNone/>
            </a:pPr>
            <a:fld id="{00000000-1234-1234-1234-123412341234}" type="slidenum">
              <a:rPr lang="en-GB" smtClean="0"/>
              <a:pPr marL="0" lvl="0" indent="0">
                <a:spcBef>
                  <a:spcPts val="0"/>
                </a:spcBef>
                <a:buNone/>
              </a:pPr>
              <a:t>35</a:t>
            </a:fld>
            <a:endParaRPr lang="en-GB"/>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Turn </a:t>
            </a:r>
            <a:r>
              <a:rPr lang="en-US" dirty="0" err="1" smtClean="0"/>
              <a:t>Elgg’s</a:t>
            </a:r>
            <a:r>
              <a:rPr lang="en-US" dirty="0" smtClean="0"/>
              <a:t> </a:t>
            </a:r>
            <a:r>
              <a:rPr lang="en-US" dirty="0" err="1" smtClean="0"/>
              <a:t>CSRF</a:t>
            </a:r>
            <a:r>
              <a:rPr lang="en-US" dirty="0" smtClean="0"/>
              <a:t> countermeasure back on</a:t>
            </a:r>
            <a:endParaRPr lang="en-US" dirty="0"/>
          </a:p>
        </p:txBody>
      </p:sp>
      <p:sp>
        <p:nvSpPr>
          <p:cNvPr id="3" name="Text Placeholder 2"/>
          <p:cNvSpPr>
            <a:spLocks noGrp="1"/>
          </p:cNvSpPr>
          <p:nvPr>
            <p:ph type="body" idx="1"/>
          </p:nvPr>
        </p:nvSpPr>
        <p:spPr>
          <a:xfrm>
            <a:off x="311699" y="1152475"/>
            <a:ext cx="8749173" cy="3416400"/>
          </a:xfrm>
        </p:spPr>
        <p:txBody>
          <a:bodyPr/>
          <a:lstStyle/>
          <a:p>
            <a:pPr>
              <a:buNone/>
            </a:pPr>
            <a:r>
              <a:rPr lang="en-US" dirty="0" smtClean="0"/>
              <a:t>For the sake of experiment, we have turned off </a:t>
            </a:r>
            <a:r>
              <a:rPr lang="en-US" dirty="0" err="1" smtClean="0"/>
              <a:t>Elgg’s</a:t>
            </a:r>
            <a:r>
              <a:rPr lang="en-US" dirty="0" smtClean="0"/>
              <a:t> </a:t>
            </a:r>
            <a:r>
              <a:rPr lang="en-US" dirty="0" err="1" smtClean="0"/>
              <a:t>CSRF</a:t>
            </a:r>
            <a:r>
              <a:rPr lang="en-US" dirty="0" smtClean="0"/>
              <a:t> countermeasure</a:t>
            </a:r>
          </a:p>
          <a:p>
            <a:pPr lvl="1"/>
            <a:r>
              <a:rPr lang="en-US" dirty="0" err="1" smtClean="0"/>
              <a:t>Goto</a:t>
            </a:r>
            <a:r>
              <a:rPr lang="en-US" dirty="0" smtClean="0"/>
              <a:t> folder </a:t>
            </a:r>
            <a:r>
              <a:rPr lang="en-US" sz="1600" dirty="0" smtClean="0">
                <a:latin typeface="Courier New" pitchFamily="49" charset="0"/>
                <a:cs typeface="Courier New" pitchFamily="49" charset="0"/>
              </a:rPr>
              <a:t>/</a:t>
            </a:r>
            <a:r>
              <a:rPr lang="en-US" sz="1600" dirty="0" err="1" smtClean="0">
                <a:latin typeface="Courier New" pitchFamily="49" charset="0"/>
                <a:cs typeface="Courier New" pitchFamily="49" charset="0"/>
              </a:rPr>
              <a:t>var</a:t>
            </a:r>
            <a:r>
              <a:rPr lang="en-US" sz="1600" dirty="0" smtClean="0">
                <a:latin typeface="Courier New" pitchFamily="49" charset="0"/>
                <a:cs typeface="Courier New" pitchFamily="49" charset="0"/>
              </a:rPr>
              <a:t>/www/</a:t>
            </a:r>
            <a:r>
              <a:rPr lang="en-US" sz="1600" dirty="0" err="1" smtClean="0">
                <a:latin typeface="Courier New" pitchFamily="49" charset="0"/>
                <a:cs typeface="Courier New" pitchFamily="49" charset="0"/>
              </a:rPr>
              <a:t>CSRF</a:t>
            </a:r>
            <a:r>
              <a:rPr lang="en-US" sz="1600" dirty="0" smtClean="0">
                <a:latin typeface="Courier New" pitchFamily="49" charset="0"/>
                <a:cs typeface="Courier New" pitchFamily="49" charset="0"/>
              </a:rPr>
              <a:t>/</a:t>
            </a:r>
            <a:r>
              <a:rPr lang="en-US" sz="1600" dirty="0" err="1" smtClean="0">
                <a:latin typeface="Courier New" pitchFamily="49" charset="0"/>
                <a:cs typeface="Courier New" pitchFamily="49" charset="0"/>
              </a:rPr>
              <a:t>Elgg</a:t>
            </a:r>
            <a:r>
              <a:rPr lang="en-US" sz="1600" dirty="0" smtClean="0">
                <a:latin typeface="Courier New" pitchFamily="49" charset="0"/>
                <a:cs typeface="Courier New" pitchFamily="49" charset="0"/>
              </a:rPr>
              <a:t>/vendor/</a:t>
            </a:r>
            <a:r>
              <a:rPr lang="en-US" sz="1600" dirty="0" err="1" smtClean="0">
                <a:latin typeface="Courier New" pitchFamily="49" charset="0"/>
                <a:cs typeface="Courier New" pitchFamily="49" charset="0"/>
              </a:rPr>
              <a:t>elgg</a:t>
            </a:r>
            <a:r>
              <a:rPr lang="en-US" sz="1600" dirty="0" smtClean="0">
                <a:latin typeface="Courier New" pitchFamily="49" charset="0"/>
                <a:cs typeface="Courier New" pitchFamily="49" charset="0"/>
              </a:rPr>
              <a:t>/</a:t>
            </a:r>
            <a:r>
              <a:rPr lang="en-US" sz="1600" dirty="0" err="1" smtClean="0">
                <a:latin typeface="Courier New" pitchFamily="49" charset="0"/>
                <a:cs typeface="Courier New" pitchFamily="49" charset="0"/>
              </a:rPr>
              <a:t>elgg</a:t>
            </a:r>
            <a:r>
              <a:rPr lang="en-US" sz="1600" dirty="0" smtClean="0">
                <a:latin typeface="Courier New" pitchFamily="49" charset="0"/>
                <a:cs typeface="Courier New" pitchFamily="49" charset="0"/>
              </a:rPr>
              <a:t>/engine/classes/</a:t>
            </a:r>
            <a:r>
              <a:rPr lang="en-US" sz="1600" dirty="0" err="1" smtClean="0">
                <a:latin typeface="Courier New" pitchFamily="49" charset="0"/>
                <a:cs typeface="Courier New" pitchFamily="49" charset="0"/>
              </a:rPr>
              <a:t>Elgg</a:t>
            </a:r>
            <a:endParaRPr lang="en-US" dirty="0" smtClean="0">
              <a:latin typeface="Courier New" pitchFamily="49" charset="0"/>
              <a:cs typeface="Courier New" pitchFamily="49" charset="0"/>
            </a:endParaRPr>
          </a:p>
          <a:p>
            <a:pPr lvl="1"/>
            <a:r>
              <a:rPr lang="en-US" dirty="0" smtClean="0"/>
              <a:t>Open  </a:t>
            </a:r>
            <a:r>
              <a:rPr lang="en-US" sz="1600" dirty="0" smtClean="0">
                <a:latin typeface="Courier New" pitchFamily="49" charset="0"/>
                <a:cs typeface="Courier New" pitchFamily="49" charset="0"/>
              </a:rPr>
              <a:t>ActionsService.php</a:t>
            </a:r>
            <a:r>
              <a:rPr lang="en-US" dirty="0" smtClean="0">
                <a:solidFill>
                  <a:srgbClr val="343434"/>
                </a:solidFill>
                <a:latin typeface="Times-Roman"/>
              </a:rPr>
              <a:t>, look for function </a:t>
            </a:r>
            <a:r>
              <a:rPr lang="en-US" sz="1600" dirty="0" smtClean="0">
                <a:latin typeface="Courier New" pitchFamily="49" charset="0"/>
                <a:cs typeface="Courier New" pitchFamily="49" charset="0"/>
              </a:rPr>
              <a:t>gatekeeper()</a:t>
            </a:r>
            <a:r>
              <a:rPr lang="en-US" dirty="0" smtClean="0">
                <a:solidFill>
                  <a:srgbClr val="343434"/>
                </a:solidFill>
                <a:latin typeface="Times-Roman"/>
              </a:rPr>
              <a:t> and comment out “</a:t>
            </a:r>
            <a:r>
              <a:rPr lang="en-US" sz="1600" dirty="0" smtClean="0">
                <a:latin typeface="Courier New" pitchFamily="49" charset="0"/>
                <a:cs typeface="Courier New" pitchFamily="49" charset="0"/>
              </a:rPr>
              <a:t>return true</a:t>
            </a:r>
            <a:r>
              <a:rPr lang="en-US" dirty="0" smtClean="0">
                <a:solidFill>
                  <a:srgbClr val="343434"/>
                </a:solidFill>
                <a:latin typeface="Times-Roman"/>
              </a:rPr>
              <a:t>”</a:t>
            </a:r>
          </a:p>
          <a:p>
            <a:pPr lvl="1"/>
            <a:r>
              <a:rPr lang="en-US" dirty="0" smtClean="0">
                <a:solidFill>
                  <a:srgbClr val="343434"/>
                </a:solidFill>
                <a:latin typeface="Times-Roman"/>
              </a:rPr>
              <a:t>We force gatekeeper to always “return true” to pass the </a:t>
            </a:r>
            <a:r>
              <a:rPr lang="en-US" dirty="0" err="1" smtClean="0">
                <a:solidFill>
                  <a:srgbClr val="343434"/>
                </a:solidFill>
                <a:latin typeface="Times-Roman"/>
              </a:rPr>
              <a:t>CSRF</a:t>
            </a:r>
            <a:r>
              <a:rPr lang="en-US" dirty="0" smtClean="0">
                <a:solidFill>
                  <a:srgbClr val="343434"/>
                </a:solidFill>
                <a:latin typeface="Times-Roman"/>
              </a:rPr>
              <a:t> check. Now we need to take it out.</a:t>
            </a:r>
          </a:p>
          <a:p>
            <a:pPr lvl="1">
              <a:buNone/>
            </a:pPr>
            <a:endParaRPr lang="en-US" dirty="0"/>
          </a:p>
        </p:txBody>
      </p:sp>
      <p:sp>
        <p:nvSpPr>
          <p:cNvPr id="4" name="Slide Number Placeholder 3"/>
          <p:cNvSpPr>
            <a:spLocks noGrp="1"/>
          </p:cNvSpPr>
          <p:nvPr>
            <p:ph type="sldNum" idx="12"/>
          </p:nvPr>
        </p:nvSpPr>
        <p:spPr/>
        <p:txBody>
          <a:bodyPr/>
          <a:lstStyle/>
          <a:p>
            <a:pPr marL="0" lvl="0" indent="0">
              <a:spcBef>
                <a:spcPts val="0"/>
              </a:spcBef>
              <a:buNone/>
            </a:pPr>
            <a:fld id="{00000000-1234-1234-1234-123412341234}" type="slidenum">
              <a:rPr lang="en-GB" smtClean="0"/>
              <a:pPr marL="0" lvl="0" indent="0">
                <a:spcBef>
                  <a:spcPts val="0"/>
                </a:spcBef>
                <a:buNone/>
              </a:pPr>
              <a:t>36</a:t>
            </a:fld>
            <a:endParaRPr lang="en-GB"/>
          </a:p>
        </p:txBody>
      </p:sp>
      <p:pic>
        <p:nvPicPr>
          <p:cNvPr id="1026" name="Picture 2"/>
          <p:cNvPicPr>
            <a:picLocks noChangeAspect="1" noChangeArrowheads="1"/>
          </p:cNvPicPr>
          <p:nvPr/>
        </p:nvPicPr>
        <p:blipFill>
          <a:blip r:embed="rId2"/>
          <a:srcRect/>
          <a:stretch>
            <a:fillRect/>
          </a:stretch>
        </p:blipFill>
        <p:spPr bwMode="auto">
          <a:xfrm>
            <a:off x="1418669" y="3025299"/>
            <a:ext cx="5506472" cy="96583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Summary</a:t>
            </a:r>
            <a:endParaRPr lang="en-US" dirty="0"/>
          </a:p>
        </p:txBody>
      </p:sp>
      <p:sp>
        <p:nvSpPr>
          <p:cNvPr id="3" name="Text Placeholder 2"/>
          <p:cNvSpPr>
            <a:spLocks noGrp="1"/>
          </p:cNvSpPr>
          <p:nvPr>
            <p:ph type="body" idx="1"/>
          </p:nvPr>
        </p:nvSpPr>
        <p:spPr/>
        <p:txBody>
          <a:bodyPr/>
          <a:lstStyle/>
          <a:p>
            <a:pPr marL="231775" indent="-231775">
              <a:spcAft>
                <a:spcPts val="1200"/>
              </a:spcAft>
            </a:pPr>
            <a:r>
              <a:rPr lang="en-US" dirty="0" smtClean="0"/>
              <a:t>Cross-site requests </a:t>
            </a:r>
            <a:r>
              <a:rPr lang="en-US" dirty="0" err="1" smtClean="0"/>
              <a:t>v.s</a:t>
            </a:r>
            <a:r>
              <a:rPr lang="en-US" dirty="0" smtClean="0"/>
              <a:t>. same-site requests. </a:t>
            </a:r>
          </a:p>
          <a:p>
            <a:pPr marL="231775" indent="-231775">
              <a:spcAft>
                <a:spcPts val="1200"/>
              </a:spcAft>
            </a:pPr>
            <a:r>
              <a:rPr lang="en-US" dirty="0" smtClean="0"/>
              <a:t>Why cross-site requests should be treated differently.</a:t>
            </a:r>
          </a:p>
          <a:p>
            <a:pPr marL="231775" indent="-231775">
              <a:spcAft>
                <a:spcPts val="1200"/>
              </a:spcAft>
            </a:pPr>
            <a:r>
              <a:rPr lang="en-US" dirty="0" smtClean="0"/>
              <a:t>How to conduct CSRF attack</a:t>
            </a:r>
          </a:p>
          <a:p>
            <a:pPr marL="231775" indent="-231775">
              <a:spcAft>
                <a:spcPts val="1200"/>
              </a:spcAft>
            </a:pPr>
            <a:r>
              <a:rPr lang="en-US" dirty="0" smtClean="0"/>
              <a:t>The fundamental cause of the CSRF vulnerability</a:t>
            </a:r>
          </a:p>
          <a:p>
            <a:pPr marL="231775" indent="-231775">
              <a:spcAft>
                <a:spcPts val="1200"/>
              </a:spcAft>
            </a:pPr>
            <a:r>
              <a:rPr lang="en-US" dirty="0" smtClean="0"/>
              <a:t>How to defend against CSRF attack</a:t>
            </a:r>
            <a:endParaRPr lang="en-US" dirty="0"/>
          </a:p>
        </p:txBody>
      </p:sp>
      <p:sp>
        <p:nvSpPr>
          <p:cNvPr id="4" name="Slide Number Placeholder 3"/>
          <p:cNvSpPr>
            <a:spLocks noGrp="1"/>
          </p:cNvSpPr>
          <p:nvPr>
            <p:ph type="sldNum" idx="12"/>
          </p:nvPr>
        </p:nvSpPr>
        <p:spPr/>
        <p:txBody>
          <a:bodyPr/>
          <a:lstStyle/>
          <a:p>
            <a:pPr marL="0" lvl="0" indent="0">
              <a:spcBef>
                <a:spcPts val="0"/>
              </a:spcBef>
              <a:buNone/>
            </a:pPr>
            <a:fld id="{00000000-1234-1234-1234-123412341234}" type="slidenum">
              <a:rPr lang="en-GB" smtClean="0"/>
              <a:pPr marL="0" lvl="0" indent="0">
                <a:spcBef>
                  <a:spcPts val="0"/>
                </a:spcBef>
                <a:buNone/>
              </a:pPr>
              <a:t>37</a:t>
            </a:fld>
            <a:endParaRPr lang="en-GB"/>
          </a:p>
        </p:txBody>
      </p:sp>
    </p:spTree>
    <p:extLst>
      <p:ext uri="{BB962C8B-B14F-4D97-AF65-F5344CB8AC3E}">
        <p14:creationId xmlns:p14="http://schemas.microsoft.com/office/powerpoint/2010/main" xmlns="" val="940638140"/>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4280</TotalTime>
  <Words>2410</Words>
  <Application>Microsoft Office PowerPoint</Application>
  <PresentationFormat>On-screen Show (16:9)</PresentationFormat>
  <Paragraphs>304</Paragraphs>
  <Slides>37</Slides>
  <Notes>25</Notes>
  <HiddenSlides>0</HiddenSlides>
  <MMClips>0</MMClips>
  <ScaleCrop>false</ScaleCrop>
  <HeadingPairs>
    <vt:vector size="4" baseType="variant">
      <vt:variant>
        <vt:lpstr>Theme</vt:lpstr>
      </vt:variant>
      <vt:variant>
        <vt:i4>1</vt:i4>
      </vt:variant>
      <vt:variant>
        <vt:lpstr>Slide Titles</vt:lpstr>
      </vt:variant>
      <vt:variant>
        <vt:i4>37</vt:i4>
      </vt:variant>
    </vt:vector>
  </HeadingPairs>
  <TitlesOfParts>
    <vt:vector size="38" baseType="lpstr">
      <vt:lpstr>Office Theme</vt:lpstr>
      <vt:lpstr>Cross Site Request Forgery (CSRF)</vt:lpstr>
      <vt:lpstr>Outline</vt:lpstr>
      <vt:lpstr>Infamous CSRF attacks</vt:lpstr>
      <vt:lpstr>Infamous CSRF attacks</vt:lpstr>
      <vt:lpstr>Infamous CSRF attacks</vt:lpstr>
      <vt:lpstr>Cross-Site Requests and Its Problems</vt:lpstr>
      <vt:lpstr>Examples of cross-site requests</vt:lpstr>
      <vt:lpstr>Cross-Site Requests and Its Problems </vt:lpstr>
      <vt:lpstr>Cross-Site Request Forgery Attack</vt:lpstr>
      <vt:lpstr>Environment Setup</vt:lpstr>
      <vt:lpstr>HTTP GET and POST Services</vt:lpstr>
      <vt:lpstr>CSRF Attack on GET Requests - Basic Idea</vt:lpstr>
      <vt:lpstr>CSRF Attack on GET Requests - Basic Idea</vt:lpstr>
      <vt:lpstr>CSRF Attack on Elgg</vt:lpstr>
      <vt:lpstr>CSRF Attack on Elgg</vt:lpstr>
      <vt:lpstr>Install HTTP Header Live add-on</vt:lpstr>
      <vt:lpstr>Firefox network monitor</vt:lpstr>
      <vt:lpstr>Attack on Elgg’s Add-Friend Service</vt:lpstr>
      <vt:lpstr>Captured HTTP Header</vt:lpstr>
      <vt:lpstr>Create the malicious web page</vt:lpstr>
      <vt:lpstr>Launching the attack</vt:lpstr>
      <vt:lpstr>CSRF Attacks on HTTP POST Services</vt:lpstr>
      <vt:lpstr>CSRF Attacks on HTTP POST Services</vt:lpstr>
      <vt:lpstr>Attack on Elgg’s Edit-Profile Service</vt:lpstr>
      <vt:lpstr>Attack on Elgg’s Edit-Profile Service</vt:lpstr>
      <vt:lpstr>Attack on Elgg’s Edit-Profile Service</vt:lpstr>
      <vt:lpstr>Craft the Malicious Web Page</vt:lpstr>
      <vt:lpstr>Launching the attack</vt:lpstr>
      <vt:lpstr>Fundamental Causes of CSRF</vt:lpstr>
      <vt:lpstr>Countermeasures: Referer Header</vt:lpstr>
      <vt:lpstr>Countermeasures: Same-Site Cookies</vt:lpstr>
      <vt:lpstr>Countermeasures: Secret Token </vt:lpstr>
      <vt:lpstr>Elgg’s Countermeasure</vt:lpstr>
      <vt:lpstr>Elgg’s Countermeasure</vt:lpstr>
      <vt:lpstr>Elgg’s Countermeasure</vt:lpstr>
      <vt:lpstr>Turn Elgg’s CSRF countermeasure back on</vt:lpstr>
      <vt:lpstr>Summary</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Cross Site Request Forgery</dc:title>
  <cp:lastModifiedBy>Quoc-Hung Hoang</cp:lastModifiedBy>
  <cp:revision>117</cp:revision>
  <dcterms:modified xsi:type="dcterms:W3CDTF">2025-11-19T00:50:20Z</dcterms:modified>
</cp:coreProperties>
</file>